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6.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9.xml" ContentType="application/vnd.openxmlformats-officedocument.drawingml.chart+xml"/>
  <Override PartName="/ppt/charts/chart10.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1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Booking Status Mix</a:t>
            </a:r>
          </a:p>
        </c:rich>
      </c:tx>
      <c:layout/>
      <c:overlay val="0"/>
    </c:title>
    <c:autoTitleDeleted val="0"/>
    <c:plotArea>
      <c:layout/>
      <c:pieChart>
        <c:varyColors val="1"/>
        <c:ser>
          <c:idx val="0"/>
          <c:order val="0"/>
          <c:tx>
            <c:strRef>
              <c:f>Sheet1!$B$1</c:f>
              <c:strCache>
                <c:ptCount val="1"/>
                <c:pt idx="0">
                  <c:v>Status</c:v>
                </c:pt>
              </c:strCache>
            </c:strRef>
          </c:tx>
          <c:spPr>
            <a:solidFill>
              <a:schemeClr val="accent1"/>
            </a:solidFill>
            <a:ln w="9525" cap="flat">
              <a:solidFill>
                <a:srgbClr val="F9F9F9"/>
              </a:solidFill>
              <a:prstDash val="solid"/>
              <a:round/>
            </a:ln>
            <a:effectLst/>
          </c:spPr>
          <c:dPt>
            <c:idx val="0"/>
            <c:bubble3D val="0"/>
            <c:spPr>
              <a:solidFill>
                <a:srgbClr val="0D9488"/>
              </a:solidFill>
              <a:effectLst/>
            </c:spPr>
          </c:dPt>
          <c:dPt>
            <c:idx val="1"/>
            <c:bubble3D val="0"/>
            <c:spPr>
              <a:solidFill>
                <a:srgbClr val="C73E1D"/>
              </a:solidFill>
              <a:effectLst/>
            </c:spPr>
          </c:dPt>
          <c:dPt>
            <c:idx val="2"/>
            <c:bubble3D val="0"/>
            <c:spPr>
              <a:solidFill>
                <a:srgbClr val="F18F01"/>
              </a:solidFill>
              <a:effectLst/>
            </c:spPr>
          </c:dPt>
          <c:dLbls>
            <c:dLbl>
              <c:idx val="0"/>
              <c:numFmt formatCode="0%" sourceLinked="0"/>
              <c:spPr/>
              <c:txPr>
                <a:bodyPr/>
                <a:lstStyle/>
                <a:p>
                  <a:pPr>
                    <a:defRPr sz="13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3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3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Sheet1!$A$2:$A$4</c:f>
              <c:strCache>
                <c:ptCount val="3"/>
                <c:pt idx="0">
                  <c:v>Confirmed</c:v>
                </c:pt>
                <c:pt idx="1">
                  <c:v>Cancelled</c:v>
                </c:pt>
                <c:pt idx="2">
                  <c:v>Failed</c:v>
                </c:pt>
              </c:strCache>
            </c:strRef>
          </c:cat>
          <c:val>
            <c:numRef>
              <c:f>Sheet1!$B$2:$B$4</c:f>
              <c:numCache>
                <c:ptCount val="3"/>
                <c:pt idx="0">
                  <c:v>21672</c:v>
                </c:pt>
                <c:pt idx="1">
                  <c:v>6058</c:v>
                </c:pt>
                <c:pt idx="2">
                  <c:v>2270</c:v>
                </c:pt>
              </c:numCache>
            </c:numRef>
          </c:val>
        </c:ser>
        <c:firstSliceAng val="0"/>
      </c:pieChart>
      <c:spPr>
        <a:noFill/>
        <a:ln>
          <a:noFill/>
        </a:ln>
        <a:effectLst/>
      </c:spPr>
    </c:plotArea>
    <c:legend>
      <c:legendPos val="b"/>
      <c:overlay val="0"/>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00000"/>
                </a:solidFill>
                <a:latin typeface="Arial"/>
              </a:defRPr>
            </a:pPr>
            <a:r>
              <a:rPr sz="1100" b="0" i="0" u="none" strike="noStrike">
                <a:solidFill>
                  <a:srgbClr val="000000"/>
                </a:solidFill>
                <a:latin typeface="Arial"/>
              </a:rPr>
              <a:t>Avg Booking Value: Leisure vs Business</a:t>
            </a:r>
          </a:p>
        </c:rich>
      </c:tx>
      <c:layout/>
      <c:overlay val="0"/>
    </c:title>
    <c:autoTitleDeleted val="0"/>
    <c:plotArea>
      <c:layout/>
      <c:barChart>
        <c:barDir val="col"/>
        <c:grouping val="clustered"/>
        <c:varyColors val="0"/>
        <c:ser>
          <c:idx val="0"/>
          <c:order val="0"/>
          <c:tx>
            <c:strRef>
              <c:f>Sheet1!$B$1</c:f>
              <c:strCache>
                <c:ptCount val="1"/>
                <c:pt idx="0">
                  <c:v>Avg Booking Value (₹)</c:v>
                </c:pt>
              </c:strCache>
            </c:strRef>
          </c:tx>
          <c:spPr>
            <a:solidFill>
              <a:srgbClr val="1B3A6B"/>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1B3A6B"/>
              </a:solidFill>
              <a:effectLst/>
            </c:spPr>
          </c:dPt>
          <c:dPt>
            <c:idx val="1"/>
            <c:invertIfNegative val="0"/>
            <c:bubble3D val="0"/>
            <c:spPr>
              <a:solidFill>
                <a:srgbClr val="0D9488"/>
              </a:solidFill>
              <a:effectLst/>
            </c:spPr>
          </c:dPt>
          <c:cat>
            <c:multiLvlStrRef>
              <c:f>Sheet1!$A$2:$A$3</c:f>
              <c:multiLvlStrCache>
                <c:ptCount val="2"/>
                <c:lvl>
                  <c:pt idx="0">
                    <c:v>Leisure</c:v>
                  </c:pt>
                  <c:pt idx="1">
                    <c:v>Business</c:v>
                  </c:pt>
                </c:lvl>
              </c:multiLvlStrCache>
            </c:multiLvlStrRef>
          </c:cat>
          <c:val>
            <c:numRef>
              <c:f>Sheet1!$B$2:$B$3</c:f>
              <c:numCache>
                <c:formatCode>General</c:formatCode>
                <c:ptCount val="2"/>
                <c:pt idx="0">
                  <c:v>24500</c:v>
                </c:pt>
                <c:pt idx="1">
                  <c:v>25700</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8FAFC"/>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00000"/>
                </a:solidFill>
                <a:latin typeface="Arial"/>
              </a:defRPr>
            </a:pPr>
            <a:r>
              <a:rPr sz="1100" b="0" i="0" u="none" strike="noStrike">
                <a:solidFill>
                  <a:srgbClr val="000000"/>
                </a:solidFill>
                <a:latin typeface="Arial"/>
              </a:rPr>
              <a:t>Booking Volume by Star Rating</a:t>
            </a:r>
          </a:p>
        </c:rich>
      </c:tx>
      <c:layout/>
      <c:overlay val="0"/>
    </c:title>
    <c:autoTitleDeleted val="0"/>
    <c:plotArea>
      <c:layout/>
      <c:barChart>
        <c:barDir val="col"/>
        <c:grouping val="clustered"/>
        <c:varyColors val="0"/>
        <c:ser>
          <c:idx val="0"/>
          <c:order val="0"/>
          <c:tx>
            <c:strRef>
              <c:f>Sheet1!$B$1</c:f>
              <c:strCache>
                <c:ptCount val="1"/>
                <c:pt idx="0">
                  <c:v>Bookings</c:v>
                </c:pt>
              </c:strCache>
            </c:strRef>
          </c:tx>
          <c:spPr>
            <a:solidFill>
              <a:srgbClr val="64748B"/>
            </a:solidFill>
            <a:effectLst/>
          </c:spPr>
          <c:invertIfNegative val="0"/>
          <c:dLbls>
            <c:numFmt formatCode="#,##0"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64748B"/>
              </a:solidFill>
              <a:effectLst/>
            </c:spPr>
          </c:dPt>
          <c:dPt>
            <c:idx val="1"/>
            <c:invertIfNegative val="0"/>
            <c:bubble3D val="0"/>
            <c:spPr>
              <a:solidFill>
                <a:srgbClr val="1B3A6B"/>
              </a:solidFill>
              <a:effectLst/>
            </c:spPr>
          </c:dPt>
          <c:dPt>
            <c:idx val="2"/>
            <c:invertIfNegative val="0"/>
            <c:bubble3D val="0"/>
            <c:spPr>
              <a:solidFill>
                <a:srgbClr val="0D9488"/>
              </a:solidFill>
              <a:effectLst/>
            </c:spPr>
          </c:dPt>
          <c:cat>
            <c:multiLvlStrRef>
              <c:f>Sheet1!$A$2:$A$4</c:f>
              <c:multiLvlStrCache>
                <c:ptCount val="3"/>
                <c:lvl>
                  <c:pt idx="0">
                    <c:v>3★</c:v>
                  </c:pt>
                  <c:pt idx="1">
                    <c:v>4★</c:v>
                  </c:pt>
                  <c:pt idx="2">
                    <c:v>5★</c:v>
                  </c:pt>
                </c:lvl>
              </c:multiLvlStrCache>
            </c:multiLvlStrRef>
          </c:cat>
          <c:val>
            <c:numRef>
              <c:f>Sheet1!$B$2:$B$4</c:f>
              <c:numCache>
                <c:formatCode>General</c:formatCode>
                <c:ptCount val="3"/>
                <c:pt idx="0">
                  <c:v>13455</c:v>
                </c:pt>
                <c:pt idx="1">
                  <c:v>12034</c:v>
                </c:pt>
                <c:pt idx="2">
                  <c:v>4511</c:v>
                </c:pt>
              </c:numCache>
            </c:numRef>
          </c:val>
        </c:ser>
        <c:dLbls>
          <c:numFmt formatCode="#,##0"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8FAFC"/>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00000"/>
                </a:solidFill>
                <a:latin typeface="Arial"/>
              </a:defRPr>
            </a:pPr>
            <a:r>
              <a:rPr sz="1200" b="0" i="0" u="none" strike="noStrike">
                <a:solidFill>
                  <a:srgbClr val="000000"/>
                </a:solidFill>
                <a:latin typeface="Arial"/>
              </a:rPr>
              <a:t>Booking Volume by Channel</a:t>
            </a:r>
          </a:p>
        </c:rich>
      </c:tx>
      <c:layout/>
      <c:overlay val="0"/>
    </c:title>
    <c:autoTitleDeleted val="0"/>
    <c:plotArea>
      <c:layout/>
      <c:barChart>
        <c:barDir val="col"/>
        <c:grouping val="clustered"/>
        <c:varyColors val="0"/>
        <c:ser>
          <c:idx val="0"/>
          <c:order val="0"/>
          <c:tx>
            <c:strRef>
              <c:f>Sheet1!$B$1</c:f>
              <c:strCache>
                <c:ptCount val="1"/>
                <c:pt idx="0">
                  <c:v>Bookings</c:v>
                </c:pt>
              </c:strCache>
            </c:strRef>
          </c:tx>
          <c:spPr>
            <a:solidFill>
              <a:srgbClr val="1B3A6B"/>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1B3A6B"/>
              </a:solidFill>
              <a:effectLst/>
            </c:spPr>
          </c:dPt>
          <c:dPt>
            <c:idx val="1"/>
            <c:invertIfNegative val="0"/>
            <c:bubble3D val="0"/>
            <c:spPr>
              <a:solidFill>
                <a:srgbClr val="0D9488"/>
              </a:solidFill>
              <a:effectLst/>
            </c:spPr>
          </c:dPt>
          <c:dPt>
            <c:idx val="2"/>
            <c:invertIfNegative val="0"/>
            <c:bubble3D val="0"/>
            <c:spPr>
              <a:solidFill>
                <a:srgbClr val="C73E1D"/>
              </a:solidFill>
              <a:effectLst/>
            </c:spPr>
          </c:dPt>
          <c:cat>
            <c:multiLvlStrRef>
              <c:f>Sheet1!$A$2:$A$4</c:f>
              <c:multiLvlStrCache>
                <c:ptCount val="3"/>
                <c:lvl>
                  <c:pt idx="0">
                    <c:v>Web</c:v>
                  </c:pt>
                  <c:pt idx="1">
                    <c:v>Mobile App</c:v>
                  </c:pt>
                  <c:pt idx="2">
                    <c:v>Travel Agent</c:v>
                  </c:pt>
                </c:lvl>
              </c:multiLvlStrCache>
            </c:multiLvlStrRef>
          </c:cat>
          <c:val>
            <c:numRef>
              <c:f>Sheet1!$B$2:$B$4</c:f>
              <c:numCache>
                <c:formatCode>General</c:formatCode>
                <c:ptCount val="3"/>
                <c:pt idx="0">
                  <c:v>15102</c:v>
                </c:pt>
                <c:pt idx="1">
                  <c:v>12048</c:v>
                </c:pt>
                <c:pt idx="2">
                  <c:v>2850</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00000"/>
                </a:solidFill>
                <a:latin typeface="Arial"/>
              </a:defRPr>
            </a:pPr>
            <a:r>
              <a:rPr sz="1200" b="0" i="0" u="none" strike="noStrike">
                <a:solidFill>
                  <a:srgbClr val="000000"/>
                </a:solidFill>
                <a:latin typeface="Arial"/>
              </a:rPr>
              <a:t>Cancellation Rate by Channel (%)</a:t>
            </a:r>
          </a:p>
        </c:rich>
      </c:tx>
      <c:layout/>
      <c:overlay val="0"/>
    </c:title>
    <c:autoTitleDeleted val="0"/>
    <c:plotArea>
      <c:layout/>
      <c:barChart>
        <c:barDir val="col"/>
        <c:grouping val="clustered"/>
        <c:varyColors val="0"/>
        <c:ser>
          <c:idx val="0"/>
          <c:order val="0"/>
          <c:tx>
            <c:strRef>
              <c:f>Sheet1!$B$1</c:f>
              <c:strCache>
                <c:ptCount val="1"/>
                <c:pt idx="0">
                  <c:v>Cancellation Rate %</c:v>
                </c:pt>
              </c:strCache>
            </c:strRef>
          </c:tx>
          <c:spPr>
            <a:solidFill>
              <a:srgbClr val="64748B"/>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64748B"/>
              </a:solidFill>
              <a:effectLst/>
            </c:spPr>
          </c:dPt>
          <c:dPt>
            <c:idx val="1"/>
            <c:invertIfNegative val="0"/>
            <c:bubble3D val="0"/>
            <c:spPr>
              <a:solidFill>
                <a:srgbClr val="64748B"/>
              </a:solidFill>
              <a:effectLst/>
            </c:spPr>
          </c:dPt>
          <c:dPt>
            <c:idx val="2"/>
            <c:invertIfNegative val="0"/>
            <c:bubble3D val="0"/>
            <c:spPr>
              <a:solidFill>
                <a:srgbClr val="C73E1D"/>
              </a:solidFill>
              <a:effectLst/>
            </c:spPr>
          </c:dPt>
          <c:cat>
            <c:multiLvlStrRef>
              <c:f>Sheet1!$A$2:$A$4</c:f>
              <c:multiLvlStrCache>
                <c:ptCount val="3"/>
                <c:lvl>
                  <c:pt idx="0">
                    <c:v>Web</c:v>
                  </c:pt>
                  <c:pt idx="1">
                    <c:v>Mobile App</c:v>
                  </c:pt>
                  <c:pt idx="2">
                    <c:v>Travel Agent</c:v>
                  </c:pt>
                </c:lvl>
              </c:multiLvlStrCache>
            </c:multiLvlStrRef>
          </c:cat>
          <c:val>
            <c:numRef>
              <c:f>Sheet1!$B$2:$B$4</c:f>
              <c:numCache>
                <c:formatCode>General</c:formatCode>
                <c:ptCount val="3"/>
                <c:pt idx="0">
                  <c:v>19.5</c:v>
                </c:pt>
                <c:pt idx="1">
                  <c:v>19.8</c:v>
                </c:pt>
                <c:pt idx="2">
                  <c:v>24.6</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00000"/>
                </a:solidFill>
                <a:latin typeface="Arial"/>
              </a:defRPr>
            </a:pPr>
            <a:r>
              <a:rPr sz="1200" b="0" i="0" u="none" strike="noStrike">
                <a:solidFill>
                  <a:srgbClr val="000000"/>
                </a:solidFill>
                <a:latin typeface="Arial"/>
              </a:rPr>
              <a:t>Avg Booking Value by Incentive Type</a:t>
            </a:r>
          </a:p>
        </c:rich>
      </c:tx>
      <c:layout/>
      <c:overlay val="0"/>
    </c:title>
    <c:autoTitleDeleted val="0"/>
    <c:plotArea>
      <c:layout/>
      <c:barChart>
        <c:barDir val="col"/>
        <c:grouping val="clustered"/>
        <c:varyColors val="0"/>
        <c:ser>
          <c:idx val="0"/>
          <c:order val="0"/>
          <c:tx>
            <c:strRef>
              <c:f>Sheet1!$B$1</c:f>
              <c:strCache>
                <c:ptCount val="1"/>
                <c:pt idx="0">
                  <c:v>Avg Booking Value (₹)</c:v>
                </c:pt>
              </c:strCache>
            </c:strRef>
          </c:tx>
          <c:spPr>
            <a:solidFill>
              <a:srgbClr val="1B3A6B"/>
            </a:solidFill>
            <a:effectLst/>
          </c:spPr>
          <c:invertIfNegative val="0"/>
          <c:dLbls>
            <c:numFmt formatCode="#,##0"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1B3A6B"/>
              </a:solidFill>
              <a:effectLst/>
            </c:spPr>
          </c:dPt>
          <c:dPt>
            <c:idx val="1"/>
            <c:invertIfNegative val="0"/>
            <c:bubble3D val="0"/>
            <c:spPr>
              <a:solidFill>
                <a:srgbClr val="C73E1D"/>
              </a:solidFill>
              <a:effectLst/>
            </c:spPr>
          </c:dPt>
          <c:dPt>
            <c:idx val="2"/>
            <c:invertIfNegative val="0"/>
            <c:bubble3D val="0"/>
            <c:spPr>
              <a:solidFill>
                <a:srgbClr val="64748B"/>
              </a:solidFill>
              <a:effectLst/>
            </c:spPr>
          </c:dPt>
          <c:dPt>
            <c:idx val="3"/>
            <c:invertIfNegative val="0"/>
            <c:bubble3D val="0"/>
            <c:spPr>
              <a:solidFill>
                <a:srgbClr val="0D9488"/>
              </a:solidFill>
              <a:effectLst/>
            </c:spPr>
          </c:dPt>
          <c:cat>
            <c:multiLvlStrRef>
              <c:f>Sheet1!$A$2:$A$5</c:f>
              <c:multiLvlStrCache>
                <c:ptCount val="4"/>
                <c:lvl>
                  <c:pt idx="0">
                    <c:v>No Coupon</c:v>
                  </c:pt>
                  <c:pt idx="1">
                    <c:v>Coupon Used</c:v>
                  </c:pt>
                  <c:pt idx="2">
                    <c:v>No Cashback</c:v>
                  </c:pt>
                  <c:pt idx="3">
                    <c:v>Cashback Used</c:v>
                  </c:pt>
                </c:lvl>
              </c:multiLvlStrCache>
            </c:multiLvlStrRef>
          </c:cat>
          <c:val>
            <c:numRef>
              <c:f>Sheet1!$B$2:$B$5</c:f>
              <c:numCache>
                <c:formatCode>General</c:formatCode>
                <c:ptCount val="4"/>
                <c:pt idx="0">
                  <c:v>25100</c:v>
                </c:pt>
                <c:pt idx="1">
                  <c:v>23900</c:v>
                </c:pt>
                <c:pt idx="2">
                  <c:v>24200</c:v>
                </c:pt>
                <c:pt idx="3">
                  <c:v>25800</c:v>
                </c:pt>
              </c:numCache>
            </c:numRef>
          </c:val>
        </c:ser>
        <c:dLbls>
          <c:numFmt formatCode="#,##0"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8FAFC"/>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00000"/>
                </a:solidFill>
                <a:latin typeface="Arial"/>
              </a:defRPr>
            </a:pPr>
            <a:r>
              <a:rPr sz="1200" b="0" i="0" u="none" strike="noStrike">
                <a:solidFill>
                  <a:srgbClr val="000000"/>
                </a:solidFill>
                <a:latin typeface="Arial"/>
              </a:rPr>
              <a:t>Cancellation Rate by Lead Time Bucket</a:t>
            </a:r>
          </a:p>
        </c:rich>
      </c:tx>
      <c:layout/>
      <c:overlay val="0"/>
    </c:title>
    <c:autoTitleDeleted val="0"/>
    <c:plotArea>
      <c:layout/>
      <c:barChart>
        <c:barDir val="col"/>
        <c:grouping val="clustered"/>
        <c:varyColors val="0"/>
        <c:ser>
          <c:idx val="0"/>
          <c:order val="0"/>
          <c:tx>
            <c:strRef>
              <c:f>Sheet1!$B$1</c:f>
              <c:strCache>
                <c:ptCount val="1"/>
                <c:pt idx="0">
                  <c:v>Cancellation Rate %</c:v>
                </c:pt>
              </c:strCache>
            </c:strRef>
          </c:tx>
          <c:spPr>
            <a:solidFill>
              <a:srgbClr val="64748B"/>
            </a:solidFill>
            <a:effectLst/>
          </c:spPr>
          <c:invertIfNegative val="0"/>
          <c:dLbls>
            <c:numFmt formatCode="#,##0"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64748B"/>
              </a:solidFill>
              <a:effectLst/>
            </c:spPr>
          </c:dPt>
          <c:dPt>
            <c:idx val="1"/>
            <c:invertIfNegative val="0"/>
            <c:bubble3D val="0"/>
            <c:spPr>
              <a:solidFill>
                <a:srgbClr val="94A3B8"/>
              </a:solidFill>
              <a:effectLst/>
            </c:spPr>
          </c:dPt>
          <c:dPt>
            <c:idx val="2"/>
            <c:invertIfNegative val="0"/>
            <c:bubble3D val="0"/>
            <c:spPr>
              <a:solidFill>
                <a:srgbClr val="F18F01"/>
              </a:solidFill>
              <a:effectLst/>
            </c:spPr>
          </c:dPt>
          <c:dPt>
            <c:idx val="3"/>
            <c:invertIfNegative val="0"/>
            <c:bubble3D val="0"/>
            <c:spPr>
              <a:solidFill>
                <a:srgbClr val="EA580C"/>
              </a:solidFill>
              <a:effectLst/>
            </c:spPr>
          </c:dPt>
          <c:dPt>
            <c:idx val="4"/>
            <c:invertIfNegative val="0"/>
            <c:bubble3D val="0"/>
            <c:spPr>
              <a:solidFill>
                <a:srgbClr val="C73E1D"/>
              </a:solidFill>
              <a:effectLst/>
            </c:spPr>
          </c:dPt>
          <c:cat>
            <c:multiLvlStrRef>
              <c:f>Sheet1!$A$2:$A$6</c:f>
              <c:multiLvlStrCache>
                <c:ptCount val="5"/>
                <c:lvl>
                  <c:pt idx="0">
                    <c:v>0–7 days</c:v>
                  </c:pt>
                  <c:pt idx="1">
                    <c:v>8–14 days</c:v>
                  </c:pt>
                  <c:pt idx="2">
                    <c:v>15–30 days</c:v>
                  </c:pt>
                  <c:pt idx="3">
                    <c:v>31–45 days</c:v>
                  </c:pt>
                  <c:pt idx="4">
                    <c:v>46–60 days</c:v>
                  </c:pt>
                </c:lvl>
              </c:multiLvlStrCache>
            </c:multiLvlStrRef>
          </c:cat>
          <c:val>
            <c:numRef>
              <c:f>Sheet1!$B$2:$B$6</c:f>
              <c:numCache>
                <c:formatCode>General</c:formatCode>
                <c:ptCount val="5"/>
                <c:pt idx="0">
                  <c:v>16.2</c:v>
                </c:pt>
                <c:pt idx="1">
                  <c:v>18.4</c:v>
                </c:pt>
                <c:pt idx="2">
                  <c:v>20.1</c:v>
                </c:pt>
                <c:pt idx="3">
                  <c:v>22.8</c:v>
                </c:pt>
                <c:pt idx="4">
                  <c:v>25.3</c:v>
                </c:pt>
              </c:numCache>
            </c:numRef>
          </c:val>
        </c:ser>
        <c:dLbls>
          <c:numFmt formatCode="#,##0"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00000"/>
                </a:solidFill>
                <a:latin typeface="Arial"/>
              </a:defRPr>
            </a:pPr>
            <a:r>
              <a:rPr sz="1200" b="0" i="0" u="none" strike="noStrike">
                <a:solidFill>
                  <a:srgbClr val="000000"/>
                </a:solidFill>
                <a:latin typeface="Arial"/>
              </a:rPr>
              <a:t>Cancellation Rate by Room Type</a:t>
            </a:r>
          </a:p>
        </c:rich>
      </c:tx>
      <c:layout/>
      <c:overlay val="0"/>
    </c:title>
    <c:autoTitleDeleted val="0"/>
    <c:plotArea>
      <c:layout/>
      <c:barChart>
        <c:barDir val="col"/>
        <c:grouping val="clustered"/>
        <c:varyColors val="0"/>
        <c:ser>
          <c:idx val="0"/>
          <c:order val="0"/>
          <c:tx>
            <c:strRef>
              <c:f>Sheet1!$B$1</c:f>
              <c:strCache>
                <c:ptCount val="1"/>
                <c:pt idx="0">
                  <c:v>Cancellation Rate %</c:v>
                </c:pt>
              </c:strCache>
            </c:strRef>
          </c:tx>
          <c:spPr>
            <a:solidFill>
              <a:srgbClr val="64748B"/>
            </a:solidFill>
            <a:effectLst/>
          </c:spPr>
          <c:invertIfNegative val="0"/>
          <c:dLbls>
            <c:numFmt formatCode="#,##0"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64748B"/>
              </a:solidFill>
              <a:effectLst/>
            </c:spPr>
          </c:dPt>
          <c:dPt>
            <c:idx val="1"/>
            <c:invertIfNegative val="0"/>
            <c:bubble3D val="0"/>
            <c:spPr>
              <a:solidFill>
                <a:srgbClr val="1B3A6B"/>
              </a:solidFill>
              <a:effectLst/>
            </c:spPr>
          </c:dPt>
          <c:dPt>
            <c:idx val="2"/>
            <c:invertIfNegative val="0"/>
            <c:bubble3D val="0"/>
            <c:spPr>
              <a:solidFill>
                <a:srgbClr val="0D9488"/>
              </a:solidFill>
              <a:effectLst/>
            </c:spPr>
          </c:dPt>
          <c:cat>
            <c:multiLvlStrRef>
              <c:f>Sheet1!$A$2:$A$4</c:f>
              <c:multiLvlStrCache>
                <c:ptCount val="3"/>
                <c:lvl>
                  <c:pt idx="0">
                    <c:v>Standard</c:v>
                  </c:pt>
                  <c:pt idx="1">
                    <c:v>Deluxe</c:v>
                  </c:pt>
                  <c:pt idx="2">
                    <c:v>Suite</c:v>
                  </c:pt>
                </c:lvl>
              </c:multiLvlStrCache>
            </c:multiLvlStrRef>
          </c:cat>
          <c:val>
            <c:numRef>
              <c:f>Sheet1!$B$2:$B$4</c:f>
              <c:numCache>
                <c:formatCode>General</c:formatCode>
                <c:ptCount val="3"/>
                <c:pt idx="0">
                  <c:v>20.8</c:v>
                </c:pt>
                <c:pt idx="1">
                  <c:v>20.1</c:v>
                </c:pt>
                <c:pt idx="2">
                  <c:v>19.4</c:v>
                </c:pt>
              </c:numCache>
            </c:numRef>
          </c:val>
        </c:ser>
        <c:dLbls>
          <c:numFmt formatCode="#,##0"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00000"/>
                </a:solidFill>
                <a:latin typeface="Arial"/>
              </a:defRPr>
            </a:pPr>
            <a:r>
              <a:rPr sz="1200" b="0" i="0" u="none" strike="noStrike">
                <a:solidFill>
                  <a:srgbClr val="000000"/>
                </a:solidFill>
                <a:latin typeface="Arial"/>
              </a:rPr>
              <a:t>Avg Profit per Booking by Star Rating</a:t>
            </a:r>
          </a:p>
        </c:rich>
      </c:tx>
      <c:layout/>
      <c:overlay val="0"/>
    </c:title>
    <c:autoTitleDeleted val="0"/>
    <c:plotArea>
      <c:layout/>
      <c:barChart>
        <c:barDir val="col"/>
        <c:grouping val="clustered"/>
        <c:varyColors val="0"/>
        <c:ser>
          <c:idx val="0"/>
          <c:order val="0"/>
          <c:tx>
            <c:strRef>
              <c:f>Sheet1!$B$1</c:f>
              <c:strCache>
                <c:ptCount val="1"/>
                <c:pt idx="0">
                  <c:v>Avg Profit per Booking (₹)</c:v>
                </c:pt>
              </c:strCache>
            </c:strRef>
          </c:tx>
          <c:spPr>
            <a:solidFill>
              <a:srgbClr val="94A3B8"/>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94A3B8"/>
              </a:solidFill>
              <a:effectLst/>
            </c:spPr>
          </c:dPt>
          <c:dPt>
            <c:idx val="1"/>
            <c:invertIfNegative val="0"/>
            <c:bubble3D val="0"/>
            <c:spPr>
              <a:solidFill>
                <a:srgbClr val="1B3A6B"/>
              </a:solidFill>
              <a:effectLst/>
            </c:spPr>
          </c:dPt>
          <c:dPt>
            <c:idx val="2"/>
            <c:invertIfNegative val="0"/>
            <c:bubble3D val="0"/>
            <c:spPr>
              <a:solidFill>
                <a:srgbClr val="0D9488"/>
              </a:solidFill>
              <a:effectLst/>
            </c:spPr>
          </c:dPt>
          <c:cat>
            <c:multiLvlStrRef>
              <c:f>Sheet1!$A$2:$A$4</c:f>
              <c:multiLvlStrCache>
                <c:ptCount val="3"/>
                <c:lvl>
                  <c:pt idx="0">
                    <c:v>3★</c:v>
                  </c:pt>
                  <c:pt idx="1">
                    <c:v>4★</c:v>
                  </c:pt>
                  <c:pt idx="2">
                    <c:v>5★</c:v>
                  </c:pt>
                </c:lvl>
              </c:multiLvlStrCache>
            </c:multiLvlStrRef>
          </c:cat>
          <c:val>
            <c:numRef>
              <c:f>Sheet1!$B$2:$B$4</c:f>
              <c:numCache>
                <c:formatCode>General</c:formatCode>
                <c:ptCount val="3"/>
                <c:pt idx="0">
                  <c:v>5800</c:v>
                </c:pt>
                <c:pt idx="1">
                  <c:v>7100</c:v>
                </c:pt>
                <c:pt idx="2">
                  <c:v>9200</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8FAFC"/>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00000"/>
                </a:solidFill>
                <a:latin typeface="Arial"/>
              </a:defRPr>
            </a:pPr>
            <a:r>
              <a:rPr sz="1200" b="0" i="0" u="none" strike="noStrike">
                <a:solidFill>
                  <a:srgbClr val="000000"/>
                </a:solidFill>
                <a:latin typeface="Arial"/>
              </a:rPr>
              <a:t>Avg Profit per Booking by Room Type</a:t>
            </a:r>
          </a:p>
        </c:rich>
      </c:tx>
      <c:layout/>
      <c:overlay val="0"/>
    </c:title>
    <c:autoTitleDeleted val="0"/>
    <c:plotArea>
      <c:layout/>
      <c:barChart>
        <c:barDir val="col"/>
        <c:grouping val="clustered"/>
        <c:varyColors val="0"/>
        <c:ser>
          <c:idx val="0"/>
          <c:order val="0"/>
          <c:tx>
            <c:strRef>
              <c:f>Sheet1!$B$1</c:f>
              <c:strCache>
                <c:ptCount val="1"/>
                <c:pt idx="0">
                  <c:v>Avg Profit per Booking (₹)</c:v>
                </c:pt>
              </c:strCache>
            </c:strRef>
          </c:tx>
          <c:spPr>
            <a:solidFill>
              <a:srgbClr val="94A3B8"/>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94A3B8"/>
              </a:solidFill>
              <a:effectLst/>
            </c:spPr>
          </c:dPt>
          <c:dPt>
            <c:idx val="1"/>
            <c:invertIfNegative val="0"/>
            <c:bubble3D val="0"/>
            <c:spPr>
              <a:solidFill>
                <a:srgbClr val="1B3A6B"/>
              </a:solidFill>
              <a:effectLst/>
            </c:spPr>
          </c:dPt>
          <c:dPt>
            <c:idx val="2"/>
            <c:invertIfNegative val="0"/>
            <c:bubble3D val="0"/>
            <c:spPr>
              <a:solidFill>
                <a:srgbClr val="0D9488"/>
              </a:solidFill>
              <a:effectLst/>
            </c:spPr>
          </c:dPt>
          <c:cat>
            <c:multiLvlStrRef>
              <c:f>Sheet1!$A$2:$A$4</c:f>
              <c:multiLvlStrCache>
                <c:ptCount val="3"/>
                <c:lvl>
                  <c:pt idx="0">
                    <c:v>Standard</c:v>
                  </c:pt>
                  <c:pt idx="1">
                    <c:v>Deluxe</c:v>
                  </c:pt>
                  <c:pt idx="2">
                    <c:v>Suite</c:v>
                  </c:pt>
                </c:lvl>
              </c:multiLvlStrCache>
            </c:multiLvlStrRef>
          </c:cat>
          <c:val>
            <c:numRef>
              <c:f>Sheet1!$B$2:$B$4</c:f>
              <c:numCache>
                <c:formatCode>General</c:formatCode>
                <c:ptCount val="3"/>
                <c:pt idx="0">
                  <c:v>5900</c:v>
                </c:pt>
                <c:pt idx="1">
                  <c:v>7400</c:v>
                </c:pt>
                <c:pt idx="2">
                  <c:v>9800</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8FAFC"/>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00000"/>
                </a:solidFill>
                <a:latin typeface="Arial"/>
              </a:defRPr>
            </a:pPr>
            <a:r>
              <a:rPr sz="1200" b="0" i="0" u="none" strike="noStrike">
                <a:solidFill>
                  <a:srgbClr val="000000"/>
                </a:solidFill>
                <a:latin typeface="Arial"/>
              </a:rPr>
              <a:t>Monthly Booking Volume (All Channels)</a:t>
            </a:r>
          </a:p>
        </c:rich>
      </c:tx>
      <c:layout/>
      <c:overlay val="0"/>
    </c:title>
    <c:autoTitleDeleted val="0"/>
    <c:plotArea>
      <c:layout/>
      <c:lineChart>
        <c:varyColors val="0"/>
        <c:ser>
          <c:idx val="0"/>
          <c:order val="0"/>
          <c:tx>
            <c:strRef>
              <c:f>Sheet1!$B$1</c:f>
              <c:strCache>
                <c:ptCount val="1"/>
                <c:pt idx="0">
                  <c:v>Monthly Bookings</c:v>
                </c:pt>
              </c:strCache>
            </c:strRef>
          </c:tx>
          <c:spPr>
            <a:solidFill>
              <a:srgbClr val="1B3A6B"/>
            </a:solidFill>
            <a:ln w="31750" cap="flat">
              <a:solidFill>
                <a:srgbClr val="1B3A6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B3A6B"/>
              </a:solidFill>
              <a:ln w="9525" cap="flat">
                <a:solidFill>
                  <a:srgbClr val="1B3A6B"/>
                </a:solidFill>
                <a:prstDash val="solid"/>
                <a:round/>
              </a:ln>
              <a:effectLst/>
            </c:spPr>
          </c:marker>
          <c:cat>
            <c:multiLvlStrRef>
              <c:f>Sheet1!$A$2:$A$14</c:f>
              <c:multiLvlStrCache>
                <c:ptCount val="13"/>
                <c:lvl>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lvl>
              </c:multiLvlStrCache>
            </c:multiLvlStrRef>
          </c:cat>
          <c:val>
            <c:numRef>
              <c:f>Sheet1!$B$2:$B$14</c:f>
              <c:numCache>
                <c:formatCode>General</c:formatCode>
                <c:ptCount val="13"/>
                <c:pt idx="0">
                  <c:v>2210</c:v>
                </c:pt>
                <c:pt idx="1">
                  <c:v>2340</c:v>
                </c:pt>
                <c:pt idx="2">
                  <c:v>2280</c:v>
                </c:pt>
                <c:pt idx="3">
                  <c:v>2480</c:v>
                </c:pt>
                <c:pt idx="4">
                  <c:v>2390</c:v>
                </c:pt>
                <c:pt idx="5">
                  <c:v>2260</c:v>
                </c:pt>
                <c:pt idx="6">
                  <c:v>2310</c:v>
                </c:pt>
                <c:pt idx="7">
                  <c:v>2350</c:v>
                </c:pt>
                <c:pt idx="8">
                  <c:v>2280</c:v>
                </c:pt>
                <c:pt idx="9">
                  <c:v>2200</c:v>
                </c:pt>
                <c:pt idx="10">
                  <c:v>2060</c:v>
                </c:pt>
                <c:pt idx="11">
                  <c:v>2180</c:v>
                </c:pt>
                <c:pt idx="12">
                  <c:v>2160</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Welcome the leadership team. This review covers 13 months of platform data across 30,000 transactions. We have identified significant value-creation opportunities across cancellation reduction, channel optimisation, and profitability improvement. Estimated annualised upside: ₹40–55M.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summary — five frames every CEO needs to see. Problem: we are losing 20% of bookings before they even materialise. Opportunity: our customer base is exceptionally loyal and high-margin segments are underpenetrated. Key insight: the causes are structural and fixable. Recommendation: four prioritised actions. Impact: ₹40-55M upside in year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leadership team through each KPI. Anchor on two: the 20.2% cancellation rate is more than double the healthy industry benchmark, and the 27.7% margin is healthy but vulnerable to discount pressure. The confirmation rate of 72.2% means we convert fewer than 3 in 4 bookings — closing that gap is the biggest near-term lever.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booking mix reveals key opportunities. 72% confirm, 20% cancel, 7.5% fail. Business travellers spend more and cancel less — we should grow this segment. 5-star is our highest-margin tier but is chronically underbooked. 4-star is our volume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Channel analysis tells a clear story: Web and Mobile are our growth vehicles — together they account for 90% of bookings and have comparable, controllable economics. Travel agents are a liability: high cancellation rates, operational overhead, and limited margin contribution. Recommendation: shift budget from agent commissions to mobile app investment.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single customer in our dataset is a repeat booker — this is extraordinary loyalty and suggests the platform has strong product-market fit. The growth constraint is new customer acquisition, not retention. Cashback drives higher spend than coupons — implication: shift from blanket coupon campaigns to targeted cashback on premium inventory.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cancellation story is clear: the longer ahead someone books, the higher the likelihood of cancellation. The 46–60 day bucket cancels at 25% — 5 points above overall average. This is the intervention window. Non-refundable pricing with a modest discount converts plan-changers into committed guests. Dallas and Miami are above-average cancellation cities — consider local pricing strategy reviews.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profitability gradient is unmistakable: higher star rating = higher margin per booking, and suites outperform standard rooms by 66%. The strategic imperative is to shift mix upward without increasing acquisition cost. Suite prompts and 5-star carousel placements are zero-CAC interventions — they work on existing traffic and existing inventory.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good news: demand is remarkably stable — there is no cliff edge in any month. This gives us reliable inventory planning. The strategic opportunity: use the July-August peak to push non-refundable rates and premium inventory. Use Q1 softness to run acquisition campaigns with introductory offers targeted at new customer segments.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issue tree connects every KPI problem to its structural root cause. Notice the pattern: most problems stem from either incentive misalignment (agents, no non-refundable tier) or portfolio mix under-optimisation (too much Standard, too little Suite and 5-star). These are not market problems — they are internal decisions we can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recommendations, each backed by data. Note that R1, R4, and R5 are Low Effort — they can be executed in 30 days. R3 and R6 require engineering and product involvement. R2 requires commercial/legal input for contractual changes. Together they represent ₹40–55M in recoverable annual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matrix answers the most important leadership question: where do we start? The left quadrant — non-refundable pricing, suite prompts, and 5-star campaigns — can be executed in 30 days with minimal engineering. The right quadrant — payment retry, agent SLAs, and loyalty programme — requires more coordination but delivers larger structural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Conservative scenarios. Scenario B alone — a 10% cancellation reduction which is achievable through non-refundable pricing — recovers ₹4.1M in pure profit. Scenario C, a 5% increase in booking frequency across our existing customer base, is the largest lever: ₹10.5M incremental profit. Combined, these scenarios add ₹40–55M annually — against a baseline that already shows healthy 27.7% margins.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roadmap is structured for quick momentum. Days 1–30 are entirely marketing and product decisions — no heavy engineering. Days 31–60 bring in engineering for payment retry and commercial teams for agent contracts. Days 61–90 scale what works and establish the governance framework to sustain improvements. Each action has a clear owner and KPI.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confidence. The platform has exceptional fundamentals: loyal customers, healthy margins, stable demand. The problems are fixable — they stem from pricing structure gaps and channel management, not market failure. With decisive leadership action over the next 90 days, this platform can recover ₹40–55M in value that is currently walking out the door.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chart" Target="/ppt/charts/chart8.xm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chart" Target="/ppt/charts/chart10.xm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D9488"/>
          </a:solidFill>
          <a:ln w="12700">
            <a:solidFill>
              <a:srgbClr val="0D9488"/>
            </a:solidFill>
            <a:prstDash val="solid"/>
          </a:ln>
        </p:spPr>
      </p:sp>
      <p:sp>
        <p:nvSpPr>
          <p:cNvPr id="3" name="Shape 1"/>
          <p:cNvSpPr/>
          <p:nvPr/>
        </p:nvSpPr>
        <p:spPr>
          <a:xfrm>
            <a:off x="5943600" y="-1097280"/>
            <a:ext cx="5029200" cy="5029200"/>
          </a:xfrm>
          <a:prstGeom prst="ellipse">
            <a:avLst/>
          </a:prstGeom>
          <a:solidFill>
            <a:srgbClr val="1B3A6B">
              <a:alpha val="50000"/>
            </a:srgbClr>
          </a:solidFill>
          <a:ln w="12700">
            <a:solidFill>
              <a:srgbClr val="1B3A6B">
                <a:alpha val="50000"/>
              </a:srgbClr>
            </a:solidFill>
            <a:prstDash val="solid"/>
          </a:ln>
        </p:spPr>
      </p:sp>
      <p:sp>
        <p:nvSpPr>
          <p:cNvPr id="4" name="Shape 2"/>
          <p:cNvSpPr/>
          <p:nvPr/>
        </p:nvSpPr>
        <p:spPr>
          <a:xfrm>
            <a:off x="7132320" y="1828800"/>
            <a:ext cx="2743200" cy="2743200"/>
          </a:xfrm>
          <a:prstGeom prst="ellipse">
            <a:avLst/>
          </a:prstGeom>
          <a:solidFill>
            <a:srgbClr val="0D9488">
              <a:alpha val="30000"/>
            </a:srgbClr>
          </a:solidFill>
          <a:ln w="12700">
            <a:solidFill>
              <a:srgbClr val="0D9488">
                <a:alpha val="30000"/>
              </a:srgbClr>
            </a:solidFill>
            <a:prstDash val="solid"/>
          </a:ln>
        </p:spPr>
      </p:sp>
      <p:sp>
        <p:nvSpPr>
          <p:cNvPr id="5" name="Text 3"/>
          <p:cNvSpPr/>
          <p:nvPr/>
        </p:nvSpPr>
        <p:spPr>
          <a:xfrm>
            <a:off x="411480" y="502920"/>
            <a:ext cx="7315200" cy="274320"/>
          </a:xfrm>
          <a:prstGeom prst="rect">
            <a:avLst/>
          </a:prstGeom>
          <a:noFill/>
          <a:ln/>
        </p:spPr>
        <p:txBody>
          <a:bodyPr wrap="square" lIns="0" tIns="0" rIns="0" bIns="0" rtlCol="0" anchor="ctr"/>
          <a:lstStyle/>
          <a:p>
            <a:pPr indent="0" marL="0">
              <a:buNone/>
            </a:pPr>
            <a:r>
              <a:rPr lang="en-US" sz="900" b="1" spc="300" kern="0" dirty="0">
                <a:solidFill>
                  <a:srgbClr val="14B8A6"/>
                </a:solidFill>
                <a:latin typeface="Calibri" pitchFamily="34" charset="0"/>
                <a:ea typeface="Calibri" pitchFamily="34" charset="-122"/>
                <a:cs typeface="Calibri" pitchFamily="34" charset="-120"/>
              </a:rPr>
              <a:t>CONFIDENTIAL — INTERNAL STRATEGY REVIEW</a:t>
            </a:r>
            <a:endParaRPr lang="en-US" sz="900" dirty="0"/>
          </a:p>
        </p:txBody>
      </p:sp>
      <p:sp>
        <p:nvSpPr>
          <p:cNvPr id="6" name="Text 4"/>
          <p:cNvSpPr/>
          <p:nvPr/>
        </p:nvSpPr>
        <p:spPr>
          <a:xfrm>
            <a:off x="411480" y="1005840"/>
            <a:ext cx="77724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Hotel Booking Platform</a:t>
            </a:r>
            <a:endParaRPr lang="en-US" sz="4400" dirty="0"/>
          </a:p>
        </p:txBody>
      </p:sp>
      <p:sp>
        <p:nvSpPr>
          <p:cNvPr id="7" name="Text 5"/>
          <p:cNvSpPr/>
          <p:nvPr/>
        </p:nvSpPr>
        <p:spPr>
          <a:xfrm>
            <a:off x="411480" y="1874520"/>
            <a:ext cx="7772400" cy="685800"/>
          </a:xfrm>
          <a:prstGeom prst="rect">
            <a:avLst/>
          </a:prstGeom>
          <a:noFill/>
          <a:ln/>
        </p:spPr>
        <p:txBody>
          <a:bodyPr wrap="square" lIns="0" tIns="0" rIns="0" bIns="0" rtlCol="0" anchor="ctr"/>
          <a:lstStyle/>
          <a:p>
            <a:pPr indent="0" marL="0">
              <a:buNone/>
            </a:pPr>
            <a:r>
              <a:rPr lang="en-US" sz="3200" dirty="0">
                <a:solidFill>
                  <a:srgbClr val="14B8A6"/>
                </a:solidFill>
                <a:latin typeface="Cambria" pitchFamily="34" charset="0"/>
                <a:ea typeface="Cambria" pitchFamily="34" charset="-122"/>
                <a:cs typeface="Cambria" pitchFamily="34" charset="-120"/>
              </a:rPr>
              <a:t>Strategic Business Review</a:t>
            </a:r>
            <a:endParaRPr lang="en-US" sz="3200" dirty="0"/>
          </a:p>
        </p:txBody>
      </p:sp>
      <p:sp>
        <p:nvSpPr>
          <p:cNvPr id="8" name="Shape 6"/>
          <p:cNvSpPr/>
          <p:nvPr/>
        </p:nvSpPr>
        <p:spPr>
          <a:xfrm>
            <a:off x="411480" y="2697480"/>
            <a:ext cx="3657600" cy="36576"/>
          </a:xfrm>
          <a:prstGeom prst="rect">
            <a:avLst/>
          </a:prstGeom>
          <a:solidFill>
            <a:srgbClr val="0D9488"/>
          </a:solidFill>
          <a:ln w="12700">
            <a:solidFill>
              <a:srgbClr val="0D9488"/>
            </a:solidFill>
            <a:prstDash val="solid"/>
          </a:ln>
        </p:spPr>
      </p:sp>
      <p:sp>
        <p:nvSpPr>
          <p:cNvPr id="9" name="Text 7"/>
          <p:cNvSpPr/>
          <p:nvPr/>
        </p:nvSpPr>
        <p:spPr>
          <a:xfrm>
            <a:off x="411480" y="2926080"/>
            <a:ext cx="8229600" cy="32004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30,000 Booking Transactions  ·  April 2024 – April 2025  ·  Multi-City Operations</a:t>
            </a:r>
            <a:endParaRPr lang="en-US" sz="1300" dirty="0"/>
          </a:p>
        </p:txBody>
      </p:sp>
      <p:sp>
        <p:nvSpPr>
          <p:cNvPr id="10" name="Text 8"/>
          <p:cNvSpPr/>
          <p:nvPr/>
        </p:nvSpPr>
        <p:spPr>
          <a:xfrm>
            <a:off x="411480" y="4389120"/>
            <a:ext cx="82296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Prepared for: CEO  ·  Head of Revenue  ·  Head of Growth  ·  Senior Leadership Team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628"/>
          </a:solidFill>
          <a:ln w="12700">
            <a:solidFill>
              <a:srgbClr val="0A1628"/>
            </a:solidFill>
            <a:prstDash val="solid"/>
          </a:ln>
        </p:spPr>
      </p:sp>
      <p:sp>
        <p:nvSpPr>
          <p:cNvPr id="3" name="Text 1"/>
          <p:cNvSpPr/>
          <p:nvPr/>
        </p:nvSpPr>
        <p:spPr>
          <a:xfrm>
            <a:off x="457200" y="45720"/>
            <a:ext cx="8229600" cy="502920"/>
          </a:xfrm>
          <a:prstGeom prst="rect">
            <a:avLst/>
          </a:prstGeom>
          <a:noFill/>
          <a:ln/>
        </p:spPr>
        <p:txBody>
          <a:bodyPr wrap="square" lIns="0" tIns="0" rIns="0" bIns="0" rtlCol="0" anchor="ctr"/>
          <a:lstStyle/>
          <a:p>
            <a:pPr indent="0" marL="0">
              <a:buNone/>
            </a:pPr>
            <a:r>
              <a:rPr lang="en-US" sz="1100" b="1" spc="300" kern="0" dirty="0">
                <a:solidFill>
                  <a:srgbClr val="14B8A6"/>
                </a:solidFill>
                <a:latin typeface="Calibri" pitchFamily="34" charset="0"/>
                <a:ea typeface="Calibri" pitchFamily="34" charset="-122"/>
                <a:cs typeface="Calibri" pitchFamily="34" charset="-120"/>
              </a:rPr>
              <a:t>EXECUTIVE SUMMARY</a:t>
            </a:r>
            <a:endParaRPr lang="en-US" sz="1100" dirty="0"/>
          </a:p>
        </p:txBody>
      </p:sp>
      <p:sp>
        <p:nvSpPr>
          <p:cNvPr id="4" name="Text 2"/>
          <p:cNvSpPr/>
          <p:nvPr/>
        </p:nvSpPr>
        <p:spPr>
          <a:xfrm>
            <a:off x="457200" y="475488"/>
            <a:ext cx="8229600" cy="36576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One Page for the CEO</a:t>
            </a:r>
            <a:endParaRPr lang="en-US" sz="2200" dirty="0"/>
          </a:p>
        </p:txBody>
      </p:sp>
      <p:sp>
        <p:nvSpPr>
          <p:cNvPr id="5" name="Shape 3"/>
          <p:cNvSpPr/>
          <p:nvPr/>
        </p:nvSpPr>
        <p:spPr>
          <a:xfrm>
            <a:off x="137160" y="1024128"/>
            <a:ext cx="1664208" cy="3886200"/>
          </a:xfrm>
          <a:prstGeom prst="roundRect">
            <a:avLst>
              <a:gd name="adj" fmla="val 3297"/>
            </a:avLst>
          </a:prstGeom>
          <a:solidFill>
            <a:srgbClr val="FEF2F2"/>
          </a:solidFill>
          <a:ln w="12700">
            <a:solidFill>
              <a:srgbClr val="E2E8F0"/>
            </a:solidFill>
            <a:prstDash val="solid"/>
          </a:ln>
          <a:effectLst>
            <a:outerShdw sx="100000" sy="100000" kx="0" ky="0" algn="bl" rotWithShape="0" blurRad="101600" dist="25400" dir="2700000">
              <a:srgbClr val="000000">
                <a:alpha val="10000"/>
              </a:srgbClr>
            </a:outerShdw>
          </a:effectLst>
        </p:spPr>
      </p:sp>
      <p:sp>
        <p:nvSpPr>
          <p:cNvPr id="6" name="Text 4"/>
          <p:cNvSpPr/>
          <p:nvPr/>
        </p:nvSpPr>
        <p:spPr>
          <a:xfrm>
            <a:off x="228600" y="1097280"/>
            <a:ext cx="1481328" cy="347472"/>
          </a:xfrm>
          <a:prstGeom prst="rect">
            <a:avLst/>
          </a:prstGeom>
          <a:noFill/>
          <a:ln/>
        </p:spPr>
        <p:txBody>
          <a:bodyPr wrap="square" lIns="0" tIns="0" rIns="0" bIns="0" rtlCol="0" anchor="ctr"/>
          <a:lstStyle/>
          <a:p>
            <a:pPr indent="0" marL="0">
              <a:buNone/>
            </a:pPr>
            <a:r>
              <a:rPr lang="en-US" sz="850" b="1" dirty="0">
                <a:solidFill>
                  <a:srgbClr val="C73E1D"/>
                </a:solidFill>
                <a:latin typeface="Calibri" pitchFamily="34" charset="0"/>
                <a:ea typeface="Calibri" pitchFamily="34" charset="-122"/>
                <a:cs typeface="Calibri" pitchFamily="34" charset="-120"/>
              </a:rPr>
              <a:t>⚠  THE PROBLEM</a:t>
            </a:r>
            <a:endParaRPr lang="en-US" sz="850" dirty="0"/>
          </a:p>
        </p:txBody>
      </p:sp>
      <p:sp>
        <p:nvSpPr>
          <p:cNvPr id="7" name="Shape 5"/>
          <p:cNvSpPr/>
          <p:nvPr/>
        </p:nvSpPr>
        <p:spPr>
          <a:xfrm>
            <a:off x="228600" y="1435608"/>
            <a:ext cx="1481328" cy="22860"/>
          </a:xfrm>
          <a:prstGeom prst="rect">
            <a:avLst/>
          </a:prstGeom>
          <a:solidFill>
            <a:srgbClr val="C73E1D"/>
          </a:solidFill>
          <a:ln w="12700">
            <a:solidFill>
              <a:srgbClr val="C73E1D"/>
            </a:solidFill>
            <a:prstDash val="solid"/>
          </a:ln>
        </p:spPr>
      </p:sp>
      <p:sp>
        <p:nvSpPr>
          <p:cNvPr id="8" name="Text 6"/>
          <p:cNvSpPr/>
          <p:nvPr/>
        </p:nvSpPr>
        <p:spPr>
          <a:xfrm>
            <a:off x="228600" y="1508760"/>
            <a:ext cx="1481328" cy="3291840"/>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20.2% cancellation rate — more than double the industry benchmark of &lt;12%. Combined with a 7.5% booking failure rate, the platform is losing ₹56M+ in annual revenue before a single guest checks out.</a:t>
            </a:r>
            <a:endParaRPr lang="en-US" sz="950" dirty="0"/>
          </a:p>
        </p:txBody>
      </p:sp>
      <p:sp>
        <p:nvSpPr>
          <p:cNvPr id="9" name="Shape 7"/>
          <p:cNvSpPr/>
          <p:nvPr/>
        </p:nvSpPr>
        <p:spPr>
          <a:xfrm>
            <a:off x="1929384" y="1024128"/>
            <a:ext cx="1664208" cy="3886200"/>
          </a:xfrm>
          <a:prstGeom prst="roundRect">
            <a:avLst>
              <a:gd name="adj" fmla="val 3297"/>
            </a:avLst>
          </a:prstGeom>
          <a:solidFill>
            <a:srgbClr val="F0FDF4"/>
          </a:solidFill>
          <a:ln w="12700">
            <a:solidFill>
              <a:srgbClr val="E2E8F0"/>
            </a:solidFill>
            <a:prstDash val="solid"/>
          </a:ln>
          <a:effectLst>
            <a:outerShdw sx="100000" sy="100000" kx="0" ky="0" algn="bl" rotWithShape="0" blurRad="101600" dist="25400" dir="2700000">
              <a:srgbClr val="000000">
                <a:alpha val="10000"/>
              </a:srgbClr>
            </a:outerShdw>
          </a:effectLst>
        </p:spPr>
      </p:sp>
      <p:sp>
        <p:nvSpPr>
          <p:cNvPr id="10" name="Text 8"/>
          <p:cNvSpPr/>
          <p:nvPr/>
        </p:nvSpPr>
        <p:spPr>
          <a:xfrm>
            <a:off x="2020824" y="1097280"/>
            <a:ext cx="1481328" cy="347472"/>
          </a:xfrm>
          <a:prstGeom prst="rect">
            <a:avLst/>
          </a:prstGeom>
          <a:noFill/>
          <a:ln/>
        </p:spPr>
        <p:txBody>
          <a:bodyPr wrap="square" lIns="0" tIns="0" rIns="0" bIns="0" rtlCol="0" anchor="ctr"/>
          <a:lstStyle/>
          <a:p>
            <a:pPr indent="0" marL="0">
              <a:buNone/>
            </a:pPr>
            <a:r>
              <a:rPr lang="en-US" sz="850" b="1" dirty="0">
                <a:solidFill>
                  <a:srgbClr val="0D9488"/>
                </a:solidFill>
                <a:latin typeface="Calibri" pitchFamily="34" charset="0"/>
                <a:ea typeface="Calibri" pitchFamily="34" charset="-122"/>
                <a:cs typeface="Calibri" pitchFamily="34" charset="-120"/>
              </a:rPr>
              <a:t>◈  THE OPPORTUNITY</a:t>
            </a:r>
            <a:endParaRPr lang="en-US" sz="850" dirty="0"/>
          </a:p>
        </p:txBody>
      </p:sp>
      <p:sp>
        <p:nvSpPr>
          <p:cNvPr id="11" name="Shape 9"/>
          <p:cNvSpPr/>
          <p:nvPr/>
        </p:nvSpPr>
        <p:spPr>
          <a:xfrm>
            <a:off x="2020824" y="1435608"/>
            <a:ext cx="1481328" cy="22860"/>
          </a:xfrm>
          <a:prstGeom prst="rect">
            <a:avLst/>
          </a:prstGeom>
          <a:solidFill>
            <a:srgbClr val="0D9488"/>
          </a:solidFill>
          <a:ln w="12700">
            <a:solidFill>
              <a:srgbClr val="0D9488"/>
            </a:solidFill>
            <a:prstDash val="solid"/>
          </a:ln>
        </p:spPr>
      </p:sp>
      <p:sp>
        <p:nvSpPr>
          <p:cNvPr id="12" name="Text 10"/>
          <p:cNvSpPr/>
          <p:nvPr/>
        </p:nvSpPr>
        <p:spPr>
          <a:xfrm>
            <a:off x="2020824" y="1508760"/>
            <a:ext cx="1481328" cy="3291840"/>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All 499 customers are repeat bookers — a uniquely loyal base. Suite and 5-star segments deliver the highest margins but are dramatically under-represented. The revenue upside is structural, not aspirational.</a:t>
            </a:r>
            <a:endParaRPr lang="en-US" sz="950" dirty="0"/>
          </a:p>
        </p:txBody>
      </p:sp>
      <p:sp>
        <p:nvSpPr>
          <p:cNvPr id="13" name="Shape 11"/>
          <p:cNvSpPr/>
          <p:nvPr/>
        </p:nvSpPr>
        <p:spPr>
          <a:xfrm>
            <a:off x="3721608" y="1024128"/>
            <a:ext cx="1664208" cy="3886200"/>
          </a:xfrm>
          <a:prstGeom prst="roundRect">
            <a:avLst>
              <a:gd name="adj" fmla="val 3297"/>
            </a:avLst>
          </a:prstGeom>
          <a:solidFill>
            <a:srgbClr val="EFF6FF"/>
          </a:solidFill>
          <a:ln w="12700">
            <a:solidFill>
              <a:srgbClr val="E2E8F0"/>
            </a:solidFill>
            <a:prstDash val="solid"/>
          </a:ln>
          <a:effectLst>
            <a:outerShdw sx="100000" sy="100000" kx="0" ky="0" algn="bl" rotWithShape="0" blurRad="101600" dist="25400" dir="2700000">
              <a:srgbClr val="000000">
                <a:alpha val="10000"/>
              </a:srgbClr>
            </a:outerShdw>
          </a:effectLst>
        </p:spPr>
      </p:sp>
      <p:sp>
        <p:nvSpPr>
          <p:cNvPr id="14" name="Text 12"/>
          <p:cNvSpPr/>
          <p:nvPr/>
        </p:nvSpPr>
        <p:spPr>
          <a:xfrm>
            <a:off x="3813048" y="1097280"/>
            <a:ext cx="1481328" cy="347472"/>
          </a:xfrm>
          <a:prstGeom prst="rect">
            <a:avLst/>
          </a:prstGeom>
          <a:noFill/>
          <a:ln/>
        </p:spPr>
        <p:txBody>
          <a:bodyPr wrap="square" lIns="0" tIns="0" rIns="0" bIns="0" rtlCol="0" anchor="ctr"/>
          <a:lstStyle/>
          <a:p>
            <a:pPr indent="0" marL="0">
              <a:buNone/>
            </a:pPr>
            <a:r>
              <a:rPr lang="en-US" sz="850" b="1" dirty="0">
                <a:solidFill>
                  <a:srgbClr val="1B3A6B"/>
                </a:solidFill>
                <a:latin typeface="Calibri" pitchFamily="34" charset="0"/>
                <a:ea typeface="Calibri" pitchFamily="34" charset="-122"/>
                <a:cs typeface="Calibri" pitchFamily="34" charset="-120"/>
              </a:rPr>
              <a:t>◉  KEY INSIGHT</a:t>
            </a:r>
            <a:endParaRPr lang="en-US" sz="850" dirty="0"/>
          </a:p>
        </p:txBody>
      </p:sp>
      <p:sp>
        <p:nvSpPr>
          <p:cNvPr id="15" name="Shape 13"/>
          <p:cNvSpPr/>
          <p:nvPr/>
        </p:nvSpPr>
        <p:spPr>
          <a:xfrm>
            <a:off x="3813048" y="1435608"/>
            <a:ext cx="1481328" cy="22860"/>
          </a:xfrm>
          <a:prstGeom prst="rect">
            <a:avLst/>
          </a:prstGeom>
          <a:solidFill>
            <a:srgbClr val="1B3A6B"/>
          </a:solidFill>
          <a:ln w="12700">
            <a:solidFill>
              <a:srgbClr val="1B3A6B"/>
            </a:solidFill>
            <a:prstDash val="solid"/>
          </a:ln>
        </p:spPr>
      </p:sp>
      <p:sp>
        <p:nvSpPr>
          <p:cNvPr id="16" name="Text 14"/>
          <p:cNvSpPr/>
          <p:nvPr/>
        </p:nvSpPr>
        <p:spPr>
          <a:xfrm>
            <a:off x="3813048" y="1508760"/>
            <a:ext cx="1481328" cy="3291840"/>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Long lead-time bookings (31–60 days) cancel at the highest rate. Travel agents drive speculative cancellations with no financial penalty. Both are fixable through pricing structure and contractual guardrails — without reducing demand.</a:t>
            </a:r>
            <a:endParaRPr lang="en-US" sz="950" dirty="0"/>
          </a:p>
        </p:txBody>
      </p:sp>
      <p:sp>
        <p:nvSpPr>
          <p:cNvPr id="17" name="Shape 15"/>
          <p:cNvSpPr/>
          <p:nvPr/>
        </p:nvSpPr>
        <p:spPr>
          <a:xfrm>
            <a:off x="5513832" y="1024128"/>
            <a:ext cx="1664208" cy="3886200"/>
          </a:xfrm>
          <a:prstGeom prst="roundRect">
            <a:avLst>
              <a:gd name="adj" fmla="val 3297"/>
            </a:avLst>
          </a:prstGeom>
          <a:solidFill>
            <a:srgbClr val="FFFBEB"/>
          </a:solidFill>
          <a:ln w="12700">
            <a:solidFill>
              <a:srgbClr val="E2E8F0"/>
            </a:solidFill>
            <a:prstDash val="solid"/>
          </a:ln>
          <a:effectLst>
            <a:outerShdw sx="100000" sy="100000" kx="0" ky="0" algn="bl" rotWithShape="0" blurRad="101600" dist="25400" dir="2700000">
              <a:srgbClr val="000000">
                <a:alpha val="10000"/>
              </a:srgbClr>
            </a:outerShdw>
          </a:effectLst>
        </p:spPr>
      </p:sp>
      <p:sp>
        <p:nvSpPr>
          <p:cNvPr id="18" name="Text 16"/>
          <p:cNvSpPr/>
          <p:nvPr/>
        </p:nvSpPr>
        <p:spPr>
          <a:xfrm>
            <a:off x="5605272" y="1097280"/>
            <a:ext cx="1481328" cy="347472"/>
          </a:xfrm>
          <a:prstGeom prst="rect">
            <a:avLst/>
          </a:prstGeom>
          <a:noFill/>
          <a:ln/>
        </p:spPr>
        <p:txBody>
          <a:bodyPr wrap="square" lIns="0" tIns="0" rIns="0" bIns="0" rtlCol="0" anchor="ctr"/>
          <a:lstStyle/>
          <a:p>
            <a:pPr indent="0" marL="0">
              <a:buNone/>
            </a:pPr>
            <a:r>
              <a:rPr lang="en-US" sz="850" b="1" dirty="0">
                <a:solidFill>
                  <a:srgbClr val="F18F01"/>
                </a:solidFill>
                <a:latin typeface="Calibri" pitchFamily="34" charset="0"/>
                <a:ea typeface="Calibri" pitchFamily="34" charset="-122"/>
                <a:cs typeface="Calibri" pitchFamily="34" charset="-120"/>
              </a:rPr>
              <a:t>▶  RECOMMENDATION</a:t>
            </a:r>
            <a:endParaRPr lang="en-US" sz="850" dirty="0"/>
          </a:p>
        </p:txBody>
      </p:sp>
      <p:sp>
        <p:nvSpPr>
          <p:cNvPr id="19" name="Shape 17"/>
          <p:cNvSpPr/>
          <p:nvPr/>
        </p:nvSpPr>
        <p:spPr>
          <a:xfrm>
            <a:off x="5605272" y="1435608"/>
            <a:ext cx="1481328" cy="22860"/>
          </a:xfrm>
          <a:prstGeom prst="rect">
            <a:avLst/>
          </a:prstGeom>
          <a:solidFill>
            <a:srgbClr val="F18F01"/>
          </a:solidFill>
          <a:ln w="12700">
            <a:solidFill>
              <a:srgbClr val="F18F01"/>
            </a:solidFill>
            <a:prstDash val="solid"/>
          </a:ln>
        </p:spPr>
      </p:sp>
      <p:sp>
        <p:nvSpPr>
          <p:cNvPr id="20" name="Text 18"/>
          <p:cNvSpPr/>
          <p:nvPr/>
        </p:nvSpPr>
        <p:spPr>
          <a:xfrm>
            <a:off x="5605272" y="1508760"/>
            <a:ext cx="1481328" cy="3291840"/>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Implement non-refundable pricing tiers + agent SLAs immediately. Simultaneously launch suite upsell prompts and 5-star premium campaigns. These four initiatives alone can recover ₹35–45M annually.</a:t>
            </a:r>
            <a:endParaRPr lang="en-US" sz="950" dirty="0"/>
          </a:p>
        </p:txBody>
      </p:sp>
      <p:sp>
        <p:nvSpPr>
          <p:cNvPr id="21" name="Shape 19"/>
          <p:cNvSpPr/>
          <p:nvPr/>
        </p:nvSpPr>
        <p:spPr>
          <a:xfrm>
            <a:off x="7306056" y="1024128"/>
            <a:ext cx="1664208" cy="3886200"/>
          </a:xfrm>
          <a:prstGeom prst="roundRect">
            <a:avLst>
              <a:gd name="adj" fmla="val 3297"/>
            </a:avLst>
          </a:prstGeom>
          <a:solidFill>
            <a:srgbClr val="F0FDF4"/>
          </a:solidFill>
          <a:ln w="12700">
            <a:solidFill>
              <a:srgbClr val="E2E8F0"/>
            </a:solidFill>
            <a:prstDash val="solid"/>
          </a:ln>
          <a:effectLst>
            <a:outerShdw sx="100000" sy="100000" kx="0" ky="0" algn="bl" rotWithShape="0" blurRad="101600" dist="25400" dir="2700000">
              <a:srgbClr val="000000">
                <a:alpha val="10000"/>
              </a:srgbClr>
            </a:outerShdw>
          </a:effectLst>
        </p:spPr>
      </p:sp>
      <p:sp>
        <p:nvSpPr>
          <p:cNvPr id="22" name="Text 20"/>
          <p:cNvSpPr/>
          <p:nvPr/>
        </p:nvSpPr>
        <p:spPr>
          <a:xfrm>
            <a:off x="7397496" y="1097280"/>
            <a:ext cx="1481328" cy="347472"/>
          </a:xfrm>
          <a:prstGeom prst="rect">
            <a:avLst/>
          </a:prstGeom>
          <a:noFill/>
          <a:ln/>
        </p:spPr>
        <p:txBody>
          <a:bodyPr wrap="square" lIns="0" tIns="0" rIns="0" bIns="0" rtlCol="0" anchor="ctr"/>
          <a:lstStyle/>
          <a:p>
            <a:pPr indent="0" marL="0">
              <a:buNone/>
            </a:pPr>
            <a:r>
              <a:rPr lang="en-US" sz="850" b="1" dirty="0">
                <a:solidFill>
                  <a:srgbClr val="44BBA4"/>
                </a:solidFill>
                <a:latin typeface="Calibri" pitchFamily="34" charset="0"/>
                <a:ea typeface="Calibri" pitchFamily="34" charset="-122"/>
                <a:cs typeface="Calibri" pitchFamily="34" charset="-120"/>
              </a:rPr>
              <a:t>₹  EXPECTED IMPACT</a:t>
            </a:r>
            <a:endParaRPr lang="en-US" sz="850" dirty="0"/>
          </a:p>
        </p:txBody>
      </p:sp>
      <p:sp>
        <p:nvSpPr>
          <p:cNvPr id="23" name="Shape 21"/>
          <p:cNvSpPr/>
          <p:nvPr/>
        </p:nvSpPr>
        <p:spPr>
          <a:xfrm>
            <a:off x="7397496" y="1435608"/>
            <a:ext cx="1481328" cy="22860"/>
          </a:xfrm>
          <a:prstGeom prst="rect">
            <a:avLst/>
          </a:prstGeom>
          <a:solidFill>
            <a:srgbClr val="44BBA4"/>
          </a:solidFill>
          <a:ln w="12700">
            <a:solidFill>
              <a:srgbClr val="44BBA4"/>
            </a:solidFill>
            <a:prstDash val="solid"/>
          </a:ln>
        </p:spPr>
      </p:sp>
      <p:sp>
        <p:nvSpPr>
          <p:cNvPr id="24" name="Text 22"/>
          <p:cNvSpPr/>
          <p:nvPr/>
        </p:nvSpPr>
        <p:spPr>
          <a:xfrm>
            <a:off x="7397496" y="1508760"/>
            <a:ext cx="1481328" cy="3291840"/>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₹40–55M incremental profit within 12 months. Cancellation rate: 20.2% → 14%. Confirmation rate: 72.2% → 77%+. Average profit per booking: ₹6,963 → ₹8,200+.</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w="12700">
            <a:solidFill>
              <a:srgbClr val="0A1628"/>
            </a:solidFill>
            <a:prstDash val="solid"/>
          </a:ln>
        </p:spPr>
      </p:sp>
      <p:sp>
        <p:nvSpPr>
          <p:cNvPr id="3" name="Text 1"/>
          <p:cNvSpPr/>
          <p:nvPr/>
        </p:nvSpPr>
        <p:spPr>
          <a:xfrm>
            <a:off x="457200" y="73152"/>
            <a:ext cx="6400800" cy="292608"/>
          </a:xfrm>
          <a:prstGeom prst="rect">
            <a:avLst/>
          </a:prstGeom>
          <a:noFill/>
          <a:ln/>
        </p:spPr>
        <p:txBody>
          <a:bodyPr wrap="square" lIns="0" tIns="0" rIns="0" bIns="0" rtlCol="0" anchor="ctr"/>
          <a:lstStyle/>
          <a:p>
            <a:pPr indent="0" marL="0">
              <a:buNone/>
            </a:pPr>
            <a:r>
              <a:rPr lang="en-US" sz="1000" b="1" spc="300" kern="0" dirty="0">
                <a:solidFill>
                  <a:srgbClr val="14B8A6"/>
                </a:solidFill>
                <a:latin typeface="Calibri" pitchFamily="34" charset="0"/>
                <a:ea typeface="Calibri" pitchFamily="34" charset="-122"/>
                <a:cs typeface="Calibri" pitchFamily="34" charset="-120"/>
              </a:rPr>
              <a:t>BUSINESS KPI DASHBOARD</a:t>
            </a:r>
            <a:endParaRPr lang="en-US" sz="1000" dirty="0"/>
          </a:p>
        </p:txBody>
      </p:sp>
      <p:sp>
        <p:nvSpPr>
          <p:cNvPr id="4" name="Text 2"/>
          <p:cNvSpPr/>
          <p:nvPr/>
        </p:nvSpPr>
        <p:spPr>
          <a:xfrm>
            <a:off x="457200" y="347472"/>
            <a:ext cx="8229600" cy="347472"/>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Platform Performance at a Glance  ·  Apr 2024 – Apr 2025</a:t>
            </a:r>
            <a:endParaRPr lang="en-US" sz="1800" dirty="0"/>
          </a:p>
        </p:txBody>
      </p:sp>
      <p:sp>
        <p:nvSpPr>
          <p:cNvPr id="5" name="Shape 3"/>
          <p:cNvSpPr/>
          <p:nvPr/>
        </p:nvSpPr>
        <p:spPr>
          <a:xfrm>
            <a:off x="164592" y="914400"/>
            <a:ext cx="2011680" cy="1828800"/>
          </a:xfrm>
          <a:prstGeom prst="roundRect">
            <a:avLst>
              <a:gd name="adj" fmla="val 4000"/>
            </a:avLst>
          </a:prstGeom>
          <a:solidFill>
            <a:srgbClr val="EFF6FF"/>
          </a:solidFill>
          <a:ln w="12700">
            <a:solidFill>
              <a:srgbClr val="CBD5E1"/>
            </a:solidFill>
            <a:prstDash val="solid"/>
          </a:ln>
          <a:effectLst>
            <a:outerShdw sx="100000" sy="100000" kx="0" ky="0" algn="bl" rotWithShape="0" blurRad="101600" dist="25400" dir="2700000">
              <a:srgbClr val="000000">
                <a:alpha val="10000"/>
              </a:srgbClr>
            </a:outerShdw>
          </a:effectLst>
        </p:spPr>
      </p:sp>
      <p:sp>
        <p:nvSpPr>
          <p:cNvPr id="6" name="Text 4"/>
          <p:cNvSpPr/>
          <p:nvPr/>
        </p:nvSpPr>
        <p:spPr>
          <a:xfrm>
            <a:off x="256032" y="1207008"/>
            <a:ext cx="1828800" cy="658368"/>
          </a:xfrm>
          <a:prstGeom prst="rect">
            <a:avLst/>
          </a:prstGeom>
          <a:noFill/>
          <a:ln/>
        </p:spPr>
        <p:txBody>
          <a:bodyPr wrap="square" lIns="0" tIns="0" rIns="0" bIns="0" rtlCol="0" anchor="ctr"/>
          <a:lstStyle/>
          <a:p>
            <a:pPr algn="ctr" indent="0" marL="0">
              <a:buNone/>
            </a:pPr>
            <a:r>
              <a:rPr lang="en-US" sz="2800" b="1" dirty="0">
                <a:solidFill>
                  <a:srgbClr val="1B3A6B"/>
                </a:solidFill>
                <a:latin typeface="Cambria" pitchFamily="34" charset="0"/>
                <a:ea typeface="Cambria" pitchFamily="34" charset="-122"/>
                <a:cs typeface="Cambria" pitchFamily="34" charset="-120"/>
              </a:rPr>
              <a:t>30,000</a:t>
            </a:r>
            <a:endParaRPr lang="en-US" sz="2800" dirty="0"/>
          </a:p>
        </p:txBody>
      </p:sp>
      <p:sp>
        <p:nvSpPr>
          <p:cNvPr id="7" name="Text 5"/>
          <p:cNvSpPr/>
          <p:nvPr/>
        </p:nvSpPr>
        <p:spPr>
          <a:xfrm>
            <a:off x="256032" y="1874520"/>
            <a:ext cx="1828800" cy="292608"/>
          </a:xfrm>
          <a:prstGeom prst="rect">
            <a:avLst/>
          </a:prstGeom>
          <a:noFill/>
          <a:ln/>
        </p:spPr>
        <p:txBody>
          <a:bodyPr wrap="square" lIns="0" tIns="0" rIns="0" bIns="0" rtlCol="0" anchor="ctr"/>
          <a:lstStyle/>
          <a:p>
            <a:pPr algn="ctr" indent="0" marL="0">
              <a:buNone/>
            </a:pPr>
            <a:r>
              <a:rPr lang="en-US" sz="1000" b="1" dirty="0">
                <a:solidFill>
                  <a:srgbClr val="1E293B"/>
                </a:solidFill>
                <a:latin typeface="Calibri" pitchFamily="34" charset="0"/>
                <a:ea typeface="Calibri" pitchFamily="34" charset="-122"/>
                <a:cs typeface="Calibri" pitchFamily="34" charset="-120"/>
              </a:rPr>
              <a:t>Total Bookings</a:t>
            </a:r>
            <a:endParaRPr lang="en-US" sz="1000" dirty="0"/>
          </a:p>
        </p:txBody>
      </p:sp>
      <p:sp>
        <p:nvSpPr>
          <p:cNvPr id="8" name="Text 6"/>
          <p:cNvSpPr/>
          <p:nvPr/>
        </p:nvSpPr>
        <p:spPr>
          <a:xfrm>
            <a:off x="256032" y="2176272"/>
            <a:ext cx="1828800" cy="320040"/>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13-month period</a:t>
            </a:r>
            <a:endParaRPr lang="en-US" sz="850" dirty="0"/>
          </a:p>
        </p:txBody>
      </p:sp>
      <p:sp>
        <p:nvSpPr>
          <p:cNvPr id="9" name="Shape 7"/>
          <p:cNvSpPr/>
          <p:nvPr/>
        </p:nvSpPr>
        <p:spPr>
          <a:xfrm>
            <a:off x="2395728" y="914400"/>
            <a:ext cx="2011680" cy="1828800"/>
          </a:xfrm>
          <a:prstGeom prst="roundRect">
            <a:avLst>
              <a:gd name="adj" fmla="val 4000"/>
            </a:avLst>
          </a:prstGeom>
          <a:solidFill>
            <a:srgbClr val="F0FDF4"/>
          </a:solidFill>
          <a:ln w="12700">
            <a:solidFill>
              <a:srgbClr val="CBD5E1"/>
            </a:solidFill>
            <a:prstDash val="solid"/>
          </a:ln>
          <a:effectLst>
            <a:outerShdw sx="100000" sy="100000" kx="0" ky="0" algn="bl" rotWithShape="0" blurRad="101600" dist="25400" dir="2700000">
              <a:srgbClr val="000000">
                <a:alpha val="10000"/>
              </a:srgbClr>
            </a:outerShdw>
          </a:effectLst>
        </p:spPr>
      </p:sp>
      <p:sp>
        <p:nvSpPr>
          <p:cNvPr id="10" name="Text 8"/>
          <p:cNvSpPr/>
          <p:nvPr/>
        </p:nvSpPr>
        <p:spPr>
          <a:xfrm>
            <a:off x="2487168" y="1207008"/>
            <a:ext cx="1828800" cy="658368"/>
          </a:xfrm>
          <a:prstGeom prst="rect">
            <a:avLst/>
          </a:prstGeom>
          <a:noFill/>
          <a:ln/>
        </p:spPr>
        <p:txBody>
          <a:bodyPr wrap="square" lIns="0" tIns="0" rIns="0" bIns="0" rtlCol="0" anchor="ctr"/>
          <a:lstStyle/>
          <a:p>
            <a:pPr algn="ctr" indent="0" marL="0">
              <a:buNone/>
            </a:pPr>
            <a:r>
              <a:rPr lang="en-US" sz="2800" b="1" dirty="0">
                <a:solidFill>
                  <a:srgbClr val="0D9488"/>
                </a:solidFill>
                <a:latin typeface="Cambria" pitchFamily="34" charset="0"/>
                <a:ea typeface="Cambria" pitchFamily="34" charset="-122"/>
                <a:cs typeface="Cambria" pitchFamily="34" charset="-120"/>
              </a:rPr>
              <a:t>72.2%</a:t>
            </a:r>
            <a:endParaRPr lang="en-US" sz="2800" dirty="0"/>
          </a:p>
        </p:txBody>
      </p:sp>
      <p:sp>
        <p:nvSpPr>
          <p:cNvPr id="11" name="Text 9"/>
          <p:cNvSpPr/>
          <p:nvPr/>
        </p:nvSpPr>
        <p:spPr>
          <a:xfrm>
            <a:off x="2487168" y="1874520"/>
            <a:ext cx="1828800" cy="292608"/>
          </a:xfrm>
          <a:prstGeom prst="rect">
            <a:avLst/>
          </a:prstGeom>
          <a:noFill/>
          <a:ln/>
        </p:spPr>
        <p:txBody>
          <a:bodyPr wrap="square" lIns="0" tIns="0" rIns="0" bIns="0" rtlCol="0" anchor="ctr"/>
          <a:lstStyle/>
          <a:p>
            <a:pPr algn="ctr" indent="0" marL="0">
              <a:buNone/>
            </a:pPr>
            <a:r>
              <a:rPr lang="en-US" sz="1000" b="1" dirty="0">
                <a:solidFill>
                  <a:srgbClr val="1E293B"/>
                </a:solidFill>
                <a:latin typeface="Calibri" pitchFamily="34" charset="0"/>
                <a:ea typeface="Calibri" pitchFamily="34" charset="-122"/>
                <a:cs typeface="Calibri" pitchFamily="34" charset="-120"/>
              </a:rPr>
              <a:t>Confirmation Rate</a:t>
            </a:r>
            <a:endParaRPr lang="en-US" sz="1000" dirty="0"/>
          </a:p>
        </p:txBody>
      </p:sp>
      <p:sp>
        <p:nvSpPr>
          <p:cNvPr id="12" name="Text 10"/>
          <p:cNvSpPr/>
          <p:nvPr/>
        </p:nvSpPr>
        <p:spPr>
          <a:xfrm>
            <a:off x="2487168" y="2176272"/>
            <a:ext cx="1828800" cy="320040"/>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Target: &gt;80%</a:t>
            </a:r>
            <a:endParaRPr lang="en-US" sz="850" dirty="0"/>
          </a:p>
        </p:txBody>
      </p:sp>
      <p:sp>
        <p:nvSpPr>
          <p:cNvPr id="13" name="Shape 11"/>
          <p:cNvSpPr/>
          <p:nvPr/>
        </p:nvSpPr>
        <p:spPr>
          <a:xfrm>
            <a:off x="4626864" y="914400"/>
            <a:ext cx="2011680" cy="1828800"/>
          </a:xfrm>
          <a:prstGeom prst="roundRect">
            <a:avLst>
              <a:gd name="adj" fmla="val 4000"/>
            </a:avLst>
          </a:prstGeom>
          <a:solidFill>
            <a:srgbClr val="FEF2F2"/>
          </a:solidFill>
          <a:ln w="12700">
            <a:solidFill>
              <a:srgbClr val="CBD5E1"/>
            </a:solidFill>
            <a:prstDash val="solid"/>
          </a:ln>
          <a:effectLst>
            <a:outerShdw sx="100000" sy="100000" kx="0" ky="0" algn="bl" rotWithShape="0" blurRad="101600" dist="25400" dir="2700000">
              <a:srgbClr val="000000">
                <a:alpha val="10000"/>
              </a:srgbClr>
            </a:outerShdw>
          </a:effectLst>
        </p:spPr>
      </p:sp>
      <p:sp>
        <p:nvSpPr>
          <p:cNvPr id="14" name="Text 12"/>
          <p:cNvSpPr/>
          <p:nvPr/>
        </p:nvSpPr>
        <p:spPr>
          <a:xfrm>
            <a:off x="4718304" y="1207008"/>
            <a:ext cx="1828800" cy="658368"/>
          </a:xfrm>
          <a:prstGeom prst="rect">
            <a:avLst/>
          </a:prstGeom>
          <a:noFill/>
          <a:ln/>
        </p:spPr>
        <p:txBody>
          <a:bodyPr wrap="square" lIns="0" tIns="0" rIns="0" bIns="0" rtlCol="0" anchor="ctr"/>
          <a:lstStyle/>
          <a:p>
            <a:pPr algn="ctr" indent="0" marL="0">
              <a:buNone/>
            </a:pPr>
            <a:r>
              <a:rPr lang="en-US" sz="2800" b="1" dirty="0">
                <a:solidFill>
                  <a:srgbClr val="C73E1D"/>
                </a:solidFill>
                <a:latin typeface="Cambria" pitchFamily="34" charset="0"/>
                <a:ea typeface="Cambria" pitchFamily="34" charset="-122"/>
                <a:cs typeface="Cambria" pitchFamily="34" charset="-120"/>
              </a:rPr>
              <a:t>20.2%</a:t>
            </a:r>
            <a:endParaRPr lang="en-US" sz="2800" dirty="0"/>
          </a:p>
        </p:txBody>
      </p:sp>
      <p:sp>
        <p:nvSpPr>
          <p:cNvPr id="15" name="Text 13"/>
          <p:cNvSpPr/>
          <p:nvPr/>
        </p:nvSpPr>
        <p:spPr>
          <a:xfrm>
            <a:off x="4718304" y="1874520"/>
            <a:ext cx="1828800" cy="292608"/>
          </a:xfrm>
          <a:prstGeom prst="rect">
            <a:avLst/>
          </a:prstGeom>
          <a:noFill/>
          <a:ln/>
        </p:spPr>
        <p:txBody>
          <a:bodyPr wrap="square" lIns="0" tIns="0" rIns="0" bIns="0" rtlCol="0" anchor="ctr"/>
          <a:lstStyle/>
          <a:p>
            <a:pPr algn="ctr" indent="0" marL="0">
              <a:buNone/>
            </a:pPr>
            <a:r>
              <a:rPr lang="en-US" sz="1000" b="1" dirty="0">
                <a:solidFill>
                  <a:srgbClr val="1E293B"/>
                </a:solidFill>
                <a:latin typeface="Calibri" pitchFamily="34" charset="0"/>
                <a:ea typeface="Calibri" pitchFamily="34" charset="-122"/>
                <a:cs typeface="Calibri" pitchFamily="34" charset="-120"/>
              </a:rPr>
              <a:t>Cancellation Rate</a:t>
            </a:r>
            <a:endParaRPr lang="en-US" sz="1000" dirty="0"/>
          </a:p>
        </p:txBody>
      </p:sp>
      <p:sp>
        <p:nvSpPr>
          <p:cNvPr id="16" name="Text 14"/>
          <p:cNvSpPr/>
          <p:nvPr/>
        </p:nvSpPr>
        <p:spPr>
          <a:xfrm>
            <a:off x="4718304" y="2176272"/>
            <a:ext cx="1828800" cy="320040"/>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Industry avg: &lt;12%  ⚠</a:t>
            </a:r>
            <a:endParaRPr lang="en-US" sz="850" dirty="0"/>
          </a:p>
        </p:txBody>
      </p:sp>
      <p:sp>
        <p:nvSpPr>
          <p:cNvPr id="17" name="Shape 15"/>
          <p:cNvSpPr/>
          <p:nvPr/>
        </p:nvSpPr>
        <p:spPr>
          <a:xfrm>
            <a:off x="6858000" y="914400"/>
            <a:ext cx="2011680" cy="1828800"/>
          </a:xfrm>
          <a:prstGeom prst="roundRect">
            <a:avLst>
              <a:gd name="adj" fmla="val 4000"/>
            </a:avLst>
          </a:prstGeom>
          <a:solidFill>
            <a:srgbClr val="FFFBEB"/>
          </a:solidFill>
          <a:ln w="12700">
            <a:solidFill>
              <a:srgbClr val="CBD5E1"/>
            </a:solidFill>
            <a:prstDash val="solid"/>
          </a:ln>
          <a:effectLst>
            <a:outerShdw sx="100000" sy="100000" kx="0" ky="0" algn="bl" rotWithShape="0" blurRad="101600" dist="25400" dir="2700000">
              <a:srgbClr val="000000">
                <a:alpha val="10000"/>
              </a:srgbClr>
            </a:outerShdw>
          </a:effectLst>
        </p:spPr>
      </p:sp>
      <p:sp>
        <p:nvSpPr>
          <p:cNvPr id="18" name="Text 16"/>
          <p:cNvSpPr/>
          <p:nvPr/>
        </p:nvSpPr>
        <p:spPr>
          <a:xfrm>
            <a:off x="6949440" y="1207008"/>
            <a:ext cx="1828800" cy="658368"/>
          </a:xfrm>
          <a:prstGeom prst="rect">
            <a:avLst/>
          </a:prstGeom>
          <a:noFill/>
          <a:ln/>
        </p:spPr>
        <p:txBody>
          <a:bodyPr wrap="square" lIns="0" tIns="0" rIns="0" bIns="0" rtlCol="0" anchor="ctr"/>
          <a:lstStyle/>
          <a:p>
            <a:pPr algn="ctr" indent="0" marL="0">
              <a:buNone/>
            </a:pPr>
            <a:r>
              <a:rPr lang="en-US" sz="2800" b="1" dirty="0">
                <a:solidFill>
                  <a:srgbClr val="F18F01"/>
                </a:solidFill>
                <a:latin typeface="Cambria" pitchFamily="34" charset="0"/>
                <a:ea typeface="Cambria" pitchFamily="34" charset="-122"/>
                <a:cs typeface="Cambria" pitchFamily="34" charset="-120"/>
              </a:rPr>
              <a:t>7.5%</a:t>
            </a:r>
            <a:endParaRPr lang="en-US" sz="2800" dirty="0"/>
          </a:p>
        </p:txBody>
      </p:sp>
      <p:sp>
        <p:nvSpPr>
          <p:cNvPr id="19" name="Text 17"/>
          <p:cNvSpPr/>
          <p:nvPr/>
        </p:nvSpPr>
        <p:spPr>
          <a:xfrm>
            <a:off x="6949440" y="1874520"/>
            <a:ext cx="1828800" cy="292608"/>
          </a:xfrm>
          <a:prstGeom prst="rect">
            <a:avLst/>
          </a:prstGeom>
          <a:noFill/>
          <a:ln/>
        </p:spPr>
        <p:txBody>
          <a:bodyPr wrap="square" lIns="0" tIns="0" rIns="0" bIns="0" rtlCol="0" anchor="ctr"/>
          <a:lstStyle/>
          <a:p>
            <a:pPr algn="ctr" indent="0" marL="0">
              <a:buNone/>
            </a:pPr>
            <a:r>
              <a:rPr lang="en-US" sz="1000" b="1" dirty="0">
                <a:solidFill>
                  <a:srgbClr val="1E293B"/>
                </a:solidFill>
                <a:latin typeface="Calibri" pitchFamily="34" charset="0"/>
                <a:ea typeface="Calibri" pitchFamily="34" charset="-122"/>
                <a:cs typeface="Calibri" pitchFamily="34" charset="-120"/>
              </a:rPr>
              <a:t>Failure Rate</a:t>
            </a:r>
            <a:endParaRPr lang="en-US" sz="1000" dirty="0"/>
          </a:p>
        </p:txBody>
      </p:sp>
      <p:sp>
        <p:nvSpPr>
          <p:cNvPr id="20" name="Text 18"/>
          <p:cNvSpPr/>
          <p:nvPr/>
        </p:nvSpPr>
        <p:spPr>
          <a:xfrm>
            <a:off x="6949440" y="2176272"/>
            <a:ext cx="1828800" cy="320040"/>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2,258 lost bookings</a:t>
            </a:r>
            <a:endParaRPr lang="en-US" sz="850" dirty="0"/>
          </a:p>
        </p:txBody>
      </p:sp>
      <p:sp>
        <p:nvSpPr>
          <p:cNvPr id="21" name="Shape 19"/>
          <p:cNvSpPr/>
          <p:nvPr/>
        </p:nvSpPr>
        <p:spPr>
          <a:xfrm>
            <a:off x="164592" y="2926080"/>
            <a:ext cx="2011680" cy="1828800"/>
          </a:xfrm>
          <a:prstGeom prst="roundRect">
            <a:avLst>
              <a:gd name="adj" fmla="val 4000"/>
            </a:avLst>
          </a:prstGeom>
          <a:solidFill>
            <a:srgbClr val="EFF6FF"/>
          </a:solidFill>
          <a:ln w="12700">
            <a:solidFill>
              <a:srgbClr val="CBD5E1"/>
            </a:solidFill>
            <a:prstDash val="solid"/>
          </a:ln>
          <a:effectLst>
            <a:outerShdw sx="100000" sy="100000" kx="0" ky="0" algn="bl" rotWithShape="0" blurRad="101600" dist="25400" dir="2700000">
              <a:srgbClr val="000000">
                <a:alpha val="10000"/>
              </a:srgbClr>
            </a:outerShdw>
          </a:effectLst>
        </p:spPr>
      </p:sp>
      <p:sp>
        <p:nvSpPr>
          <p:cNvPr id="22" name="Text 20"/>
          <p:cNvSpPr/>
          <p:nvPr/>
        </p:nvSpPr>
        <p:spPr>
          <a:xfrm>
            <a:off x="256032" y="3218688"/>
            <a:ext cx="1828800" cy="658368"/>
          </a:xfrm>
          <a:prstGeom prst="rect">
            <a:avLst/>
          </a:prstGeom>
          <a:noFill/>
          <a:ln/>
        </p:spPr>
        <p:txBody>
          <a:bodyPr wrap="square" lIns="0" tIns="0" rIns="0" bIns="0" rtlCol="0" anchor="ctr"/>
          <a:lstStyle/>
          <a:p>
            <a:pPr algn="ctr" indent="0" marL="0">
              <a:buNone/>
            </a:pPr>
            <a:r>
              <a:rPr lang="en-US" sz="2800" b="1" dirty="0">
                <a:solidFill>
                  <a:srgbClr val="1B3A6B"/>
                </a:solidFill>
                <a:latin typeface="Cambria" pitchFamily="34" charset="0"/>
                <a:ea typeface="Cambria" pitchFamily="34" charset="-122"/>
                <a:cs typeface="Cambria" pitchFamily="34" charset="-120"/>
              </a:rPr>
              <a:t>₹24,834</a:t>
            </a:r>
            <a:endParaRPr lang="en-US" sz="2800" dirty="0"/>
          </a:p>
        </p:txBody>
      </p:sp>
      <p:sp>
        <p:nvSpPr>
          <p:cNvPr id="23" name="Text 21"/>
          <p:cNvSpPr/>
          <p:nvPr/>
        </p:nvSpPr>
        <p:spPr>
          <a:xfrm>
            <a:off x="256032" y="3886200"/>
            <a:ext cx="1828800" cy="292608"/>
          </a:xfrm>
          <a:prstGeom prst="rect">
            <a:avLst/>
          </a:prstGeom>
          <a:noFill/>
          <a:ln/>
        </p:spPr>
        <p:txBody>
          <a:bodyPr wrap="square" lIns="0" tIns="0" rIns="0" bIns="0" rtlCol="0" anchor="ctr"/>
          <a:lstStyle/>
          <a:p>
            <a:pPr algn="ctr" indent="0" marL="0">
              <a:buNone/>
            </a:pPr>
            <a:r>
              <a:rPr lang="en-US" sz="1000" b="1" dirty="0">
                <a:solidFill>
                  <a:srgbClr val="1E293B"/>
                </a:solidFill>
                <a:latin typeface="Calibri" pitchFamily="34" charset="0"/>
                <a:ea typeface="Calibri" pitchFamily="34" charset="-122"/>
                <a:cs typeface="Calibri" pitchFamily="34" charset="-120"/>
              </a:rPr>
              <a:t>Avg Booking Value</a:t>
            </a:r>
            <a:endParaRPr lang="en-US" sz="1000" dirty="0"/>
          </a:p>
        </p:txBody>
      </p:sp>
      <p:sp>
        <p:nvSpPr>
          <p:cNvPr id="24" name="Text 22"/>
          <p:cNvSpPr/>
          <p:nvPr/>
        </p:nvSpPr>
        <p:spPr>
          <a:xfrm>
            <a:off x="256032" y="4187952"/>
            <a:ext cx="1828800" cy="320040"/>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Mid-market positioning</a:t>
            </a:r>
            <a:endParaRPr lang="en-US" sz="850" dirty="0"/>
          </a:p>
        </p:txBody>
      </p:sp>
      <p:sp>
        <p:nvSpPr>
          <p:cNvPr id="25" name="Shape 23"/>
          <p:cNvSpPr/>
          <p:nvPr/>
        </p:nvSpPr>
        <p:spPr>
          <a:xfrm>
            <a:off x="2395728" y="2926080"/>
            <a:ext cx="2011680" cy="1828800"/>
          </a:xfrm>
          <a:prstGeom prst="roundRect">
            <a:avLst>
              <a:gd name="adj" fmla="val 4000"/>
            </a:avLst>
          </a:prstGeom>
          <a:solidFill>
            <a:srgbClr val="F0FDF4"/>
          </a:solidFill>
          <a:ln w="12700">
            <a:solidFill>
              <a:srgbClr val="CBD5E1"/>
            </a:solidFill>
            <a:prstDash val="solid"/>
          </a:ln>
          <a:effectLst>
            <a:outerShdw sx="100000" sy="100000" kx="0" ky="0" algn="bl" rotWithShape="0" blurRad="101600" dist="25400" dir="2700000">
              <a:srgbClr val="000000">
                <a:alpha val="10000"/>
              </a:srgbClr>
            </a:outerShdw>
          </a:effectLst>
        </p:spPr>
      </p:sp>
      <p:sp>
        <p:nvSpPr>
          <p:cNvPr id="26" name="Text 24"/>
          <p:cNvSpPr/>
          <p:nvPr/>
        </p:nvSpPr>
        <p:spPr>
          <a:xfrm>
            <a:off x="2487168" y="3218688"/>
            <a:ext cx="1828800" cy="658368"/>
          </a:xfrm>
          <a:prstGeom prst="rect">
            <a:avLst/>
          </a:prstGeom>
          <a:noFill/>
          <a:ln/>
        </p:spPr>
        <p:txBody>
          <a:bodyPr wrap="square" lIns="0" tIns="0" rIns="0" bIns="0" rtlCol="0" anchor="ctr"/>
          <a:lstStyle/>
          <a:p>
            <a:pPr algn="ctr" indent="0" marL="0">
              <a:buNone/>
            </a:pPr>
            <a:r>
              <a:rPr lang="en-US" sz="2800" b="1" dirty="0">
                <a:solidFill>
                  <a:srgbClr val="0D9488"/>
                </a:solidFill>
                <a:latin typeface="Cambria" pitchFamily="34" charset="0"/>
                <a:ea typeface="Cambria" pitchFamily="34" charset="-122"/>
                <a:cs typeface="Cambria" pitchFamily="34" charset="-120"/>
              </a:rPr>
              <a:t>₹6,963</a:t>
            </a:r>
            <a:endParaRPr lang="en-US" sz="2800" dirty="0"/>
          </a:p>
        </p:txBody>
      </p:sp>
      <p:sp>
        <p:nvSpPr>
          <p:cNvPr id="27" name="Text 25"/>
          <p:cNvSpPr/>
          <p:nvPr/>
        </p:nvSpPr>
        <p:spPr>
          <a:xfrm>
            <a:off x="2487168" y="3886200"/>
            <a:ext cx="1828800" cy="292608"/>
          </a:xfrm>
          <a:prstGeom prst="rect">
            <a:avLst/>
          </a:prstGeom>
          <a:noFill/>
          <a:ln/>
        </p:spPr>
        <p:txBody>
          <a:bodyPr wrap="square" lIns="0" tIns="0" rIns="0" bIns="0" rtlCol="0" anchor="ctr"/>
          <a:lstStyle/>
          <a:p>
            <a:pPr algn="ctr" indent="0" marL="0">
              <a:buNone/>
            </a:pPr>
            <a:r>
              <a:rPr lang="en-US" sz="1000" b="1" dirty="0">
                <a:solidFill>
                  <a:srgbClr val="1E293B"/>
                </a:solidFill>
                <a:latin typeface="Calibri" pitchFamily="34" charset="0"/>
                <a:ea typeface="Calibri" pitchFamily="34" charset="-122"/>
                <a:cs typeface="Calibri" pitchFamily="34" charset="-120"/>
              </a:rPr>
              <a:t>Avg Profit / Booking</a:t>
            </a:r>
            <a:endParaRPr lang="en-US" sz="1000" dirty="0"/>
          </a:p>
        </p:txBody>
      </p:sp>
      <p:sp>
        <p:nvSpPr>
          <p:cNvPr id="28" name="Text 26"/>
          <p:cNvSpPr/>
          <p:nvPr/>
        </p:nvSpPr>
        <p:spPr>
          <a:xfrm>
            <a:off x="2487168" y="4187952"/>
            <a:ext cx="1828800" cy="320040"/>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Healthy per-unit return</a:t>
            </a:r>
            <a:endParaRPr lang="en-US" sz="850" dirty="0"/>
          </a:p>
        </p:txBody>
      </p:sp>
      <p:sp>
        <p:nvSpPr>
          <p:cNvPr id="29" name="Shape 27"/>
          <p:cNvSpPr/>
          <p:nvPr/>
        </p:nvSpPr>
        <p:spPr>
          <a:xfrm>
            <a:off x="4626864" y="2926080"/>
            <a:ext cx="2011680" cy="1828800"/>
          </a:xfrm>
          <a:prstGeom prst="roundRect">
            <a:avLst>
              <a:gd name="adj" fmla="val 4000"/>
            </a:avLst>
          </a:prstGeom>
          <a:solidFill>
            <a:srgbClr val="F0FDF4"/>
          </a:solidFill>
          <a:ln w="12700">
            <a:solidFill>
              <a:srgbClr val="CBD5E1"/>
            </a:solidFill>
            <a:prstDash val="solid"/>
          </a:ln>
          <a:effectLst>
            <a:outerShdw sx="100000" sy="100000" kx="0" ky="0" algn="bl" rotWithShape="0" blurRad="101600" dist="25400" dir="2700000">
              <a:srgbClr val="000000">
                <a:alpha val="10000"/>
              </a:srgbClr>
            </a:outerShdw>
          </a:effectLst>
        </p:spPr>
      </p:sp>
      <p:sp>
        <p:nvSpPr>
          <p:cNvPr id="30" name="Text 28"/>
          <p:cNvSpPr/>
          <p:nvPr/>
        </p:nvSpPr>
        <p:spPr>
          <a:xfrm>
            <a:off x="4718304" y="3218688"/>
            <a:ext cx="1828800" cy="658368"/>
          </a:xfrm>
          <a:prstGeom prst="rect">
            <a:avLst/>
          </a:prstGeom>
          <a:noFill/>
          <a:ln/>
        </p:spPr>
        <p:txBody>
          <a:bodyPr wrap="square" lIns="0" tIns="0" rIns="0" bIns="0" rtlCol="0" anchor="ctr"/>
          <a:lstStyle/>
          <a:p>
            <a:pPr algn="ctr" indent="0" marL="0">
              <a:buNone/>
            </a:pPr>
            <a:r>
              <a:rPr lang="en-US" sz="2800" b="1" dirty="0">
                <a:solidFill>
                  <a:srgbClr val="44BBA4"/>
                </a:solidFill>
                <a:latin typeface="Cambria" pitchFamily="34" charset="0"/>
                <a:ea typeface="Cambria" pitchFamily="34" charset="-122"/>
                <a:cs typeface="Cambria" pitchFamily="34" charset="-120"/>
              </a:rPr>
              <a:t>27.7%</a:t>
            </a:r>
            <a:endParaRPr lang="en-US" sz="2800" dirty="0"/>
          </a:p>
        </p:txBody>
      </p:sp>
      <p:sp>
        <p:nvSpPr>
          <p:cNvPr id="31" name="Text 29"/>
          <p:cNvSpPr/>
          <p:nvPr/>
        </p:nvSpPr>
        <p:spPr>
          <a:xfrm>
            <a:off x="4718304" y="3886200"/>
            <a:ext cx="1828800" cy="292608"/>
          </a:xfrm>
          <a:prstGeom prst="rect">
            <a:avLst/>
          </a:prstGeom>
          <a:noFill/>
          <a:ln/>
        </p:spPr>
        <p:txBody>
          <a:bodyPr wrap="square" lIns="0" tIns="0" rIns="0" bIns="0" rtlCol="0" anchor="ctr"/>
          <a:lstStyle/>
          <a:p>
            <a:pPr algn="ctr" indent="0" marL="0">
              <a:buNone/>
            </a:pPr>
            <a:r>
              <a:rPr lang="en-US" sz="1000" b="1" dirty="0">
                <a:solidFill>
                  <a:srgbClr val="1E293B"/>
                </a:solidFill>
                <a:latin typeface="Calibri" pitchFamily="34" charset="0"/>
                <a:ea typeface="Calibri" pitchFamily="34" charset="-122"/>
                <a:cs typeface="Calibri" pitchFamily="34" charset="-120"/>
              </a:rPr>
              <a:t>Profit Margin</a:t>
            </a:r>
            <a:endParaRPr lang="en-US" sz="1000" dirty="0"/>
          </a:p>
        </p:txBody>
      </p:sp>
      <p:sp>
        <p:nvSpPr>
          <p:cNvPr id="32" name="Text 30"/>
          <p:cNvSpPr/>
          <p:nvPr/>
        </p:nvSpPr>
        <p:spPr>
          <a:xfrm>
            <a:off x="4718304" y="4187952"/>
            <a:ext cx="1828800" cy="320040"/>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Protect against discounts</a:t>
            </a:r>
            <a:endParaRPr lang="en-US" sz="850" dirty="0"/>
          </a:p>
        </p:txBody>
      </p:sp>
      <p:sp>
        <p:nvSpPr>
          <p:cNvPr id="33" name="Shape 31"/>
          <p:cNvSpPr/>
          <p:nvPr/>
        </p:nvSpPr>
        <p:spPr>
          <a:xfrm>
            <a:off x="6858000" y="2926080"/>
            <a:ext cx="2011680" cy="1828800"/>
          </a:xfrm>
          <a:prstGeom prst="roundRect">
            <a:avLst>
              <a:gd name="adj" fmla="val 4000"/>
            </a:avLst>
          </a:prstGeom>
          <a:solidFill>
            <a:srgbClr val="EFF6FF"/>
          </a:solidFill>
          <a:ln w="12700">
            <a:solidFill>
              <a:srgbClr val="CBD5E1"/>
            </a:solidFill>
            <a:prstDash val="solid"/>
          </a:ln>
          <a:effectLst>
            <a:outerShdw sx="100000" sy="100000" kx="0" ky="0" algn="bl" rotWithShape="0" blurRad="101600" dist="25400" dir="2700000">
              <a:srgbClr val="000000">
                <a:alpha val="10000"/>
              </a:srgbClr>
            </a:outerShdw>
          </a:effectLst>
        </p:spPr>
      </p:sp>
      <p:sp>
        <p:nvSpPr>
          <p:cNvPr id="34" name="Text 32"/>
          <p:cNvSpPr/>
          <p:nvPr/>
        </p:nvSpPr>
        <p:spPr>
          <a:xfrm>
            <a:off x="6949440" y="3218688"/>
            <a:ext cx="1828800" cy="658368"/>
          </a:xfrm>
          <a:prstGeom prst="rect">
            <a:avLst/>
          </a:prstGeom>
          <a:noFill/>
          <a:ln/>
        </p:spPr>
        <p:txBody>
          <a:bodyPr wrap="square" lIns="0" tIns="0" rIns="0" bIns="0" rtlCol="0" anchor="ctr"/>
          <a:lstStyle/>
          <a:p>
            <a:pPr algn="ctr" indent="0" marL="0">
              <a:buNone/>
            </a:pPr>
            <a:r>
              <a:rPr lang="en-US" sz="2800" b="1" dirty="0">
                <a:solidFill>
                  <a:srgbClr val="1B3A6B"/>
                </a:solidFill>
                <a:latin typeface="Cambria" pitchFamily="34" charset="0"/>
                <a:ea typeface="Cambria" pitchFamily="34" charset="-122"/>
                <a:cs typeface="Cambria" pitchFamily="34" charset="-120"/>
              </a:rPr>
              <a:t>30 days</a:t>
            </a:r>
            <a:endParaRPr lang="en-US" sz="2800" dirty="0"/>
          </a:p>
        </p:txBody>
      </p:sp>
      <p:sp>
        <p:nvSpPr>
          <p:cNvPr id="35" name="Text 33"/>
          <p:cNvSpPr/>
          <p:nvPr/>
        </p:nvSpPr>
        <p:spPr>
          <a:xfrm>
            <a:off x="6949440" y="3886200"/>
            <a:ext cx="1828800" cy="292608"/>
          </a:xfrm>
          <a:prstGeom prst="rect">
            <a:avLst/>
          </a:prstGeom>
          <a:noFill/>
          <a:ln/>
        </p:spPr>
        <p:txBody>
          <a:bodyPr wrap="square" lIns="0" tIns="0" rIns="0" bIns="0" rtlCol="0" anchor="ctr"/>
          <a:lstStyle/>
          <a:p>
            <a:pPr algn="ctr" indent="0" marL="0">
              <a:buNone/>
            </a:pPr>
            <a:r>
              <a:rPr lang="en-US" sz="1000" b="1" dirty="0">
                <a:solidFill>
                  <a:srgbClr val="1E293B"/>
                </a:solidFill>
                <a:latin typeface="Calibri" pitchFamily="34" charset="0"/>
                <a:ea typeface="Calibri" pitchFamily="34" charset="-122"/>
                <a:cs typeface="Calibri" pitchFamily="34" charset="-120"/>
              </a:rPr>
              <a:t>Avg Lead Time</a:t>
            </a:r>
            <a:endParaRPr lang="en-US" sz="1000" dirty="0"/>
          </a:p>
        </p:txBody>
      </p:sp>
      <p:sp>
        <p:nvSpPr>
          <p:cNvPr id="36" name="Text 34"/>
          <p:cNvSpPr/>
          <p:nvPr/>
        </p:nvSpPr>
        <p:spPr>
          <a:xfrm>
            <a:off x="6949440" y="4187952"/>
            <a:ext cx="1828800" cy="320040"/>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Leisure planning horizon</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w="12700">
            <a:solidFill>
              <a:srgbClr val="0A1628"/>
            </a:solidFill>
            <a:prstDash val="solid"/>
          </a:ln>
        </p:spPr>
      </p:sp>
      <p:sp>
        <p:nvSpPr>
          <p:cNvPr id="3" name="Text 1"/>
          <p:cNvSpPr/>
          <p:nvPr/>
        </p:nvSpPr>
        <p:spPr>
          <a:xfrm>
            <a:off x="457200" y="73152"/>
            <a:ext cx="6400800" cy="292608"/>
          </a:xfrm>
          <a:prstGeom prst="rect">
            <a:avLst/>
          </a:prstGeom>
          <a:noFill/>
          <a:ln/>
        </p:spPr>
        <p:txBody>
          <a:bodyPr wrap="square" lIns="0" tIns="0" rIns="0" bIns="0" rtlCol="0" anchor="ctr"/>
          <a:lstStyle/>
          <a:p>
            <a:pPr indent="0" marL="0">
              <a:buNone/>
            </a:pPr>
            <a:r>
              <a:rPr lang="en-US" sz="1000" b="1" spc="300" kern="0" dirty="0">
                <a:solidFill>
                  <a:srgbClr val="14B8A6"/>
                </a:solidFill>
                <a:latin typeface="Calibri" pitchFamily="34" charset="0"/>
                <a:ea typeface="Calibri" pitchFamily="34" charset="-122"/>
                <a:cs typeface="Calibri" pitchFamily="34" charset="-120"/>
              </a:rPr>
              <a:t>BOOKING PERFORMANCE OVERVIEW</a:t>
            </a:r>
            <a:endParaRPr lang="en-US" sz="1000" dirty="0"/>
          </a:p>
        </p:txBody>
      </p:sp>
      <p:sp>
        <p:nvSpPr>
          <p:cNvPr id="4" name="Text 2"/>
          <p:cNvSpPr/>
          <p:nvPr/>
        </p:nvSpPr>
        <p:spPr>
          <a:xfrm>
            <a:off x="457200" y="347472"/>
            <a:ext cx="8229600" cy="347472"/>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Volume, Revenue &amp; Confirmation Rates by Segment</a:t>
            </a:r>
            <a:endParaRPr lang="en-US" sz="1800" dirty="0"/>
          </a:p>
        </p:txBody>
      </p:sp>
      <p:graphicFrame>
        <p:nvGraphicFramePr>
          <p:cNvPr id="5" name="Chart 0" descr=""/>
          <p:cNvGraphicFramePr/>
          <p:nvPr/>
        </p:nvGraphicFramePr>
        <p:xfrm>
          <a:off x="274320" y="868680"/>
          <a:ext cx="3840480" cy="320040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297680" y="868680"/>
          <a:ext cx="4572000" cy="2011680"/>
        </p:xfrm>
        <a:graphic xmlns:a="http://schemas.openxmlformats.org/drawingml/2006/main">
          <a:graphicData uri="http://schemas.openxmlformats.org/drawingml/2006/chart">
            <c:chart xmlns:c="http://schemas.openxmlformats.org/drawingml/2006/chart" r:id="rId2"/>
          </a:graphicData>
        </a:graphic>
      </p:graphicFrame>
      <p:graphicFrame>
        <p:nvGraphicFramePr>
          <p:cNvPr id="7" name="Chart 2" descr=""/>
          <p:cNvGraphicFramePr/>
          <p:nvPr/>
        </p:nvGraphicFramePr>
        <p:xfrm>
          <a:off x="4297680" y="3017520"/>
          <a:ext cx="4572000" cy="1874520"/>
        </p:xfrm>
        <a:graphic xmlns:a="http://schemas.openxmlformats.org/drawingml/2006/main">
          <a:graphicData uri="http://schemas.openxmlformats.org/drawingml/2006/chart">
            <c:chart xmlns:c="http://schemas.openxmlformats.org/drawingml/2006/chart" r:id="rId3"/>
          </a:graphicData>
        </a:graphic>
      </p:graphicFrame>
      <p:sp>
        <p:nvSpPr>
          <p:cNvPr id="8" name="Shape 3"/>
          <p:cNvSpPr/>
          <p:nvPr/>
        </p:nvSpPr>
        <p:spPr>
          <a:xfrm>
            <a:off x="274320" y="4187952"/>
            <a:ext cx="3840480" cy="777240"/>
          </a:xfrm>
          <a:prstGeom prst="roundRect">
            <a:avLst>
              <a:gd name="adj" fmla="val 7059"/>
            </a:avLst>
          </a:prstGeom>
          <a:solidFill>
            <a:srgbClr val="FFFBEB"/>
          </a:solidFill>
          <a:ln w="12700">
            <a:solidFill>
              <a:srgbClr val="FCD34D"/>
            </a:solidFill>
            <a:prstDash val="solid"/>
          </a:ln>
        </p:spPr>
      </p:sp>
      <p:sp>
        <p:nvSpPr>
          <p:cNvPr id="9" name="Text 4"/>
          <p:cNvSpPr/>
          <p:nvPr/>
        </p:nvSpPr>
        <p:spPr>
          <a:xfrm>
            <a:off x="384048" y="4224528"/>
            <a:ext cx="3657600" cy="704088"/>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4★ properties drive 40% of all bookings and the majority of total profit. 5★ properties deliver the highest margin but account for only 15% of volume — a clear upsell gap.</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w="12700">
            <a:solidFill>
              <a:srgbClr val="0A1628"/>
            </a:solidFill>
            <a:prstDash val="solid"/>
          </a:ln>
        </p:spPr>
      </p:sp>
      <p:sp>
        <p:nvSpPr>
          <p:cNvPr id="3" name="Text 1"/>
          <p:cNvSpPr/>
          <p:nvPr/>
        </p:nvSpPr>
        <p:spPr>
          <a:xfrm>
            <a:off x="457200" y="73152"/>
            <a:ext cx="6400800" cy="292608"/>
          </a:xfrm>
          <a:prstGeom prst="rect">
            <a:avLst/>
          </a:prstGeom>
          <a:noFill/>
          <a:ln/>
        </p:spPr>
        <p:txBody>
          <a:bodyPr wrap="square" lIns="0" tIns="0" rIns="0" bIns="0" rtlCol="0" anchor="ctr"/>
          <a:lstStyle/>
          <a:p>
            <a:pPr indent="0" marL="0">
              <a:buNone/>
            </a:pPr>
            <a:r>
              <a:rPr lang="en-US" sz="1000" b="1" spc="300" kern="0" dirty="0">
                <a:solidFill>
                  <a:srgbClr val="14B8A6"/>
                </a:solidFill>
                <a:latin typeface="Calibri" pitchFamily="34" charset="0"/>
                <a:ea typeface="Calibri" pitchFamily="34" charset="-122"/>
                <a:cs typeface="Calibri" pitchFamily="34" charset="-120"/>
              </a:rPr>
              <a:t>CHANNEL PERFORMANCE ANALYSIS</a:t>
            </a:r>
            <a:endParaRPr lang="en-US" sz="1000" dirty="0"/>
          </a:p>
        </p:txBody>
      </p:sp>
      <p:sp>
        <p:nvSpPr>
          <p:cNvPr id="4" name="Text 2"/>
          <p:cNvSpPr/>
          <p:nvPr/>
        </p:nvSpPr>
        <p:spPr>
          <a:xfrm>
            <a:off x="457200" y="347472"/>
            <a:ext cx="8229600" cy="347472"/>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Where Bookings Come From — and Where We Lose Them</a:t>
            </a:r>
            <a:endParaRPr lang="en-US" sz="1800" dirty="0"/>
          </a:p>
        </p:txBody>
      </p:sp>
      <p:graphicFrame>
        <p:nvGraphicFramePr>
          <p:cNvPr id="5" name="Chart 0" descr=""/>
          <p:cNvGraphicFramePr/>
          <p:nvPr/>
        </p:nvGraphicFramePr>
        <p:xfrm>
          <a:off x="274320" y="914400"/>
          <a:ext cx="4114800" cy="219456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663440" y="914400"/>
          <a:ext cx="4114800" cy="219456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274320" y="3291840"/>
            <a:ext cx="2743200" cy="1645920"/>
          </a:xfrm>
          <a:prstGeom prst="roundRect">
            <a:avLst>
              <a:gd name="adj" fmla="val 3333"/>
            </a:avLst>
          </a:prstGeom>
          <a:solidFill>
            <a:srgbClr val="EFF6FF"/>
          </a:solidFill>
          <a:ln w="12700">
            <a:solidFill>
              <a:srgbClr val="E2E8F0"/>
            </a:solidFill>
            <a:prstDash val="solid"/>
          </a:ln>
          <a:effectLst>
            <a:outerShdw sx="100000" sy="100000" kx="0" ky="0" algn="bl" rotWithShape="0" blurRad="101600" dist="25400" dir="2700000">
              <a:srgbClr val="000000">
                <a:alpha val="10000"/>
              </a:srgbClr>
            </a:outerShdw>
          </a:effectLst>
        </p:spPr>
      </p:sp>
      <p:sp>
        <p:nvSpPr>
          <p:cNvPr id="8" name="Text 4"/>
          <p:cNvSpPr/>
          <p:nvPr/>
        </p:nvSpPr>
        <p:spPr>
          <a:xfrm>
            <a:off x="384048" y="3364992"/>
            <a:ext cx="2523744" cy="292608"/>
          </a:xfrm>
          <a:prstGeom prst="rect">
            <a:avLst/>
          </a:prstGeom>
          <a:noFill/>
          <a:ln/>
        </p:spPr>
        <p:txBody>
          <a:bodyPr wrap="square" lIns="0" tIns="0" rIns="0" bIns="0" rtlCol="0" anchor="ctr"/>
          <a:lstStyle/>
          <a:p>
            <a:pPr indent="0" marL="0">
              <a:buNone/>
            </a:pPr>
            <a:r>
              <a:rPr lang="en-US" sz="1100" b="1" dirty="0">
                <a:solidFill>
                  <a:srgbClr val="1B3A6B"/>
                </a:solidFill>
                <a:latin typeface="Calibri" pitchFamily="34" charset="0"/>
                <a:ea typeface="Calibri" pitchFamily="34" charset="-122"/>
                <a:cs typeface="Calibri" pitchFamily="34" charset="-120"/>
              </a:rPr>
              <a:t>◉  Web Channel</a:t>
            </a:r>
            <a:endParaRPr lang="en-US" sz="1100" dirty="0"/>
          </a:p>
        </p:txBody>
      </p:sp>
      <p:sp>
        <p:nvSpPr>
          <p:cNvPr id="9" name="Text 5"/>
          <p:cNvSpPr/>
          <p:nvPr/>
        </p:nvSpPr>
        <p:spPr>
          <a:xfrm>
            <a:off x="384048" y="3675888"/>
            <a:ext cx="2523744" cy="1188720"/>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50% of total bookings. Highest absolute revenue and profit. Primary growth engine. Prioritise SEO and conversion optimisation.</a:t>
            </a:r>
            <a:endParaRPr lang="en-US" sz="900" dirty="0"/>
          </a:p>
        </p:txBody>
      </p:sp>
      <p:sp>
        <p:nvSpPr>
          <p:cNvPr id="10" name="Shape 6"/>
          <p:cNvSpPr/>
          <p:nvPr/>
        </p:nvSpPr>
        <p:spPr>
          <a:xfrm>
            <a:off x="3200400" y="3291840"/>
            <a:ext cx="2743200" cy="1645920"/>
          </a:xfrm>
          <a:prstGeom prst="roundRect">
            <a:avLst>
              <a:gd name="adj" fmla="val 3333"/>
            </a:avLst>
          </a:prstGeom>
          <a:solidFill>
            <a:srgbClr val="F0FDF4"/>
          </a:solidFill>
          <a:ln w="12700">
            <a:solidFill>
              <a:srgbClr val="E2E8F0"/>
            </a:solidFill>
            <a:prstDash val="solid"/>
          </a:ln>
          <a:effectLst>
            <a:outerShdw sx="100000" sy="100000" kx="0" ky="0" algn="bl" rotWithShape="0" blurRad="101600" dist="25400" dir="2700000">
              <a:srgbClr val="000000">
                <a:alpha val="10000"/>
              </a:srgbClr>
            </a:outerShdw>
          </a:effectLst>
        </p:spPr>
      </p:sp>
      <p:sp>
        <p:nvSpPr>
          <p:cNvPr id="11" name="Text 7"/>
          <p:cNvSpPr/>
          <p:nvPr/>
        </p:nvSpPr>
        <p:spPr>
          <a:xfrm>
            <a:off x="3310128" y="3364992"/>
            <a:ext cx="2523744" cy="292608"/>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  Mobile App</a:t>
            </a:r>
            <a:endParaRPr lang="en-US" sz="1100" dirty="0"/>
          </a:p>
        </p:txBody>
      </p:sp>
      <p:sp>
        <p:nvSpPr>
          <p:cNvPr id="12" name="Text 8"/>
          <p:cNvSpPr/>
          <p:nvPr/>
        </p:nvSpPr>
        <p:spPr>
          <a:xfrm>
            <a:off x="3310128" y="3675888"/>
            <a:ext cx="2523744" cy="1188720"/>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40% of bookings with confirmation rates matching Web. Under-monetised. Push notifications and app-exclusive deals can unlock significant upside.</a:t>
            </a:r>
            <a:endParaRPr lang="en-US" sz="900" dirty="0"/>
          </a:p>
        </p:txBody>
      </p:sp>
      <p:sp>
        <p:nvSpPr>
          <p:cNvPr id="13" name="Shape 9"/>
          <p:cNvSpPr/>
          <p:nvPr/>
        </p:nvSpPr>
        <p:spPr>
          <a:xfrm>
            <a:off x="6126480" y="3291840"/>
            <a:ext cx="2743200" cy="1645920"/>
          </a:xfrm>
          <a:prstGeom prst="roundRect">
            <a:avLst>
              <a:gd name="adj" fmla="val 3333"/>
            </a:avLst>
          </a:prstGeom>
          <a:solidFill>
            <a:srgbClr val="FEF2F2"/>
          </a:solidFill>
          <a:ln w="12700">
            <a:solidFill>
              <a:srgbClr val="E2E8F0"/>
            </a:solidFill>
            <a:prstDash val="solid"/>
          </a:ln>
          <a:effectLst>
            <a:outerShdw sx="100000" sy="100000" kx="0" ky="0" algn="bl" rotWithShape="0" blurRad="101600" dist="25400" dir="2700000">
              <a:srgbClr val="000000">
                <a:alpha val="10000"/>
              </a:srgbClr>
            </a:outerShdw>
          </a:effectLst>
        </p:spPr>
      </p:sp>
      <p:sp>
        <p:nvSpPr>
          <p:cNvPr id="14" name="Text 10"/>
          <p:cNvSpPr/>
          <p:nvPr/>
        </p:nvSpPr>
        <p:spPr>
          <a:xfrm>
            <a:off x="6236208" y="3364992"/>
            <a:ext cx="2523744" cy="292608"/>
          </a:xfrm>
          <a:prstGeom prst="rect">
            <a:avLst/>
          </a:prstGeom>
          <a:noFill/>
          <a:ln/>
        </p:spPr>
        <p:txBody>
          <a:bodyPr wrap="square" lIns="0" tIns="0" rIns="0" bIns="0" rtlCol="0" anchor="ctr"/>
          <a:lstStyle/>
          <a:p>
            <a:pPr indent="0" marL="0">
              <a:buNone/>
            </a:pPr>
            <a:r>
              <a:rPr lang="en-US" sz="1100" b="1" dirty="0">
                <a:solidFill>
                  <a:srgbClr val="C73E1D"/>
                </a:solidFill>
                <a:latin typeface="Calibri" pitchFamily="34" charset="0"/>
                <a:ea typeface="Calibri" pitchFamily="34" charset="-122"/>
                <a:cs typeface="Calibri" pitchFamily="34" charset="-120"/>
              </a:rPr>
              <a:t>⚠  Travel Agents</a:t>
            </a:r>
            <a:endParaRPr lang="en-US" sz="1100" dirty="0"/>
          </a:p>
        </p:txBody>
      </p:sp>
      <p:sp>
        <p:nvSpPr>
          <p:cNvPr id="15" name="Text 11"/>
          <p:cNvSpPr/>
          <p:nvPr/>
        </p:nvSpPr>
        <p:spPr>
          <a:xfrm>
            <a:off x="6236208" y="3675888"/>
            <a:ext cx="2523744" cy="1188720"/>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Only 9.5% of volume but highest cancellation rate (24.6%). Speculative bookings with no financial risk to agents. Contractual SLAs required immediately.</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w="12700">
            <a:solidFill>
              <a:srgbClr val="0A1628"/>
            </a:solidFill>
            <a:prstDash val="solid"/>
          </a:ln>
        </p:spPr>
      </p:sp>
      <p:sp>
        <p:nvSpPr>
          <p:cNvPr id="3" name="Text 1"/>
          <p:cNvSpPr/>
          <p:nvPr/>
        </p:nvSpPr>
        <p:spPr>
          <a:xfrm>
            <a:off x="457200" y="73152"/>
            <a:ext cx="6400800" cy="292608"/>
          </a:xfrm>
          <a:prstGeom prst="rect">
            <a:avLst/>
          </a:prstGeom>
          <a:noFill/>
          <a:ln/>
        </p:spPr>
        <p:txBody>
          <a:bodyPr wrap="square" lIns="0" tIns="0" rIns="0" bIns="0" rtlCol="0" anchor="ctr"/>
          <a:lstStyle/>
          <a:p>
            <a:pPr indent="0" marL="0">
              <a:buNone/>
            </a:pPr>
            <a:r>
              <a:rPr lang="en-US" sz="1000" b="1" spc="300" kern="0" dirty="0">
                <a:solidFill>
                  <a:srgbClr val="14B8A6"/>
                </a:solidFill>
                <a:latin typeface="Calibri" pitchFamily="34" charset="0"/>
                <a:ea typeface="Calibri" pitchFamily="34" charset="-122"/>
                <a:cs typeface="Calibri" pitchFamily="34" charset="-120"/>
              </a:rPr>
              <a:t>CUSTOMER BEHAVIOUR ANALYSIS</a:t>
            </a:r>
            <a:endParaRPr lang="en-US" sz="1000" dirty="0"/>
          </a:p>
        </p:txBody>
      </p:sp>
      <p:sp>
        <p:nvSpPr>
          <p:cNvPr id="4" name="Text 2"/>
          <p:cNvSpPr/>
          <p:nvPr/>
        </p:nvSpPr>
        <p:spPr>
          <a:xfrm>
            <a:off x="457200" y="347472"/>
            <a:ext cx="8229600" cy="347472"/>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Who Buys, How They Buy, and What Drives Loyalty</a:t>
            </a:r>
            <a:endParaRPr lang="en-US" sz="1800" dirty="0"/>
          </a:p>
        </p:txBody>
      </p:sp>
      <p:graphicFrame>
        <p:nvGraphicFramePr>
          <p:cNvPr id="5" name="Chart 0" descr=""/>
          <p:cNvGraphicFramePr/>
          <p:nvPr/>
        </p:nvGraphicFramePr>
        <p:xfrm>
          <a:off x="274320" y="868680"/>
          <a:ext cx="5029200" cy="27432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577840" y="914400"/>
            <a:ext cx="3291840" cy="914400"/>
          </a:xfrm>
          <a:prstGeom prst="roundRect">
            <a:avLst>
              <a:gd name="adj" fmla="val 6000"/>
            </a:avLst>
          </a:prstGeom>
          <a:solidFill>
            <a:srgbClr val="F0FDF4"/>
          </a:solidFill>
          <a:ln w="12700">
            <a:solidFill>
              <a:srgbClr val="E2E8F0"/>
            </a:solidFill>
            <a:prstDash val="solid"/>
          </a:ln>
          <a:effectLst>
            <a:outerShdw sx="100000" sy="100000" kx="0" ky="0" algn="bl" rotWithShape="0" blurRad="101600" dist="25400" dir="2700000">
              <a:srgbClr val="000000">
                <a:alpha val="10000"/>
              </a:srgbClr>
            </a:outerShdw>
          </a:effectLst>
        </p:spPr>
      </p:sp>
      <p:sp>
        <p:nvSpPr>
          <p:cNvPr id="7" name="Text 4"/>
          <p:cNvSpPr/>
          <p:nvPr/>
        </p:nvSpPr>
        <p:spPr>
          <a:xfrm>
            <a:off x="5687568" y="969264"/>
            <a:ext cx="1097280" cy="457200"/>
          </a:xfrm>
          <a:prstGeom prst="rect">
            <a:avLst/>
          </a:prstGeom>
          <a:noFill/>
          <a:ln/>
        </p:spPr>
        <p:txBody>
          <a:bodyPr wrap="square" lIns="0" tIns="0" rIns="0" bIns="0" rtlCol="0" anchor="ctr"/>
          <a:lstStyle/>
          <a:p>
            <a:pPr indent="0" marL="0">
              <a:buNone/>
            </a:pPr>
            <a:r>
              <a:rPr lang="en-US" sz="2200" b="1" dirty="0">
                <a:solidFill>
                  <a:srgbClr val="0D9488"/>
                </a:solidFill>
                <a:latin typeface="Cambria" pitchFamily="34" charset="0"/>
                <a:ea typeface="Cambria" pitchFamily="34" charset="-122"/>
                <a:cs typeface="Cambria" pitchFamily="34" charset="-120"/>
              </a:rPr>
              <a:t>499</a:t>
            </a:r>
            <a:endParaRPr lang="en-US" sz="2200" dirty="0"/>
          </a:p>
        </p:txBody>
      </p:sp>
      <p:sp>
        <p:nvSpPr>
          <p:cNvPr id="8" name="Text 5"/>
          <p:cNvSpPr/>
          <p:nvPr/>
        </p:nvSpPr>
        <p:spPr>
          <a:xfrm>
            <a:off x="5687568" y="1389888"/>
            <a:ext cx="3072384" cy="36576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Unique customers — all are repeat bookers</a:t>
            </a:r>
            <a:endParaRPr lang="en-US" sz="900" dirty="0"/>
          </a:p>
        </p:txBody>
      </p:sp>
      <p:sp>
        <p:nvSpPr>
          <p:cNvPr id="9" name="Shape 6"/>
          <p:cNvSpPr/>
          <p:nvPr/>
        </p:nvSpPr>
        <p:spPr>
          <a:xfrm>
            <a:off x="5577840" y="1993392"/>
            <a:ext cx="3291840" cy="914400"/>
          </a:xfrm>
          <a:prstGeom prst="roundRect">
            <a:avLst>
              <a:gd name="adj" fmla="val 6000"/>
            </a:avLst>
          </a:prstGeom>
          <a:solidFill>
            <a:srgbClr val="EFF6FF"/>
          </a:solidFill>
          <a:ln w="12700">
            <a:solidFill>
              <a:srgbClr val="E2E8F0"/>
            </a:solidFill>
            <a:prstDash val="solid"/>
          </a:ln>
          <a:effectLst>
            <a:outerShdw sx="100000" sy="100000" kx="0" ky="0" algn="bl" rotWithShape="0" blurRad="101600" dist="25400" dir="2700000">
              <a:srgbClr val="000000">
                <a:alpha val="10000"/>
              </a:srgbClr>
            </a:outerShdw>
          </a:effectLst>
        </p:spPr>
      </p:sp>
      <p:sp>
        <p:nvSpPr>
          <p:cNvPr id="10" name="Text 7"/>
          <p:cNvSpPr/>
          <p:nvPr/>
        </p:nvSpPr>
        <p:spPr>
          <a:xfrm>
            <a:off x="5687568" y="2048256"/>
            <a:ext cx="1097280" cy="457200"/>
          </a:xfrm>
          <a:prstGeom prst="rect">
            <a:avLst/>
          </a:prstGeom>
          <a:noFill/>
          <a:ln/>
        </p:spPr>
        <p:txBody>
          <a:bodyPr wrap="square" lIns="0" tIns="0" rIns="0" bIns="0" rtlCol="0" anchor="ctr"/>
          <a:lstStyle/>
          <a:p>
            <a:pPr indent="0" marL="0">
              <a:buNone/>
            </a:pPr>
            <a:r>
              <a:rPr lang="en-US" sz="2200" b="1" dirty="0">
                <a:solidFill>
                  <a:srgbClr val="1B3A6B"/>
                </a:solidFill>
                <a:latin typeface="Cambria" pitchFamily="34" charset="0"/>
                <a:ea typeface="Cambria" pitchFamily="34" charset="-122"/>
                <a:cs typeface="Cambria" pitchFamily="34" charset="-120"/>
              </a:rPr>
              <a:t>60×</a:t>
            </a:r>
            <a:endParaRPr lang="en-US" sz="2200" dirty="0"/>
          </a:p>
        </p:txBody>
      </p:sp>
      <p:sp>
        <p:nvSpPr>
          <p:cNvPr id="11" name="Text 8"/>
          <p:cNvSpPr/>
          <p:nvPr/>
        </p:nvSpPr>
        <p:spPr>
          <a:xfrm>
            <a:off x="5687568" y="2468880"/>
            <a:ext cx="3072384" cy="36576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Average bookings per customer annually</a:t>
            </a:r>
            <a:endParaRPr lang="en-US" sz="900" dirty="0"/>
          </a:p>
        </p:txBody>
      </p:sp>
      <p:sp>
        <p:nvSpPr>
          <p:cNvPr id="12" name="Shape 9"/>
          <p:cNvSpPr/>
          <p:nvPr/>
        </p:nvSpPr>
        <p:spPr>
          <a:xfrm>
            <a:off x="5577840" y="3072384"/>
            <a:ext cx="3291840" cy="914400"/>
          </a:xfrm>
          <a:prstGeom prst="roundRect">
            <a:avLst>
              <a:gd name="adj" fmla="val 6000"/>
            </a:avLst>
          </a:prstGeom>
          <a:solidFill>
            <a:srgbClr val="FFFBEB"/>
          </a:solidFill>
          <a:ln w="12700">
            <a:solidFill>
              <a:srgbClr val="E2E8F0"/>
            </a:solidFill>
            <a:prstDash val="solid"/>
          </a:ln>
          <a:effectLst>
            <a:outerShdw sx="100000" sy="100000" kx="0" ky="0" algn="bl" rotWithShape="0" blurRad="101600" dist="25400" dir="2700000">
              <a:srgbClr val="000000">
                <a:alpha val="10000"/>
              </a:srgbClr>
            </a:outerShdw>
          </a:effectLst>
        </p:spPr>
      </p:sp>
      <p:sp>
        <p:nvSpPr>
          <p:cNvPr id="13" name="Text 10"/>
          <p:cNvSpPr/>
          <p:nvPr/>
        </p:nvSpPr>
        <p:spPr>
          <a:xfrm>
            <a:off x="5687568" y="3127248"/>
            <a:ext cx="1097280" cy="457200"/>
          </a:xfrm>
          <a:prstGeom prst="rect">
            <a:avLst/>
          </a:prstGeom>
          <a:noFill/>
          <a:ln/>
        </p:spPr>
        <p:txBody>
          <a:bodyPr wrap="square" lIns="0" tIns="0" rIns="0" bIns="0" rtlCol="0" anchor="ctr"/>
          <a:lstStyle/>
          <a:p>
            <a:pPr indent="0" marL="0">
              <a:buNone/>
            </a:pPr>
            <a:r>
              <a:rPr lang="en-US" sz="2200" b="1" dirty="0">
                <a:solidFill>
                  <a:srgbClr val="F18F01"/>
                </a:solidFill>
                <a:latin typeface="Cambria" pitchFamily="34" charset="0"/>
                <a:ea typeface="Cambria" pitchFamily="34" charset="-122"/>
                <a:cs typeface="Cambria" pitchFamily="34" charset="-120"/>
              </a:rPr>
              <a:t>20.6%</a:t>
            </a:r>
            <a:endParaRPr lang="en-US" sz="2200" dirty="0"/>
          </a:p>
        </p:txBody>
      </p:sp>
      <p:sp>
        <p:nvSpPr>
          <p:cNvPr id="14" name="Text 11"/>
          <p:cNvSpPr/>
          <p:nvPr/>
        </p:nvSpPr>
        <p:spPr>
          <a:xfrm>
            <a:off x="5687568" y="3547872"/>
            <a:ext cx="3072384" cy="36576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Coupon adoption — attracts price-sensitive segment</a:t>
            </a:r>
            <a:endParaRPr lang="en-US" sz="900" dirty="0"/>
          </a:p>
        </p:txBody>
      </p:sp>
      <p:sp>
        <p:nvSpPr>
          <p:cNvPr id="15" name="Shape 12"/>
          <p:cNvSpPr/>
          <p:nvPr/>
        </p:nvSpPr>
        <p:spPr>
          <a:xfrm>
            <a:off x="5577840" y="4151376"/>
            <a:ext cx="3291840" cy="914400"/>
          </a:xfrm>
          <a:prstGeom prst="roundRect">
            <a:avLst>
              <a:gd name="adj" fmla="val 6000"/>
            </a:avLst>
          </a:prstGeom>
          <a:solidFill>
            <a:srgbClr val="FEF2F2"/>
          </a:solidFill>
          <a:ln w="12700">
            <a:solidFill>
              <a:srgbClr val="E2E8F0"/>
            </a:solidFill>
            <a:prstDash val="solid"/>
          </a:ln>
          <a:effectLst>
            <a:outerShdw sx="100000" sy="100000" kx="0" ky="0" algn="bl" rotWithShape="0" blurRad="101600" dist="25400" dir="2700000">
              <a:srgbClr val="000000">
                <a:alpha val="10000"/>
              </a:srgbClr>
            </a:outerShdw>
          </a:effectLst>
        </p:spPr>
      </p:sp>
      <p:sp>
        <p:nvSpPr>
          <p:cNvPr id="16" name="Text 13"/>
          <p:cNvSpPr/>
          <p:nvPr/>
        </p:nvSpPr>
        <p:spPr>
          <a:xfrm>
            <a:off x="5687568" y="4206240"/>
            <a:ext cx="1097280" cy="457200"/>
          </a:xfrm>
          <a:prstGeom prst="rect">
            <a:avLst/>
          </a:prstGeom>
          <a:noFill/>
          <a:ln/>
        </p:spPr>
        <p:txBody>
          <a:bodyPr wrap="square" lIns="0" tIns="0" rIns="0" bIns="0" rtlCol="0" anchor="ctr"/>
          <a:lstStyle/>
          <a:p>
            <a:pPr indent="0" marL="0">
              <a:buNone/>
            </a:pPr>
            <a:r>
              <a:rPr lang="en-US" sz="2200" b="1" dirty="0">
                <a:solidFill>
                  <a:srgbClr val="C73E1D"/>
                </a:solidFill>
                <a:latin typeface="Cambria" pitchFamily="34" charset="0"/>
                <a:ea typeface="Cambria" pitchFamily="34" charset="-122"/>
                <a:cs typeface="Cambria" pitchFamily="34" charset="-120"/>
              </a:rPr>
              <a:t>VIP Tier</a:t>
            </a:r>
            <a:endParaRPr lang="en-US" sz="2200" dirty="0"/>
          </a:p>
        </p:txBody>
      </p:sp>
      <p:sp>
        <p:nvSpPr>
          <p:cNvPr id="17" name="Text 14"/>
          <p:cNvSpPr/>
          <p:nvPr/>
        </p:nvSpPr>
        <p:spPr>
          <a:xfrm>
            <a:off x="5687568" y="4626864"/>
            <a:ext cx="3072384" cy="36576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Top 20 customers drive disproportionate revenue — loyalty programme warranted</a:t>
            </a:r>
            <a:endParaRPr lang="en-US" sz="900" dirty="0"/>
          </a:p>
        </p:txBody>
      </p:sp>
      <p:sp>
        <p:nvSpPr>
          <p:cNvPr id="18" name="Shape 15"/>
          <p:cNvSpPr/>
          <p:nvPr/>
        </p:nvSpPr>
        <p:spPr>
          <a:xfrm>
            <a:off x="274320" y="3730752"/>
            <a:ext cx="8595360" cy="1234440"/>
          </a:xfrm>
          <a:prstGeom prst="roundRect">
            <a:avLst>
              <a:gd name="adj" fmla="val 4444"/>
            </a:avLst>
          </a:prstGeom>
          <a:solidFill>
            <a:srgbClr val="F0F9FF"/>
          </a:solidFill>
          <a:ln w="12700">
            <a:solidFill>
              <a:srgbClr val="BAE6FD"/>
            </a:solidFill>
            <a:prstDash val="solid"/>
          </a:ln>
        </p:spPr>
      </p:sp>
      <p:sp>
        <p:nvSpPr>
          <p:cNvPr id="19" name="Text 16"/>
          <p:cNvSpPr/>
          <p:nvPr/>
        </p:nvSpPr>
        <p:spPr>
          <a:xfrm>
            <a:off x="457200" y="3794760"/>
            <a:ext cx="3657600" cy="274320"/>
          </a:xfrm>
          <a:prstGeom prst="rect">
            <a:avLst/>
          </a:prstGeom>
          <a:noFill/>
          <a:ln/>
        </p:spPr>
        <p:txBody>
          <a:bodyPr wrap="square" lIns="0" tIns="0" rIns="0" bIns="0" rtlCol="0" anchor="ctr"/>
          <a:lstStyle/>
          <a:p>
            <a:pPr indent="0" marL="0">
              <a:buNone/>
            </a:pPr>
            <a:r>
              <a:rPr lang="en-US" sz="1000" b="1" dirty="0">
                <a:solidFill>
                  <a:srgbClr val="1B3A6B"/>
                </a:solidFill>
                <a:latin typeface="Calibri" pitchFamily="34" charset="0"/>
                <a:ea typeface="Calibri" pitchFamily="34" charset="-122"/>
                <a:cs typeface="Calibri" pitchFamily="34" charset="-120"/>
              </a:rPr>
              <a:t>◉  Strategic Implication</a:t>
            </a:r>
            <a:endParaRPr lang="en-US" sz="1000" dirty="0"/>
          </a:p>
        </p:txBody>
      </p:sp>
      <p:sp>
        <p:nvSpPr>
          <p:cNvPr id="20" name="Text 17"/>
          <p:cNvSpPr/>
          <p:nvPr/>
        </p:nvSpPr>
        <p:spPr>
          <a:xfrm>
            <a:off x="457200" y="4087368"/>
            <a:ext cx="8321040" cy="804672"/>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A 100% repeat-customer base is a platform's most valuable asset. The strategic priority is not retention — it is acquisition to grow the user base, and frequency optimisation via personalised re-engagement. Cashback outperforms coupons as a value-add: it drives higher booking values without eroding headline pricing.</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C73E1D"/>
          </a:solidFill>
          <a:ln w="12700">
            <a:solidFill>
              <a:srgbClr val="C73E1D"/>
            </a:solidFill>
            <a:prstDash val="solid"/>
          </a:ln>
        </p:spPr>
      </p:sp>
      <p:sp>
        <p:nvSpPr>
          <p:cNvPr id="3" name="Text 1"/>
          <p:cNvSpPr/>
          <p:nvPr/>
        </p:nvSpPr>
        <p:spPr>
          <a:xfrm>
            <a:off x="457200" y="73152"/>
            <a:ext cx="6400800" cy="292608"/>
          </a:xfrm>
          <a:prstGeom prst="rect">
            <a:avLst/>
          </a:prstGeom>
          <a:noFill/>
          <a:ln/>
        </p:spPr>
        <p:txBody>
          <a:bodyPr wrap="square" lIns="0" tIns="0" rIns="0" bIns="0" rtlCol="0" anchor="ctr"/>
          <a:lstStyle/>
          <a:p>
            <a:pPr indent="0" marL="0">
              <a:buNone/>
            </a:pPr>
            <a:r>
              <a:rPr lang="en-US" sz="1000" b="1" spc="300" kern="0" dirty="0">
                <a:solidFill>
                  <a:srgbClr val="FECACA"/>
                </a:solidFill>
                <a:latin typeface="Calibri" pitchFamily="34" charset="0"/>
                <a:ea typeface="Calibri" pitchFamily="34" charset="-122"/>
                <a:cs typeface="Calibri" pitchFamily="34" charset="-120"/>
              </a:rPr>
              <a:t>CANCELLATION DEEP DIVE</a:t>
            </a:r>
            <a:endParaRPr lang="en-US" sz="1000" dirty="0"/>
          </a:p>
        </p:txBody>
      </p:sp>
      <p:sp>
        <p:nvSpPr>
          <p:cNvPr id="4" name="Text 2"/>
          <p:cNvSpPr/>
          <p:nvPr/>
        </p:nvSpPr>
        <p:spPr>
          <a:xfrm>
            <a:off x="457200" y="347472"/>
            <a:ext cx="8229600" cy="347472"/>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6,058 Bookings Lost  ·  ₹56M Revenue at Risk  ·  Root Cause Identified</a:t>
            </a:r>
            <a:endParaRPr lang="en-US" sz="1800" dirty="0"/>
          </a:p>
        </p:txBody>
      </p:sp>
      <p:graphicFrame>
        <p:nvGraphicFramePr>
          <p:cNvPr id="5" name="Chart 0" descr=""/>
          <p:cNvGraphicFramePr/>
          <p:nvPr/>
        </p:nvGraphicFramePr>
        <p:xfrm>
          <a:off x="274320" y="914400"/>
          <a:ext cx="5029200" cy="256032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5394960" y="914400"/>
          <a:ext cx="3474720" cy="256032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274320" y="3675888"/>
            <a:ext cx="2743200" cy="1298448"/>
          </a:xfrm>
          <a:prstGeom prst="roundRect">
            <a:avLst>
              <a:gd name="adj" fmla="val 4225"/>
            </a:avLst>
          </a:prstGeom>
          <a:solidFill>
            <a:srgbClr val="FFFFFF"/>
          </a:solidFill>
          <a:ln w="12700">
            <a:solidFill>
              <a:srgbClr val="E2E8F0"/>
            </a:solidFill>
            <a:prstDash val="solid"/>
          </a:ln>
          <a:effectLst>
            <a:outerShdw sx="100000" sy="100000" kx="0" ky="0" algn="bl" rotWithShape="0" blurRad="101600" dist="25400" dir="2700000">
              <a:srgbClr val="000000">
                <a:alpha val="10000"/>
              </a:srgbClr>
            </a:outerShdw>
          </a:effectLst>
        </p:spPr>
      </p:sp>
      <p:sp>
        <p:nvSpPr>
          <p:cNvPr id="8" name="Shape 4"/>
          <p:cNvSpPr/>
          <p:nvPr/>
        </p:nvSpPr>
        <p:spPr>
          <a:xfrm>
            <a:off x="384048" y="3749040"/>
            <a:ext cx="292608" cy="292608"/>
          </a:xfrm>
          <a:prstGeom prst="ellipse">
            <a:avLst/>
          </a:prstGeom>
          <a:solidFill>
            <a:srgbClr val="C73E1D"/>
          </a:solidFill>
          <a:ln w="12700">
            <a:solidFill>
              <a:srgbClr val="C73E1D"/>
            </a:solidFill>
            <a:prstDash val="solid"/>
          </a:ln>
        </p:spPr>
      </p:sp>
      <p:sp>
        <p:nvSpPr>
          <p:cNvPr id="9" name="Text 5"/>
          <p:cNvSpPr/>
          <p:nvPr/>
        </p:nvSpPr>
        <p:spPr>
          <a:xfrm>
            <a:off x="384048" y="37490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6"/>
          <p:cNvSpPr/>
          <p:nvPr/>
        </p:nvSpPr>
        <p:spPr>
          <a:xfrm>
            <a:off x="749808" y="3749040"/>
            <a:ext cx="2176272" cy="292608"/>
          </a:xfrm>
          <a:prstGeom prst="rect">
            <a:avLst/>
          </a:prstGeom>
          <a:noFill/>
          <a:ln/>
        </p:spPr>
        <p:txBody>
          <a:bodyPr wrap="square" lIns="0" tIns="0" rIns="0" bIns="0" rtlCol="0" anchor="ctr"/>
          <a:lstStyle/>
          <a:p>
            <a:pPr indent="0" marL="0">
              <a:buNone/>
            </a:pPr>
            <a:r>
              <a:rPr lang="en-US" sz="1050" b="1" dirty="0">
                <a:solidFill>
                  <a:srgbClr val="1E293B"/>
                </a:solidFill>
                <a:latin typeface="Calibri" pitchFamily="34" charset="0"/>
                <a:ea typeface="Calibri" pitchFamily="34" charset="-122"/>
                <a:cs typeface="Calibri" pitchFamily="34" charset="-120"/>
              </a:rPr>
              <a:t>Non-Refundable Pricing</a:t>
            </a:r>
            <a:endParaRPr lang="en-US" sz="1050" dirty="0"/>
          </a:p>
        </p:txBody>
      </p:sp>
      <p:sp>
        <p:nvSpPr>
          <p:cNvPr id="11" name="Text 7"/>
          <p:cNvSpPr/>
          <p:nvPr/>
        </p:nvSpPr>
        <p:spPr>
          <a:xfrm>
            <a:off x="384048" y="4069080"/>
            <a:ext cx="2523744" cy="841248"/>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Offer 5–12% discount for non-refundable bookings. Target: lead time &gt;30 days. Reduces speculative bookings without killing demand.</a:t>
            </a:r>
            <a:endParaRPr lang="en-US" sz="900" dirty="0"/>
          </a:p>
        </p:txBody>
      </p:sp>
      <p:sp>
        <p:nvSpPr>
          <p:cNvPr id="12" name="Shape 8"/>
          <p:cNvSpPr/>
          <p:nvPr/>
        </p:nvSpPr>
        <p:spPr>
          <a:xfrm>
            <a:off x="3200400" y="3675888"/>
            <a:ext cx="2743200" cy="1298448"/>
          </a:xfrm>
          <a:prstGeom prst="roundRect">
            <a:avLst>
              <a:gd name="adj" fmla="val 4225"/>
            </a:avLst>
          </a:prstGeom>
          <a:solidFill>
            <a:srgbClr val="FFFFFF"/>
          </a:solidFill>
          <a:ln w="12700">
            <a:solidFill>
              <a:srgbClr val="E2E8F0"/>
            </a:solidFill>
            <a:prstDash val="solid"/>
          </a:ln>
          <a:effectLst>
            <a:outerShdw sx="100000" sy="100000" kx="0" ky="0" algn="bl" rotWithShape="0" blurRad="101600" dist="25400" dir="2700000">
              <a:srgbClr val="000000">
                <a:alpha val="10000"/>
              </a:srgbClr>
            </a:outerShdw>
          </a:effectLst>
        </p:spPr>
      </p:sp>
      <p:sp>
        <p:nvSpPr>
          <p:cNvPr id="13" name="Shape 9"/>
          <p:cNvSpPr/>
          <p:nvPr/>
        </p:nvSpPr>
        <p:spPr>
          <a:xfrm>
            <a:off x="3310128" y="3749040"/>
            <a:ext cx="292608" cy="292608"/>
          </a:xfrm>
          <a:prstGeom prst="ellipse">
            <a:avLst/>
          </a:prstGeom>
          <a:solidFill>
            <a:srgbClr val="F18F01"/>
          </a:solidFill>
          <a:ln w="12700">
            <a:solidFill>
              <a:srgbClr val="F18F01"/>
            </a:solidFill>
            <a:prstDash val="solid"/>
          </a:ln>
        </p:spPr>
      </p:sp>
      <p:sp>
        <p:nvSpPr>
          <p:cNvPr id="14" name="Text 10"/>
          <p:cNvSpPr/>
          <p:nvPr/>
        </p:nvSpPr>
        <p:spPr>
          <a:xfrm>
            <a:off x="3310128" y="37490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1"/>
          <p:cNvSpPr/>
          <p:nvPr/>
        </p:nvSpPr>
        <p:spPr>
          <a:xfrm>
            <a:off x="3675888" y="3749040"/>
            <a:ext cx="2176272" cy="292608"/>
          </a:xfrm>
          <a:prstGeom prst="rect">
            <a:avLst/>
          </a:prstGeom>
          <a:noFill/>
          <a:ln/>
        </p:spPr>
        <p:txBody>
          <a:bodyPr wrap="square" lIns="0" tIns="0" rIns="0" bIns="0" rtlCol="0" anchor="ctr"/>
          <a:lstStyle/>
          <a:p>
            <a:pPr indent="0" marL="0">
              <a:buNone/>
            </a:pPr>
            <a:r>
              <a:rPr lang="en-US" sz="1050" b="1" dirty="0">
                <a:solidFill>
                  <a:srgbClr val="1E293B"/>
                </a:solidFill>
                <a:latin typeface="Calibri" pitchFamily="34" charset="0"/>
                <a:ea typeface="Calibri" pitchFamily="34" charset="-122"/>
                <a:cs typeface="Calibri" pitchFamily="34" charset="-120"/>
              </a:rPr>
              <a:t>Agent SLAs &amp; Penalties</a:t>
            </a:r>
            <a:endParaRPr lang="en-US" sz="1050" dirty="0"/>
          </a:p>
        </p:txBody>
      </p:sp>
      <p:sp>
        <p:nvSpPr>
          <p:cNvPr id="16" name="Text 12"/>
          <p:cNvSpPr/>
          <p:nvPr/>
        </p:nvSpPr>
        <p:spPr>
          <a:xfrm>
            <a:off x="3310128" y="4069080"/>
            <a:ext cx="2523744" cy="841248"/>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Penalise agents with &gt;15% cancel rate: reduce commission or require deposit. Contractual guardrails on Travel Agent channel.</a:t>
            </a:r>
            <a:endParaRPr lang="en-US" sz="900" dirty="0"/>
          </a:p>
        </p:txBody>
      </p:sp>
      <p:sp>
        <p:nvSpPr>
          <p:cNvPr id="17" name="Shape 13"/>
          <p:cNvSpPr/>
          <p:nvPr/>
        </p:nvSpPr>
        <p:spPr>
          <a:xfrm>
            <a:off x="6126480" y="3675888"/>
            <a:ext cx="2743200" cy="1298448"/>
          </a:xfrm>
          <a:prstGeom prst="roundRect">
            <a:avLst>
              <a:gd name="adj" fmla="val 4225"/>
            </a:avLst>
          </a:prstGeom>
          <a:solidFill>
            <a:srgbClr val="FFFFFF"/>
          </a:solidFill>
          <a:ln w="12700">
            <a:solidFill>
              <a:srgbClr val="E2E8F0"/>
            </a:solidFill>
            <a:prstDash val="solid"/>
          </a:ln>
          <a:effectLst>
            <a:outerShdw sx="100000" sy="100000" kx="0" ky="0" algn="bl" rotWithShape="0" blurRad="101600" dist="25400" dir="2700000">
              <a:srgbClr val="000000">
                <a:alpha val="10000"/>
              </a:srgbClr>
            </a:outerShdw>
          </a:effectLst>
        </p:spPr>
      </p:sp>
      <p:sp>
        <p:nvSpPr>
          <p:cNvPr id="18" name="Shape 14"/>
          <p:cNvSpPr/>
          <p:nvPr/>
        </p:nvSpPr>
        <p:spPr>
          <a:xfrm>
            <a:off x="6236208" y="3749040"/>
            <a:ext cx="292608" cy="292608"/>
          </a:xfrm>
          <a:prstGeom prst="ellipse">
            <a:avLst/>
          </a:prstGeom>
          <a:solidFill>
            <a:srgbClr val="0D9488"/>
          </a:solidFill>
          <a:ln w="12700">
            <a:solidFill>
              <a:srgbClr val="0D9488"/>
            </a:solidFill>
            <a:prstDash val="solid"/>
          </a:ln>
        </p:spPr>
      </p:sp>
      <p:sp>
        <p:nvSpPr>
          <p:cNvPr id="19" name="Text 15"/>
          <p:cNvSpPr/>
          <p:nvPr/>
        </p:nvSpPr>
        <p:spPr>
          <a:xfrm>
            <a:off x="6236208" y="37490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6"/>
          <p:cNvSpPr/>
          <p:nvPr/>
        </p:nvSpPr>
        <p:spPr>
          <a:xfrm>
            <a:off x="6601968" y="3749040"/>
            <a:ext cx="2176272" cy="292608"/>
          </a:xfrm>
          <a:prstGeom prst="rect">
            <a:avLst/>
          </a:prstGeom>
          <a:noFill/>
          <a:ln/>
        </p:spPr>
        <p:txBody>
          <a:bodyPr wrap="square" lIns="0" tIns="0" rIns="0" bIns="0" rtlCol="0" anchor="ctr"/>
          <a:lstStyle/>
          <a:p>
            <a:pPr indent="0" marL="0">
              <a:buNone/>
            </a:pPr>
            <a:r>
              <a:rPr lang="en-US" sz="1050" b="1" dirty="0">
                <a:solidFill>
                  <a:srgbClr val="1E293B"/>
                </a:solidFill>
                <a:latin typeface="Calibri" pitchFamily="34" charset="0"/>
                <a:ea typeface="Calibri" pitchFamily="34" charset="-122"/>
                <a:cs typeface="Calibri" pitchFamily="34" charset="-120"/>
              </a:rPr>
              <a:t>Smart Reminders</a:t>
            </a:r>
            <a:endParaRPr lang="en-US" sz="1050" dirty="0"/>
          </a:p>
        </p:txBody>
      </p:sp>
      <p:sp>
        <p:nvSpPr>
          <p:cNvPr id="21" name="Text 17"/>
          <p:cNvSpPr/>
          <p:nvPr/>
        </p:nvSpPr>
        <p:spPr>
          <a:xfrm>
            <a:off x="6236208" y="4069080"/>
            <a:ext cx="2523744" cy="841248"/>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Send check-in countdown notifications at T-30 and T-7 days. Personalised "your trip is coming up" nudges reduce last-minute cancellations.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w="12700">
            <a:solidFill>
              <a:srgbClr val="0A1628"/>
            </a:solidFill>
            <a:prstDash val="solid"/>
          </a:ln>
        </p:spPr>
      </p:sp>
      <p:sp>
        <p:nvSpPr>
          <p:cNvPr id="3" name="Text 1"/>
          <p:cNvSpPr/>
          <p:nvPr/>
        </p:nvSpPr>
        <p:spPr>
          <a:xfrm>
            <a:off x="457200" y="73152"/>
            <a:ext cx="6400800" cy="292608"/>
          </a:xfrm>
          <a:prstGeom prst="rect">
            <a:avLst/>
          </a:prstGeom>
          <a:noFill/>
          <a:ln/>
        </p:spPr>
        <p:txBody>
          <a:bodyPr wrap="square" lIns="0" tIns="0" rIns="0" bIns="0" rtlCol="0" anchor="ctr"/>
          <a:lstStyle/>
          <a:p>
            <a:pPr indent="0" marL="0">
              <a:buNone/>
            </a:pPr>
            <a:r>
              <a:rPr lang="en-US" sz="1000" b="1" spc="300" kern="0" dirty="0">
                <a:solidFill>
                  <a:srgbClr val="14B8A6"/>
                </a:solidFill>
                <a:latin typeface="Calibri" pitchFamily="34" charset="0"/>
                <a:ea typeface="Calibri" pitchFamily="34" charset="-122"/>
                <a:cs typeface="Calibri" pitchFamily="34" charset="-120"/>
              </a:rPr>
              <a:t>PROFITABILITY ANALYSIS</a:t>
            </a:r>
            <a:endParaRPr lang="en-US" sz="1000" dirty="0"/>
          </a:p>
        </p:txBody>
      </p:sp>
      <p:sp>
        <p:nvSpPr>
          <p:cNvPr id="4" name="Text 2"/>
          <p:cNvSpPr/>
          <p:nvPr/>
        </p:nvSpPr>
        <p:spPr>
          <a:xfrm>
            <a:off x="457200" y="347472"/>
            <a:ext cx="8229600" cy="347472"/>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Where the Margin Lives — and Where We Are Leaving Money Behind</a:t>
            </a:r>
            <a:endParaRPr lang="en-US" sz="1800" dirty="0"/>
          </a:p>
        </p:txBody>
      </p:sp>
      <p:graphicFrame>
        <p:nvGraphicFramePr>
          <p:cNvPr id="5" name="Chart 0" descr=""/>
          <p:cNvGraphicFramePr/>
          <p:nvPr/>
        </p:nvGraphicFramePr>
        <p:xfrm>
          <a:off x="274320" y="914400"/>
          <a:ext cx="4114800" cy="256032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754880" y="914400"/>
          <a:ext cx="4114800" cy="256032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274320" y="3675888"/>
            <a:ext cx="2743200" cy="1298448"/>
          </a:xfrm>
          <a:prstGeom prst="roundRect">
            <a:avLst>
              <a:gd name="adj" fmla="val 4225"/>
            </a:avLst>
          </a:prstGeom>
          <a:solidFill>
            <a:srgbClr val="F0FDF4"/>
          </a:solidFill>
          <a:ln w="12700">
            <a:solidFill>
              <a:srgbClr val="E2E8F0"/>
            </a:solidFill>
            <a:prstDash val="solid"/>
          </a:ln>
          <a:effectLst>
            <a:outerShdw sx="100000" sy="100000" kx="0" ky="0" algn="bl" rotWithShape="0" blurRad="101600" dist="25400" dir="2700000">
              <a:srgbClr val="000000">
                <a:alpha val="10000"/>
              </a:srgbClr>
            </a:outerShdw>
          </a:effectLst>
        </p:spPr>
      </p:sp>
      <p:sp>
        <p:nvSpPr>
          <p:cNvPr id="8" name="Text 4"/>
          <p:cNvSpPr/>
          <p:nvPr/>
        </p:nvSpPr>
        <p:spPr>
          <a:xfrm>
            <a:off x="384048" y="3749040"/>
            <a:ext cx="2523744" cy="292608"/>
          </a:xfrm>
          <a:prstGeom prst="rect">
            <a:avLst/>
          </a:prstGeom>
          <a:noFill/>
          <a:ln/>
        </p:spPr>
        <p:txBody>
          <a:bodyPr wrap="square" lIns="0" tIns="0" rIns="0" bIns="0" rtlCol="0" anchor="ctr"/>
          <a:lstStyle/>
          <a:p>
            <a:pPr indent="0" marL="0">
              <a:buNone/>
            </a:pPr>
            <a:r>
              <a:rPr lang="en-US" sz="1050" b="1" dirty="0">
                <a:solidFill>
                  <a:srgbClr val="0D9488"/>
                </a:solidFill>
                <a:latin typeface="Calibri" pitchFamily="34" charset="0"/>
                <a:ea typeface="Calibri" pitchFamily="34" charset="-122"/>
                <a:cs typeface="Calibri" pitchFamily="34" charset="-120"/>
              </a:rPr>
              <a:t>◉  5★ Underutilised</a:t>
            </a:r>
            <a:endParaRPr lang="en-US" sz="1050" dirty="0"/>
          </a:p>
        </p:txBody>
      </p:sp>
      <p:sp>
        <p:nvSpPr>
          <p:cNvPr id="9" name="Text 5"/>
          <p:cNvSpPr/>
          <p:nvPr/>
        </p:nvSpPr>
        <p:spPr>
          <a:xfrm>
            <a:off x="384048" y="4069080"/>
            <a:ext cx="2523744" cy="841248"/>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5-star properties deliver ₹9,200 avg profit vs ₹5,800 for 3-star — yet only 15% of bookings are 5-star. Targeted campaigns can shift this mix.</a:t>
            </a:r>
            <a:endParaRPr lang="en-US" sz="900" dirty="0"/>
          </a:p>
        </p:txBody>
      </p:sp>
      <p:sp>
        <p:nvSpPr>
          <p:cNvPr id="10" name="Shape 6"/>
          <p:cNvSpPr/>
          <p:nvPr/>
        </p:nvSpPr>
        <p:spPr>
          <a:xfrm>
            <a:off x="3200400" y="3675888"/>
            <a:ext cx="2743200" cy="1298448"/>
          </a:xfrm>
          <a:prstGeom prst="roundRect">
            <a:avLst>
              <a:gd name="adj" fmla="val 4225"/>
            </a:avLst>
          </a:prstGeom>
          <a:solidFill>
            <a:srgbClr val="EFF6FF"/>
          </a:solidFill>
          <a:ln w="12700">
            <a:solidFill>
              <a:srgbClr val="E2E8F0"/>
            </a:solidFill>
            <a:prstDash val="solid"/>
          </a:ln>
          <a:effectLst>
            <a:outerShdw sx="100000" sy="100000" kx="0" ky="0" algn="bl" rotWithShape="0" blurRad="101600" dist="25400" dir="2700000">
              <a:srgbClr val="000000">
                <a:alpha val="10000"/>
              </a:srgbClr>
            </a:outerShdw>
          </a:effectLst>
        </p:spPr>
      </p:sp>
      <p:sp>
        <p:nvSpPr>
          <p:cNvPr id="11" name="Text 7"/>
          <p:cNvSpPr/>
          <p:nvPr/>
        </p:nvSpPr>
        <p:spPr>
          <a:xfrm>
            <a:off x="3310128" y="3749040"/>
            <a:ext cx="2523744" cy="292608"/>
          </a:xfrm>
          <a:prstGeom prst="rect">
            <a:avLst/>
          </a:prstGeom>
          <a:noFill/>
          <a:ln/>
        </p:spPr>
        <p:txBody>
          <a:bodyPr wrap="square" lIns="0" tIns="0" rIns="0" bIns="0" rtlCol="0" anchor="ctr"/>
          <a:lstStyle/>
          <a:p>
            <a:pPr indent="0" marL="0">
              <a:buNone/>
            </a:pPr>
            <a:r>
              <a:rPr lang="en-US" sz="1050" b="1" dirty="0">
                <a:solidFill>
                  <a:srgbClr val="1B3A6B"/>
                </a:solidFill>
                <a:latin typeface="Calibri" pitchFamily="34" charset="0"/>
                <a:ea typeface="Calibri" pitchFamily="34" charset="-122"/>
                <a:cs typeface="Calibri" pitchFamily="34" charset="-120"/>
              </a:rPr>
              <a:t>▲  Suite Upsell Gap</a:t>
            </a:r>
            <a:endParaRPr lang="en-US" sz="1050" dirty="0"/>
          </a:p>
        </p:txBody>
      </p:sp>
      <p:sp>
        <p:nvSpPr>
          <p:cNvPr id="12" name="Text 8"/>
          <p:cNvSpPr/>
          <p:nvPr/>
        </p:nvSpPr>
        <p:spPr>
          <a:xfrm>
            <a:off x="3310128" y="4069080"/>
            <a:ext cx="2523744" cy="841248"/>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Suites yield ₹9,800 avg profit but represent only 10% of bookings. A post-confirmation upgrade prompt at ₹500–800 increment is the easiest margin lever.</a:t>
            </a:r>
            <a:endParaRPr lang="en-US" sz="900" dirty="0"/>
          </a:p>
        </p:txBody>
      </p:sp>
      <p:sp>
        <p:nvSpPr>
          <p:cNvPr id="13" name="Shape 9"/>
          <p:cNvSpPr/>
          <p:nvPr/>
        </p:nvSpPr>
        <p:spPr>
          <a:xfrm>
            <a:off x="6126480" y="3675888"/>
            <a:ext cx="2743200" cy="1298448"/>
          </a:xfrm>
          <a:prstGeom prst="roundRect">
            <a:avLst>
              <a:gd name="adj" fmla="val 4225"/>
            </a:avLst>
          </a:prstGeom>
          <a:solidFill>
            <a:srgbClr val="FFFBEB"/>
          </a:solidFill>
          <a:ln w="12700">
            <a:solidFill>
              <a:srgbClr val="E2E8F0"/>
            </a:solidFill>
            <a:prstDash val="solid"/>
          </a:ln>
          <a:effectLst>
            <a:outerShdw sx="100000" sy="100000" kx="0" ky="0" algn="bl" rotWithShape="0" blurRad="101600" dist="25400" dir="2700000">
              <a:srgbClr val="000000">
                <a:alpha val="10000"/>
              </a:srgbClr>
            </a:outerShdw>
          </a:effectLst>
        </p:spPr>
      </p:sp>
      <p:sp>
        <p:nvSpPr>
          <p:cNvPr id="14" name="Text 10"/>
          <p:cNvSpPr/>
          <p:nvPr/>
        </p:nvSpPr>
        <p:spPr>
          <a:xfrm>
            <a:off x="6236208" y="3749040"/>
            <a:ext cx="2523744" cy="292608"/>
          </a:xfrm>
          <a:prstGeom prst="rect">
            <a:avLst/>
          </a:prstGeom>
          <a:noFill/>
          <a:ln/>
        </p:spPr>
        <p:txBody>
          <a:bodyPr wrap="square" lIns="0" tIns="0" rIns="0" bIns="0" rtlCol="0" anchor="ctr"/>
          <a:lstStyle/>
          <a:p>
            <a:pPr indent="0" marL="0">
              <a:buNone/>
            </a:pPr>
            <a:r>
              <a:rPr lang="en-US" sz="1050" b="1" dirty="0">
                <a:solidFill>
                  <a:srgbClr val="F18F01"/>
                </a:solidFill>
                <a:latin typeface="Calibri" pitchFamily="34" charset="0"/>
                <a:ea typeface="Calibri" pitchFamily="34" charset="-122"/>
                <a:cs typeface="Calibri" pitchFamily="34" charset="-120"/>
              </a:rPr>
              <a:t>⚑  Protect the Margin</a:t>
            </a:r>
            <a:endParaRPr lang="en-US" sz="1050" dirty="0"/>
          </a:p>
        </p:txBody>
      </p:sp>
      <p:sp>
        <p:nvSpPr>
          <p:cNvPr id="15" name="Text 11"/>
          <p:cNvSpPr/>
          <p:nvPr/>
        </p:nvSpPr>
        <p:spPr>
          <a:xfrm>
            <a:off x="6236208" y="4069080"/>
            <a:ext cx="2523744" cy="841248"/>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Overall 27.7% margin is healthy. Coupon discount erosion is the primary risk. Shift promotions to cashback and loyalty points — they maintain margin while driving spend.</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w="12700">
            <a:solidFill>
              <a:srgbClr val="0A1628"/>
            </a:solidFill>
            <a:prstDash val="solid"/>
          </a:ln>
        </p:spPr>
      </p:sp>
      <p:sp>
        <p:nvSpPr>
          <p:cNvPr id="3" name="Text 1"/>
          <p:cNvSpPr/>
          <p:nvPr/>
        </p:nvSpPr>
        <p:spPr>
          <a:xfrm>
            <a:off x="457200" y="73152"/>
            <a:ext cx="6400800" cy="292608"/>
          </a:xfrm>
          <a:prstGeom prst="rect">
            <a:avLst/>
          </a:prstGeom>
          <a:noFill/>
          <a:ln/>
        </p:spPr>
        <p:txBody>
          <a:bodyPr wrap="square" lIns="0" tIns="0" rIns="0" bIns="0" rtlCol="0" anchor="ctr"/>
          <a:lstStyle/>
          <a:p>
            <a:pPr indent="0" marL="0">
              <a:buNone/>
            </a:pPr>
            <a:r>
              <a:rPr lang="en-US" sz="1000" b="1" spc="300" kern="0" dirty="0">
                <a:solidFill>
                  <a:srgbClr val="14B8A6"/>
                </a:solidFill>
                <a:latin typeface="Calibri" pitchFamily="34" charset="0"/>
                <a:ea typeface="Calibri" pitchFamily="34" charset="-122"/>
                <a:cs typeface="Calibri" pitchFamily="34" charset="-120"/>
              </a:rPr>
              <a:t>SEASONALITY ANALYSIS</a:t>
            </a:r>
            <a:endParaRPr lang="en-US" sz="1000" dirty="0"/>
          </a:p>
        </p:txBody>
      </p:sp>
      <p:sp>
        <p:nvSpPr>
          <p:cNvPr id="4" name="Text 2"/>
          <p:cNvSpPr/>
          <p:nvPr/>
        </p:nvSpPr>
        <p:spPr>
          <a:xfrm>
            <a:off x="457200" y="347472"/>
            <a:ext cx="8229600" cy="347472"/>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Monthly Booking &amp; Revenue Trends  ·  Apr 2024 – Apr 2025</a:t>
            </a:r>
            <a:endParaRPr lang="en-US" sz="1800" dirty="0"/>
          </a:p>
        </p:txBody>
      </p:sp>
      <p:graphicFrame>
        <p:nvGraphicFramePr>
          <p:cNvPr id="5" name="Chart 0" descr=""/>
          <p:cNvGraphicFramePr/>
          <p:nvPr/>
        </p:nvGraphicFramePr>
        <p:xfrm>
          <a:off x="274320" y="914400"/>
          <a:ext cx="8595360" cy="21945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274320" y="3246120"/>
            <a:ext cx="2743200" cy="1719072"/>
          </a:xfrm>
          <a:prstGeom prst="roundRect">
            <a:avLst>
              <a:gd name="adj" fmla="val 3191"/>
            </a:avLst>
          </a:prstGeom>
          <a:solidFill>
            <a:srgbClr val="F0FDF4"/>
          </a:solidFill>
          <a:ln w="12700">
            <a:solidFill>
              <a:srgbClr val="E2E8F0"/>
            </a:solidFill>
            <a:prstDash val="solid"/>
          </a:ln>
          <a:effectLst>
            <a:outerShdw sx="100000" sy="100000" kx="0" ky="0" algn="bl" rotWithShape="0" blurRad="101600" dist="25400" dir="2700000">
              <a:srgbClr val="000000">
                <a:alpha val="10000"/>
              </a:srgbClr>
            </a:outerShdw>
          </a:effectLst>
        </p:spPr>
      </p:sp>
      <p:sp>
        <p:nvSpPr>
          <p:cNvPr id="7" name="Text 4"/>
          <p:cNvSpPr/>
          <p:nvPr/>
        </p:nvSpPr>
        <p:spPr>
          <a:xfrm>
            <a:off x="384048" y="3319272"/>
            <a:ext cx="2523744" cy="292608"/>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Stable Platform</a:t>
            </a:r>
            <a:endParaRPr lang="en-US" sz="1100" dirty="0"/>
          </a:p>
        </p:txBody>
      </p:sp>
      <p:sp>
        <p:nvSpPr>
          <p:cNvPr id="8" name="Text 5"/>
          <p:cNvSpPr/>
          <p:nvPr/>
        </p:nvSpPr>
        <p:spPr>
          <a:xfrm>
            <a:off x="384048" y="3630168"/>
            <a:ext cx="2523744" cy="1261872"/>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No extreme seasonality spikes — bookings hover between 2,060 and 2,480 per month. Platform demand is consistent and predictable.</a:t>
            </a:r>
            <a:endParaRPr lang="en-US" sz="950" dirty="0"/>
          </a:p>
        </p:txBody>
      </p:sp>
      <p:sp>
        <p:nvSpPr>
          <p:cNvPr id="9" name="Shape 6"/>
          <p:cNvSpPr/>
          <p:nvPr/>
        </p:nvSpPr>
        <p:spPr>
          <a:xfrm>
            <a:off x="3200400" y="3246120"/>
            <a:ext cx="2743200" cy="1719072"/>
          </a:xfrm>
          <a:prstGeom prst="roundRect">
            <a:avLst>
              <a:gd name="adj" fmla="val 3191"/>
            </a:avLst>
          </a:prstGeom>
          <a:solidFill>
            <a:srgbClr val="EFF6FF"/>
          </a:solidFill>
          <a:ln w="12700">
            <a:solidFill>
              <a:srgbClr val="E2E8F0"/>
            </a:solidFill>
            <a:prstDash val="solid"/>
          </a:ln>
          <a:effectLst>
            <a:outerShdw sx="100000" sy="100000" kx="0" ky="0" algn="bl" rotWithShape="0" blurRad="101600" dist="25400" dir="2700000">
              <a:srgbClr val="000000">
                <a:alpha val="10000"/>
              </a:srgbClr>
            </a:outerShdw>
          </a:effectLst>
        </p:spPr>
      </p:sp>
      <p:sp>
        <p:nvSpPr>
          <p:cNvPr id="10" name="Text 7"/>
          <p:cNvSpPr/>
          <p:nvPr/>
        </p:nvSpPr>
        <p:spPr>
          <a:xfrm>
            <a:off x="3310128" y="3319272"/>
            <a:ext cx="2523744" cy="292608"/>
          </a:xfrm>
          <a:prstGeom prst="rect">
            <a:avLst/>
          </a:prstGeom>
          <a:noFill/>
          <a:ln/>
        </p:spPr>
        <p:txBody>
          <a:bodyPr wrap="square" lIns="0" tIns="0" rIns="0" bIns="0" rtlCol="0" anchor="ctr"/>
          <a:lstStyle/>
          <a:p>
            <a:pPr indent="0" marL="0">
              <a:buNone/>
            </a:pPr>
            <a:r>
              <a:rPr lang="en-US" sz="1100" b="1" dirty="0">
                <a:solidFill>
                  <a:srgbClr val="1B3A6B"/>
                </a:solidFill>
                <a:latin typeface="Calibri" pitchFamily="34" charset="0"/>
                <a:ea typeface="Calibri" pitchFamily="34" charset="-122"/>
                <a:cs typeface="Calibri" pitchFamily="34" charset="-120"/>
              </a:rPr>
              <a:t>Summer Peak</a:t>
            </a:r>
            <a:endParaRPr lang="en-US" sz="1100" dirty="0"/>
          </a:p>
        </p:txBody>
      </p:sp>
      <p:sp>
        <p:nvSpPr>
          <p:cNvPr id="11" name="Text 8"/>
          <p:cNvSpPr/>
          <p:nvPr/>
        </p:nvSpPr>
        <p:spPr>
          <a:xfrm>
            <a:off x="3310128" y="3630168"/>
            <a:ext cx="2523744" cy="1261872"/>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July–August sees the highest volume (~2,400+). This is the strategic window for premium upsells and non-refundable rate pushes.</a:t>
            </a:r>
            <a:endParaRPr lang="en-US" sz="950" dirty="0"/>
          </a:p>
        </p:txBody>
      </p:sp>
      <p:sp>
        <p:nvSpPr>
          <p:cNvPr id="12" name="Shape 9"/>
          <p:cNvSpPr/>
          <p:nvPr/>
        </p:nvSpPr>
        <p:spPr>
          <a:xfrm>
            <a:off x="6126480" y="3246120"/>
            <a:ext cx="2743200" cy="1719072"/>
          </a:xfrm>
          <a:prstGeom prst="roundRect">
            <a:avLst>
              <a:gd name="adj" fmla="val 3191"/>
            </a:avLst>
          </a:prstGeom>
          <a:solidFill>
            <a:srgbClr val="FFFBEB"/>
          </a:solidFill>
          <a:ln w="12700">
            <a:solidFill>
              <a:srgbClr val="E2E8F0"/>
            </a:solidFill>
            <a:prstDash val="solid"/>
          </a:ln>
          <a:effectLst>
            <a:outerShdw sx="100000" sy="100000" kx="0" ky="0" algn="bl" rotWithShape="0" blurRad="101600" dist="25400" dir="2700000">
              <a:srgbClr val="000000">
                <a:alpha val="10000"/>
              </a:srgbClr>
            </a:outerShdw>
          </a:effectLst>
        </p:spPr>
      </p:sp>
      <p:sp>
        <p:nvSpPr>
          <p:cNvPr id="13" name="Text 10"/>
          <p:cNvSpPr/>
          <p:nvPr/>
        </p:nvSpPr>
        <p:spPr>
          <a:xfrm>
            <a:off x="6236208" y="3319272"/>
            <a:ext cx="2523744" cy="292608"/>
          </a:xfrm>
          <a:prstGeom prst="rect">
            <a:avLst/>
          </a:prstGeom>
          <a:noFill/>
          <a:ln/>
        </p:spPr>
        <p:txBody>
          <a:bodyPr wrap="square" lIns="0" tIns="0" rIns="0" bIns="0" rtlCol="0" anchor="ctr"/>
          <a:lstStyle/>
          <a:p>
            <a:pPr indent="0" marL="0">
              <a:buNone/>
            </a:pPr>
            <a:r>
              <a:rPr lang="en-US" sz="1100" b="1" dirty="0">
                <a:solidFill>
                  <a:srgbClr val="F18F01"/>
                </a:solidFill>
                <a:latin typeface="Calibri" pitchFamily="34" charset="0"/>
                <a:ea typeface="Calibri" pitchFamily="34" charset="-122"/>
                <a:cs typeface="Calibri" pitchFamily="34" charset="-120"/>
              </a:rPr>
              <a:t>Q1 Softness</a:t>
            </a:r>
            <a:endParaRPr lang="en-US" sz="1100" dirty="0"/>
          </a:p>
        </p:txBody>
      </p:sp>
      <p:sp>
        <p:nvSpPr>
          <p:cNvPr id="14" name="Text 11"/>
          <p:cNvSpPr/>
          <p:nvPr/>
        </p:nvSpPr>
        <p:spPr>
          <a:xfrm>
            <a:off x="6236208" y="3630168"/>
            <a:ext cx="2523744" cy="1261872"/>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Feb–Mar shows the softest demand. This is the optimal window to run acquisition campaigns and fill inventory with incentivised offers.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w="12700">
            <a:solidFill>
              <a:srgbClr val="0A1628"/>
            </a:solidFill>
            <a:prstDash val="solid"/>
          </a:ln>
        </p:spPr>
      </p:sp>
      <p:sp>
        <p:nvSpPr>
          <p:cNvPr id="3" name="Text 1"/>
          <p:cNvSpPr/>
          <p:nvPr/>
        </p:nvSpPr>
        <p:spPr>
          <a:xfrm>
            <a:off x="457200" y="73152"/>
            <a:ext cx="6400800" cy="292608"/>
          </a:xfrm>
          <a:prstGeom prst="rect">
            <a:avLst/>
          </a:prstGeom>
          <a:noFill/>
          <a:ln/>
        </p:spPr>
        <p:txBody>
          <a:bodyPr wrap="square" lIns="0" tIns="0" rIns="0" bIns="0" rtlCol="0" anchor="ctr"/>
          <a:lstStyle/>
          <a:p>
            <a:pPr indent="0" marL="0">
              <a:buNone/>
            </a:pPr>
            <a:r>
              <a:rPr lang="en-US" sz="1000" b="1" spc="300" kern="0" dirty="0">
                <a:solidFill>
                  <a:srgbClr val="14B8A6"/>
                </a:solidFill>
                <a:latin typeface="Calibri" pitchFamily="34" charset="0"/>
                <a:ea typeface="Calibri" pitchFamily="34" charset="-122"/>
                <a:cs typeface="Calibri" pitchFamily="34" charset="-120"/>
              </a:rPr>
              <a:t>ROOT CAUSE ANALYSIS</a:t>
            </a:r>
            <a:endParaRPr lang="en-US" sz="1000" dirty="0"/>
          </a:p>
        </p:txBody>
      </p:sp>
      <p:sp>
        <p:nvSpPr>
          <p:cNvPr id="4" name="Text 2"/>
          <p:cNvSpPr/>
          <p:nvPr/>
        </p:nvSpPr>
        <p:spPr>
          <a:xfrm>
            <a:off x="457200" y="347472"/>
            <a:ext cx="8229600" cy="347472"/>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Issue Tree — Why Are We Underperforming?</a:t>
            </a:r>
            <a:endParaRPr lang="en-US" sz="1800" dirty="0"/>
          </a:p>
        </p:txBody>
      </p:sp>
      <p:sp>
        <p:nvSpPr>
          <p:cNvPr id="5" name="Shape 3"/>
          <p:cNvSpPr/>
          <p:nvPr/>
        </p:nvSpPr>
        <p:spPr>
          <a:xfrm>
            <a:off x="2926080" y="960120"/>
            <a:ext cx="3291840" cy="658368"/>
          </a:xfrm>
          <a:prstGeom prst="roundRect">
            <a:avLst>
              <a:gd name="adj" fmla="val 8333"/>
            </a:avLst>
          </a:prstGeom>
          <a:solidFill>
            <a:srgbClr val="0A1628"/>
          </a:solidFill>
          <a:ln w="12700">
            <a:solidFill>
              <a:srgbClr val="0A1628"/>
            </a:solidFill>
            <a:prstDash val="solid"/>
          </a:ln>
        </p:spPr>
      </p:sp>
      <p:sp>
        <p:nvSpPr>
          <p:cNvPr id="6" name="Text 4"/>
          <p:cNvSpPr/>
          <p:nvPr/>
        </p:nvSpPr>
        <p:spPr>
          <a:xfrm>
            <a:off x="2926080" y="960120"/>
            <a:ext cx="3291840" cy="658368"/>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Revenue Leakage &amp; Margin Dilution</a:t>
            </a:r>
            <a:endParaRPr lang="en-US" sz="1100" dirty="0"/>
          </a:p>
        </p:txBody>
      </p:sp>
      <p:sp>
        <p:nvSpPr>
          <p:cNvPr id="7" name="Shape 5"/>
          <p:cNvSpPr/>
          <p:nvPr/>
        </p:nvSpPr>
        <p:spPr>
          <a:xfrm>
            <a:off x="137160" y="1828800"/>
            <a:ext cx="1645920" cy="3154680"/>
          </a:xfrm>
          <a:prstGeom prst="roundRect">
            <a:avLst>
              <a:gd name="adj" fmla="val 3333"/>
            </a:avLst>
          </a:prstGeom>
          <a:solidFill>
            <a:srgbClr val="EFF6FF"/>
          </a:solidFill>
          <a:ln w="12700">
            <a:solidFill>
              <a:srgbClr val="E2E8F0"/>
            </a:solidFill>
            <a:prstDash val="solid"/>
          </a:ln>
          <a:effectLst>
            <a:outerShdw sx="100000" sy="100000" kx="0" ky="0" algn="bl" rotWithShape="0" blurRad="101600" dist="25400" dir="2700000">
              <a:srgbClr val="000000">
                <a:alpha val="10000"/>
              </a:srgbClr>
            </a:outerShdw>
          </a:effectLst>
        </p:spPr>
      </p:sp>
      <p:sp>
        <p:nvSpPr>
          <p:cNvPr id="8" name="Text 6"/>
          <p:cNvSpPr/>
          <p:nvPr/>
        </p:nvSpPr>
        <p:spPr>
          <a:xfrm>
            <a:off x="228600" y="1920240"/>
            <a:ext cx="1463040" cy="347472"/>
          </a:xfrm>
          <a:prstGeom prst="rect">
            <a:avLst/>
          </a:prstGeom>
          <a:noFill/>
          <a:ln/>
        </p:spPr>
        <p:txBody>
          <a:bodyPr wrap="square" lIns="0" tIns="0" rIns="0" bIns="0" rtlCol="0" anchor="ctr"/>
          <a:lstStyle/>
          <a:p>
            <a:pPr indent="0" marL="0">
              <a:buNone/>
            </a:pPr>
            <a:r>
              <a:rPr lang="en-US" sz="950" b="1" dirty="0">
                <a:solidFill>
                  <a:srgbClr val="1B3A6B"/>
                </a:solidFill>
                <a:latin typeface="Calibri" pitchFamily="34" charset="0"/>
                <a:ea typeface="Calibri" pitchFamily="34" charset="-122"/>
                <a:cs typeface="Calibri" pitchFamily="34" charset="-120"/>
              </a:rPr>
              <a:t>Customer Behaviour</a:t>
            </a:r>
            <a:endParaRPr lang="en-US" sz="950" dirty="0"/>
          </a:p>
        </p:txBody>
      </p:sp>
      <p:sp>
        <p:nvSpPr>
          <p:cNvPr id="9" name="Text 7"/>
          <p:cNvSpPr/>
          <p:nvPr/>
        </p:nvSpPr>
        <p:spPr>
          <a:xfrm>
            <a:off x="228600" y="2304288"/>
            <a:ext cx="1463040" cy="2606040"/>
          </a:xfrm>
          <a:prstGeom prst="rect">
            <a:avLst/>
          </a:prstGeom>
          <a:noFill/>
          <a:ln/>
        </p:spPr>
        <p:txBody>
          <a:bodyPr wrap="square" lIns="0" tIns="0" rIns="0" bIns="0" rtlCol="0" anchor="t"/>
          <a:lstStyle/>
          <a:p>
            <a:pPr marL="342900" indent="-342900">
              <a:buSzPct val="100000"/>
              <a:buChar char="•"/>
            </a:pPr>
            <a:r>
              <a:rPr lang="en-US" sz="850" dirty="0">
                <a:solidFill>
                  <a:srgbClr val="1E293B"/>
                </a:solidFill>
                <a:latin typeface="Calibri" pitchFamily="34" charset="0"/>
                <a:ea typeface="Calibri" pitchFamily="34" charset="-122"/>
                <a:cs typeface="Calibri" pitchFamily="34" charset="-120"/>
              </a:rPr>
              <a:t>Long lead-time bookings cancel at 25%+</a:t>
            </a:r>
            <a:endParaRPr lang="en-US" sz="850" dirty="0"/>
          </a:p>
          <a:p>
            <a:pPr marL="342900" indent="-342900">
              <a:buSzPct val="100000"/>
              <a:buChar char="•"/>
            </a:pPr>
            <a:r>
              <a:rPr lang="en-US" sz="850" dirty="0">
                <a:solidFill>
                  <a:srgbClr val="1E293B"/>
                </a:solidFill>
                <a:latin typeface="Calibri" pitchFamily="34" charset="0"/>
                <a:ea typeface="Calibri" pitchFamily="34" charset="-122"/>
                <a:cs typeface="Calibri" pitchFamily="34" charset="-120"/>
              </a:rPr>
              <a:t>Price-sensitive coupon users reduce per-booking margin</a:t>
            </a:r>
            <a:endParaRPr lang="en-US" sz="850" dirty="0"/>
          </a:p>
          <a:p>
            <a:pPr marL="342900" indent="-342900">
              <a:buSzPct val="100000"/>
              <a:buChar char="•"/>
            </a:pPr>
            <a:r>
              <a:rPr lang="en-US" sz="850" dirty="0">
                <a:solidFill>
                  <a:srgbClr val="1E293B"/>
                </a:solidFill>
                <a:latin typeface="Calibri" pitchFamily="34" charset="0"/>
                <a:ea typeface="Calibri" pitchFamily="34" charset="-122"/>
                <a:cs typeface="Calibri" pitchFamily="34" charset="-120"/>
              </a:rPr>
              <a:t>No structured re-engagement between stays</a:t>
            </a:r>
            <a:endParaRPr lang="en-US" sz="850" dirty="0"/>
          </a:p>
        </p:txBody>
      </p:sp>
      <p:sp>
        <p:nvSpPr>
          <p:cNvPr id="10" name="Shape 8"/>
          <p:cNvSpPr/>
          <p:nvPr/>
        </p:nvSpPr>
        <p:spPr>
          <a:xfrm>
            <a:off x="1874520" y="1828800"/>
            <a:ext cx="1645920" cy="3154680"/>
          </a:xfrm>
          <a:prstGeom prst="roundRect">
            <a:avLst>
              <a:gd name="adj" fmla="val 3333"/>
            </a:avLst>
          </a:prstGeom>
          <a:solidFill>
            <a:srgbClr val="F0FDF4"/>
          </a:solidFill>
          <a:ln w="12700">
            <a:solidFill>
              <a:srgbClr val="E2E8F0"/>
            </a:solidFill>
            <a:prstDash val="solid"/>
          </a:ln>
          <a:effectLst>
            <a:outerShdw sx="100000" sy="100000" kx="0" ky="0" algn="bl" rotWithShape="0" blurRad="101600" dist="25400" dir="2700000">
              <a:srgbClr val="000000">
                <a:alpha val="10000"/>
              </a:srgbClr>
            </a:outerShdw>
          </a:effectLst>
        </p:spPr>
      </p:sp>
      <p:sp>
        <p:nvSpPr>
          <p:cNvPr id="11" name="Text 9"/>
          <p:cNvSpPr/>
          <p:nvPr/>
        </p:nvSpPr>
        <p:spPr>
          <a:xfrm>
            <a:off x="1965960" y="1920240"/>
            <a:ext cx="1463040" cy="347472"/>
          </a:xfrm>
          <a:prstGeom prst="rect">
            <a:avLst/>
          </a:prstGeom>
          <a:noFill/>
          <a:ln/>
        </p:spPr>
        <p:txBody>
          <a:bodyPr wrap="square" lIns="0" tIns="0" rIns="0" bIns="0" rtlCol="0" anchor="ctr"/>
          <a:lstStyle/>
          <a:p>
            <a:pPr indent="0" marL="0">
              <a:buNone/>
            </a:pPr>
            <a:r>
              <a:rPr lang="en-US" sz="950" b="1" dirty="0">
                <a:solidFill>
                  <a:srgbClr val="0D9488"/>
                </a:solidFill>
                <a:latin typeface="Calibri" pitchFamily="34" charset="0"/>
                <a:ea typeface="Calibri" pitchFamily="34" charset="-122"/>
                <a:cs typeface="Calibri" pitchFamily="34" charset="-120"/>
              </a:rPr>
              <a:t>Pricing Strategy</a:t>
            </a:r>
            <a:endParaRPr lang="en-US" sz="950" dirty="0"/>
          </a:p>
        </p:txBody>
      </p:sp>
      <p:sp>
        <p:nvSpPr>
          <p:cNvPr id="12" name="Text 10"/>
          <p:cNvSpPr/>
          <p:nvPr/>
        </p:nvSpPr>
        <p:spPr>
          <a:xfrm>
            <a:off x="1965960" y="2304288"/>
            <a:ext cx="1463040" cy="2606040"/>
          </a:xfrm>
          <a:prstGeom prst="rect">
            <a:avLst/>
          </a:prstGeom>
          <a:noFill/>
          <a:ln/>
        </p:spPr>
        <p:txBody>
          <a:bodyPr wrap="square" lIns="0" tIns="0" rIns="0" bIns="0" rtlCol="0" anchor="t"/>
          <a:lstStyle/>
          <a:p>
            <a:pPr marL="342900" indent="-342900">
              <a:buSzPct val="100000"/>
              <a:buChar char="•"/>
            </a:pPr>
            <a:r>
              <a:rPr lang="en-US" sz="850" dirty="0">
                <a:solidFill>
                  <a:srgbClr val="1E293B"/>
                </a:solidFill>
                <a:latin typeface="Calibri" pitchFamily="34" charset="0"/>
                <a:ea typeface="Calibri" pitchFamily="34" charset="-122"/>
                <a:cs typeface="Calibri" pitchFamily="34" charset="-120"/>
              </a:rPr>
              <a:t>No non-refundable fare tier exists</a:t>
            </a:r>
            <a:endParaRPr lang="en-US" sz="850" dirty="0"/>
          </a:p>
          <a:p>
            <a:pPr marL="342900" indent="-342900">
              <a:buSzPct val="100000"/>
              <a:buChar char="•"/>
            </a:pPr>
            <a:r>
              <a:rPr lang="en-US" sz="850" dirty="0">
                <a:solidFill>
                  <a:srgbClr val="1E293B"/>
                </a:solidFill>
                <a:latin typeface="Calibri" pitchFamily="34" charset="0"/>
                <a:ea typeface="Calibri" pitchFamily="34" charset="-122"/>
                <a:cs typeface="Calibri" pitchFamily="34" charset="-120"/>
              </a:rPr>
              <a:t>Uniform pricing across all lead times</a:t>
            </a:r>
            <a:endParaRPr lang="en-US" sz="850" dirty="0"/>
          </a:p>
          <a:p>
            <a:pPr marL="342900" indent="-342900">
              <a:buSzPct val="100000"/>
              <a:buChar char="•"/>
            </a:pPr>
            <a:r>
              <a:rPr lang="en-US" sz="850" dirty="0">
                <a:solidFill>
                  <a:srgbClr val="1E293B"/>
                </a:solidFill>
                <a:latin typeface="Calibri" pitchFamily="34" charset="0"/>
                <a:ea typeface="Calibri" pitchFamily="34" charset="-122"/>
                <a:cs typeface="Calibri" pitchFamily="34" charset="-120"/>
              </a:rPr>
              <a:t>Premium inventory not differentiated in search</a:t>
            </a:r>
            <a:endParaRPr lang="en-US" sz="850" dirty="0"/>
          </a:p>
        </p:txBody>
      </p:sp>
      <p:sp>
        <p:nvSpPr>
          <p:cNvPr id="13" name="Shape 11"/>
          <p:cNvSpPr/>
          <p:nvPr/>
        </p:nvSpPr>
        <p:spPr>
          <a:xfrm>
            <a:off x="3611880" y="1828800"/>
            <a:ext cx="1645920" cy="3154680"/>
          </a:xfrm>
          <a:prstGeom prst="roundRect">
            <a:avLst>
              <a:gd name="adj" fmla="val 3333"/>
            </a:avLst>
          </a:prstGeom>
          <a:solidFill>
            <a:srgbClr val="FFFBEB"/>
          </a:solidFill>
          <a:ln w="12700">
            <a:solidFill>
              <a:srgbClr val="E2E8F0"/>
            </a:solidFill>
            <a:prstDash val="solid"/>
          </a:ln>
          <a:effectLst>
            <a:outerShdw sx="100000" sy="100000" kx="0" ky="0" algn="bl" rotWithShape="0" blurRad="101600" dist="25400" dir="2700000">
              <a:srgbClr val="000000">
                <a:alpha val="10000"/>
              </a:srgbClr>
            </a:outerShdw>
          </a:effectLst>
        </p:spPr>
      </p:sp>
      <p:sp>
        <p:nvSpPr>
          <p:cNvPr id="14" name="Text 12"/>
          <p:cNvSpPr/>
          <p:nvPr/>
        </p:nvSpPr>
        <p:spPr>
          <a:xfrm>
            <a:off x="3703320" y="1920240"/>
            <a:ext cx="1463040" cy="347472"/>
          </a:xfrm>
          <a:prstGeom prst="rect">
            <a:avLst/>
          </a:prstGeom>
          <a:noFill/>
          <a:ln/>
        </p:spPr>
        <p:txBody>
          <a:bodyPr wrap="square" lIns="0" tIns="0" rIns="0" bIns="0" rtlCol="0" anchor="ctr"/>
          <a:lstStyle/>
          <a:p>
            <a:pPr indent="0" marL="0">
              <a:buNone/>
            </a:pPr>
            <a:r>
              <a:rPr lang="en-US" sz="950" b="1" dirty="0">
                <a:solidFill>
                  <a:srgbClr val="F18F01"/>
                </a:solidFill>
                <a:latin typeface="Calibri" pitchFamily="34" charset="0"/>
                <a:ea typeface="Calibri" pitchFamily="34" charset="-122"/>
                <a:cs typeface="Calibri" pitchFamily="34" charset="-120"/>
              </a:rPr>
              <a:t>Channel Mix</a:t>
            </a:r>
            <a:endParaRPr lang="en-US" sz="950" dirty="0"/>
          </a:p>
        </p:txBody>
      </p:sp>
      <p:sp>
        <p:nvSpPr>
          <p:cNvPr id="15" name="Text 13"/>
          <p:cNvSpPr/>
          <p:nvPr/>
        </p:nvSpPr>
        <p:spPr>
          <a:xfrm>
            <a:off x="3703320" y="2304288"/>
            <a:ext cx="1463040" cy="2606040"/>
          </a:xfrm>
          <a:prstGeom prst="rect">
            <a:avLst/>
          </a:prstGeom>
          <a:noFill/>
          <a:ln/>
        </p:spPr>
        <p:txBody>
          <a:bodyPr wrap="square" lIns="0" tIns="0" rIns="0" bIns="0" rtlCol="0" anchor="t"/>
          <a:lstStyle/>
          <a:p>
            <a:pPr marL="342900" indent="-342900">
              <a:buSzPct val="100000"/>
              <a:buChar char="•"/>
            </a:pPr>
            <a:r>
              <a:rPr lang="en-US" sz="850" dirty="0">
                <a:solidFill>
                  <a:srgbClr val="1E293B"/>
                </a:solidFill>
                <a:latin typeface="Calibri" pitchFamily="34" charset="0"/>
                <a:ea typeface="Calibri" pitchFamily="34" charset="-122"/>
                <a:cs typeface="Calibri" pitchFamily="34" charset="-120"/>
              </a:rPr>
              <a:t>Travel agents: 24.6% cancel, no SLAs</a:t>
            </a:r>
            <a:endParaRPr lang="en-US" sz="850" dirty="0"/>
          </a:p>
          <a:p>
            <a:pPr marL="342900" indent="-342900">
              <a:buSzPct val="100000"/>
              <a:buChar char="•"/>
            </a:pPr>
            <a:r>
              <a:rPr lang="en-US" sz="850" dirty="0">
                <a:solidFill>
                  <a:srgbClr val="1E293B"/>
                </a:solidFill>
                <a:latin typeface="Calibri" pitchFamily="34" charset="0"/>
                <a:ea typeface="Calibri" pitchFamily="34" charset="-122"/>
                <a:cs typeface="Calibri" pitchFamily="34" charset="-120"/>
              </a:rPr>
              <a:t>Mobile App under-monetised (40% volume)</a:t>
            </a:r>
            <a:endParaRPr lang="en-US" sz="850" dirty="0"/>
          </a:p>
          <a:p>
            <a:pPr marL="342900" indent="-342900">
              <a:buSzPct val="100000"/>
              <a:buChar char="•"/>
            </a:pPr>
            <a:r>
              <a:rPr lang="en-US" sz="850" dirty="0">
                <a:solidFill>
                  <a:srgbClr val="1E293B"/>
                </a:solidFill>
                <a:latin typeface="Calibri" pitchFamily="34" charset="0"/>
                <a:ea typeface="Calibri" pitchFamily="34" charset="-122"/>
                <a:cs typeface="Calibri" pitchFamily="34" charset="-120"/>
              </a:rPr>
              <a:t>D2C channels could replace agent volume</a:t>
            </a:r>
            <a:endParaRPr lang="en-US" sz="850" dirty="0"/>
          </a:p>
        </p:txBody>
      </p:sp>
      <p:sp>
        <p:nvSpPr>
          <p:cNvPr id="16" name="Shape 14"/>
          <p:cNvSpPr/>
          <p:nvPr/>
        </p:nvSpPr>
        <p:spPr>
          <a:xfrm>
            <a:off x="5349240" y="1828800"/>
            <a:ext cx="1645920" cy="3154680"/>
          </a:xfrm>
          <a:prstGeom prst="roundRect">
            <a:avLst>
              <a:gd name="adj" fmla="val 3333"/>
            </a:avLst>
          </a:prstGeom>
          <a:solidFill>
            <a:srgbClr val="FEF2F2"/>
          </a:solidFill>
          <a:ln w="12700">
            <a:solidFill>
              <a:srgbClr val="E2E8F0"/>
            </a:solidFill>
            <a:prstDash val="solid"/>
          </a:ln>
          <a:effectLst>
            <a:outerShdw sx="100000" sy="100000" kx="0" ky="0" algn="bl" rotWithShape="0" blurRad="101600" dist="25400" dir="2700000">
              <a:srgbClr val="000000">
                <a:alpha val="10000"/>
              </a:srgbClr>
            </a:outerShdw>
          </a:effectLst>
        </p:spPr>
      </p:sp>
      <p:sp>
        <p:nvSpPr>
          <p:cNvPr id="17" name="Text 15"/>
          <p:cNvSpPr/>
          <p:nvPr/>
        </p:nvSpPr>
        <p:spPr>
          <a:xfrm>
            <a:off x="5440680" y="1920240"/>
            <a:ext cx="1463040" cy="347472"/>
          </a:xfrm>
          <a:prstGeom prst="rect">
            <a:avLst/>
          </a:prstGeom>
          <a:noFill/>
          <a:ln/>
        </p:spPr>
        <p:txBody>
          <a:bodyPr wrap="square" lIns="0" tIns="0" rIns="0" bIns="0" rtlCol="0" anchor="ctr"/>
          <a:lstStyle/>
          <a:p>
            <a:pPr indent="0" marL="0">
              <a:buNone/>
            </a:pPr>
            <a:r>
              <a:rPr lang="en-US" sz="950" b="1" dirty="0">
                <a:solidFill>
                  <a:srgbClr val="C73E1D"/>
                </a:solidFill>
                <a:latin typeface="Calibri" pitchFamily="34" charset="0"/>
                <a:ea typeface="Calibri" pitchFamily="34" charset="-122"/>
                <a:cs typeface="Calibri" pitchFamily="34" charset="-120"/>
              </a:rPr>
              <a:t>Operations</a:t>
            </a:r>
            <a:endParaRPr lang="en-US" sz="950" dirty="0"/>
          </a:p>
        </p:txBody>
      </p:sp>
      <p:sp>
        <p:nvSpPr>
          <p:cNvPr id="18" name="Text 16"/>
          <p:cNvSpPr/>
          <p:nvPr/>
        </p:nvSpPr>
        <p:spPr>
          <a:xfrm>
            <a:off x="5440680" y="2304288"/>
            <a:ext cx="1463040" cy="2606040"/>
          </a:xfrm>
          <a:prstGeom prst="rect">
            <a:avLst/>
          </a:prstGeom>
          <a:noFill/>
          <a:ln/>
        </p:spPr>
        <p:txBody>
          <a:bodyPr wrap="square" lIns="0" tIns="0" rIns="0" bIns="0" rtlCol="0" anchor="t"/>
          <a:lstStyle/>
          <a:p>
            <a:pPr marL="342900" indent="-342900">
              <a:buSzPct val="100000"/>
              <a:buChar char="•"/>
            </a:pPr>
            <a:r>
              <a:rPr lang="en-US" sz="850" dirty="0">
                <a:solidFill>
                  <a:srgbClr val="1E293B"/>
                </a:solidFill>
                <a:latin typeface="Calibri" pitchFamily="34" charset="0"/>
                <a:ea typeface="Calibri" pitchFamily="34" charset="-122"/>
                <a:cs typeface="Calibri" pitchFamily="34" charset="-120"/>
              </a:rPr>
              <a:t>7.5% failure rate = 2,258 lost bookings</a:t>
            </a:r>
            <a:endParaRPr lang="en-US" sz="850" dirty="0"/>
          </a:p>
          <a:p>
            <a:pPr marL="342900" indent="-342900">
              <a:buSzPct val="100000"/>
              <a:buChar char="•"/>
            </a:pPr>
            <a:r>
              <a:rPr lang="en-US" sz="850" dirty="0">
                <a:solidFill>
                  <a:srgbClr val="1E293B"/>
                </a:solidFill>
                <a:latin typeface="Calibri" pitchFamily="34" charset="0"/>
                <a:ea typeface="Calibri" pitchFamily="34" charset="-122"/>
                <a:cs typeface="Calibri" pitchFamily="34" charset="-120"/>
              </a:rPr>
              <a:t>No payment retry engine in place</a:t>
            </a:r>
            <a:endParaRPr lang="en-US" sz="850" dirty="0"/>
          </a:p>
          <a:p>
            <a:pPr marL="342900" indent="-342900">
              <a:buSzPct val="100000"/>
              <a:buChar char="•"/>
            </a:pPr>
            <a:r>
              <a:rPr lang="en-US" sz="850" dirty="0">
                <a:solidFill>
                  <a:srgbClr val="1E293B"/>
                </a:solidFill>
                <a:latin typeface="Calibri" pitchFamily="34" charset="0"/>
                <a:ea typeface="Calibri" pitchFamily="34" charset="-122"/>
                <a:cs typeface="Calibri" pitchFamily="34" charset="-120"/>
              </a:rPr>
              <a:t>Refund processing overhead from 6K+ cancels</a:t>
            </a:r>
            <a:endParaRPr lang="en-US" sz="850" dirty="0"/>
          </a:p>
        </p:txBody>
      </p:sp>
      <p:sp>
        <p:nvSpPr>
          <p:cNvPr id="19" name="Shape 17"/>
          <p:cNvSpPr/>
          <p:nvPr/>
        </p:nvSpPr>
        <p:spPr>
          <a:xfrm>
            <a:off x="7086600" y="1828800"/>
            <a:ext cx="1645920" cy="3154680"/>
          </a:xfrm>
          <a:prstGeom prst="roundRect">
            <a:avLst>
              <a:gd name="adj" fmla="val 3333"/>
            </a:avLst>
          </a:prstGeom>
          <a:solidFill>
            <a:srgbClr val="F5F3FF"/>
          </a:solidFill>
          <a:ln w="12700">
            <a:solidFill>
              <a:srgbClr val="E2E8F0"/>
            </a:solidFill>
            <a:prstDash val="solid"/>
          </a:ln>
          <a:effectLst>
            <a:outerShdw sx="100000" sy="100000" kx="0" ky="0" algn="bl" rotWithShape="0" blurRad="101600" dist="25400" dir="2700000">
              <a:srgbClr val="000000">
                <a:alpha val="10000"/>
              </a:srgbClr>
            </a:outerShdw>
          </a:effectLst>
        </p:spPr>
      </p:sp>
      <p:sp>
        <p:nvSpPr>
          <p:cNvPr id="20" name="Text 18"/>
          <p:cNvSpPr/>
          <p:nvPr/>
        </p:nvSpPr>
        <p:spPr>
          <a:xfrm>
            <a:off x="7178040" y="1920240"/>
            <a:ext cx="1463040" cy="347472"/>
          </a:xfrm>
          <a:prstGeom prst="rect">
            <a:avLst/>
          </a:prstGeom>
          <a:noFill/>
          <a:ln/>
        </p:spPr>
        <p:txBody>
          <a:bodyPr wrap="square" lIns="0" tIns="0" rIns="0" bIns="0" rtlCol="0" anchor="ctr"/>
          <a:lstStyle/>
          <a:p>
            <a:pPr indent="0" marL="0">
              <a:buNone/>
            </a:pPr>
            <a:r>
              <a:rPr lang="en-US" sz="950" b="1" dirty="0">
                <a:solidFill>
                  <a:srgbClr val="7C3AED"/>
                </a:solidFill>
                <a:latin typeface="Calibri" pitchFamily="34" charset="0"/>
                <a:ea typeface="Calibri" pitchFamily="34" charset="-122"/>
                <a:cs typeface="Calibri" pitchFamily="34" charset="-120"/>
              </a:rPr>
              <a:t>Portfolio Mix</a:t>
            </a:r>
            <a:endParaRPr lang="en-US" sz="950" dirty="0"/>
          </a:p>
        </p:txBody>
      </p:sp>
      <p:sp>
        <p:nvSpPr>
          <p:cNvPr id="21" name="Text 19"/>
          <p:cNvSpPr/>
          <p:nvPr/>
        </p:nvSpPr>
        <p:spPr>
          <a:xfrm>
            <a:off x="7178040" y="2304288"/>
            <a:ext cx="1463040" cy="2606040"/>
          </a:xfrm>
          <a:prstGeom prst="rect">
            <a:avLst/>
          </a:prstGeom>
          <a:noFill/>
          <a:ln/>
        </p:spPr>
        <p:txBody>
          <a:bodyPr wrap="square" lIns="0" tIns="0" rIns="0" bIns="0" rtlCol="0" anchor="t"/>
          <a:lstStyle/>
          <a:p>
            <a:pPr marL="342900" indent="-342900">
              <a:buSzPct val="100000"/>
              <a:buChar char="•"/>
            </a:pPr>
            <a:r>
              <a:rPr lang="en-US" sz="850" dirty="0">
                <a:solidFill>
                  <a:srgbClr val="1E293B"/>
                </a:solidFill>
                <a:latin typeface="Calibri" pitchFamily="34" charset="0"/>
                <a:ea typeface="Calibri" pitchFamily="34" charset="-122"/>
                <a:cs typeface="Calibri" pitchFamily="34" charset="-120"/>
              </a:rPr>
              <a:t>5★ only 15% of bookings despite highest margin</a:t>
            </a:r>
            <a:endParaRPr lang="en-US" sz="850" dirty="0"/>
          </a:p>
          <a:p>
            <a:pPr marL="342900" indent="-342900">
              <a:buSzPct val="100000"/>
              <a:buChar char="•"/>
            </a:pPr>
            <a:r>
              <a:rPr lang="en-US" sz="850" dirty="0">
                <a:solidFill>
                  <a:srgbClr val="1E293B"/>
                </a:solidFill>
                <a:latin typeface="Calibri" pitchFamily="34" charset="0"/>
                <a:ea typeface="Calibri" pitchFamily="34" charset="-122"/>
                <a:cs typeface="Calibri" pitchFamily="34" charset="-120"/>
              </a:rPr>
              <a:t>Suites at 10% despite ₹9,800 avg profit</a:t>
            </a:r>
            <a:endParaRPr lang="en-US" sz="850" dirty="0"/>
          </a:p>
          <a:p>
            <a:pPr marL="342900" indent="-342900">
              <a:buSzPct val="100000"/>
              <a:buChar char="•"/>
            </a:pPr>
            <a:r>
              <a:rPr lang="en-US" sz="850" dirty="0">
                <a:solidFill>
                  <a:srgbClr val="1E293B"/>
                </a:solidFill>
                <a:latin typeface="Calibri" pitchFamily="34" charset="0"/>
                <a:ea typeface="Calibri" pitchFamily="34" charset="-122"/>
                <a:cs typeface="Calibri" pitchFamily="34" charset="-120"/>
              </a:rPr>
              <a:t>Standard rooms dilute overall margin</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9488"/>
          </a:solidFill>
          <a:ln w="12700">
            <a:solidFill>
              <a:srgbClr val="0D9488"/>
            </a:solidFill>
            <a:prstDash val="solid"/>
          </a:ln>
        </p:spPr>
      </p:sp>
      <p:sp>
        <p:nvSpPr>
          <p:cNvPr id="3" name="Text 1"/>
          <p:cNvSpPr/>
          <p:nvPr/>
        </p:nvSpPr>
        <p:spPr>
          <a:xfrm>
            <a:off x="457200" y="73152"/>
            <a:ext cx="6400800" cy="292608"/>
          </a:xfrm>
          <a:prstGeom prst="rect">
            <a:avLst/>
          </a:prstGeom>
          <a:noFill/>
          <a:ln/>
        </p:spPr>
        <p:txBody>
          <a:bodyPr wrap="square" lIns="0" tIns="0" rIns="0" bIns="0" rtlCol="0" anchor="ctr"/>
          <a:lstStyle/>
          <a:p>
            <a:pPr indent="0" marL="0">
              <a:buNone/>
            </a:pPr>
            <a:r>
              <a:rPr lang="en-US" sz="1000" b="1" spc="300" kern="0" dirty="0">
                <a:solidFill>
                  <a:srgbClr val="CCFBF1"/>
                </a:solidFill>
                <a:latin typeface="Calibri" pitchFamily="34" charset="0"/>
                <a:ea typeface="Calibri" pitchFamily="34" charset="-122"/>
                <a:cs typeface="Calibri" pitchFamily="34" charset="-120"/>
              </a:rPr>
              <a:t>STRATEGIC RECOMMENDATIONS</a:t>
            </a:r>
            <a:endParaRPr lang="en-US" sz="1000" dirty="0"/>
          </a:p>
        </p:txBody>
      </p:sp>
      <p:sp>
        <p:nvSpPr>
          <p:cNvPr id="4" name="Text 2"/>
          <p:cNvSpPr/>
          <p:nvPr/>
        </p:nvSpPr>
        <p:spPr>
          <a:xfrm>
            <a:off x="457200" y="347472"/>
            <a:ext cx="8229600" cy="347472"/>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Six Initiatives to Drive Growth, Margin &amp; Retention</a:t>
            </a:r>
            <a:endParaRPr lang="en-US" sz="1800" dirty="0"/>
          </a:p>
        </p:txBody>
      </p:sp>
      <p:sp>
        <p:nvSpPr>
          <p:cNvPr id="5" name="Shape 3"/>
          <p:cNvSpPr/>
          <p:nvPr/>
        </p:nvSpPr>
        <p:spPr>
          <a:xfrm>
            <a:off x="182880" y="914400"/>
            <a:ext cx="2788920" cy="1938528"/>
          </a:xfrm>
          <a:prstGeom prst="roundRect">
            <a:avLst>
              <a:gd name="adj" fmla="val 3302"/>
            </a:avLst>
          </a:prstGeom>
          <a:solidFill>
            <a:srgbClr val="FEF2F2"/>
          </a:solidFill>
          <a:ln w="12700">
            <a:solidFill>
              <a:srgbClr val="E2E8F0"/>
            </a:solidFill>
            <a:prstDash val="solid"/>
          </a:ln>
          <a:effectLst>
            <a:outerShdw sx="100000" sy="100000" kx="0" ky="0" algn="bl" rotWithShape="0" blurRad="101600" dist="25400" dir="2700000">
              <a:srgbClr val="000000">
                <a:alpha val="10000"/>
              </a:srgbClr>
            </a:outerShdw>
          </a:effectLst>
        </p:spPr>
      </p:sp>
      <p:sp>
        <p:nvSpPr>
          <p:cNvPr id="6" name="Shape 4"/>
          <p:cNvSpPr/>
          <p:nvPr/>
        </p:nvSpPr>
        <p:spPr>
          <a:xfrm>
            <a:off x="292608" y="1024128"/>
            <a:ext cx="329184" cy="256032"/>
          </a:xfrm>
          <a:prstGeom prst="roundRect">
            <a:avLst>
              <a:gd name="adj" fmla="val 14286"/>
            </a:avLst>
          </a:prstGeom>
          <a:solidFill>
            <a:srgbClr val="C73E1D"/>
          </a:solidFill>
          <a:ln w="12700">
            <a:solidFill>
              <a:srgbClr val="C73E1D"/>
            </a:solidFill>
            <a:prstDash val="solid"/>
          </a:ln>
        </p:spPr>
      </p:sp>
      <p:sp>
        <p:nvSpPr>
          <p:cNvPr id="7" name="Text 5"/>
          <p:cNvSpPr/>
          <p:nvPr/>
        </p:nvSpPr>
        <p:spPr>
          <a:xfrm>
            <a:off x="292608" y="1024128"/>
            <a:ext cx="329184"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R1</a:t>
            </a:r>
            <a:endParaRPr lang="en-US" sz="850" dirty="0"/>
          </a:p>
        </p:txBody>
      </p:sp>
      <p:sp>
        <p:nvSpPr>
          <p:cNvPr id="8" name="Text 6"/>
          <p:cNvSpPr/>
          <p:nvPr/>
        </p:nvSpPr>
        <p:spPr>
          <a:xfrm>
            <a:off x="694944" y="1005840"/>
            <a:ext cx="2167128" cy="310896"/>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Non-Refundable Pricing Tier</a:t>
            </a:r>
            <a:endParaRPr lang="en-US" sz="1100" dirty="0"/>
          </a:p>
        </p:txBody>
      </p:sp>
      <p:sp>
        <p:nvSpPr>
          <p:cNvPr id="9" name="Text 7"/>
          <p:cNvSpPr/>
          <p:nvPr/>
        </p:nvSpPr>
        <p:spPr>
          <a:xfrm>
            <a:off x="292608" y="1353312"/>
            <a:ext cx="2569464" cy="768096"/>
          </a:xfrm>
          <a:prstGeom prst="rect">
            <a:avLst/>
          </a:prstGeom>
          <a:noFill/>
          <a:ln/>
        </p:spPr>
        <p:txBody>
          <a:bodyPr wrap="square" lIns="0" tIns="0" rIns="0" bIns="0" rtlCol="0" anchor="t"/>
          <a:lstStyle/>
          <a:p>
            <a:pPr indent="0" marL="0">
              <a:buNone/>
            </a:pPr>
            <a:r>
              <a:rPr lang="en-US" sz="850" dirty="0">
                <a:solidFill>
                  <a:srgbClr val="64748B"/>
                </a:solidFill>
                <a:latin typeface="Calibri" pitchFamily="34" charset="0"/>
                <a:ea typeface="Calibri" pitchFamily="34" charset="-122"/>
                <a:cs typeface="Calibri" pitchFamily="34" charset="-120"/>
              </a:rPr>
              <a:t>Lead-time &gt;30d bookings cancel at 25%+. A 5–12% discount for non-refundable commits customers.</a:t>
            </a:r>
            <a:endParaRPr lang="en-US" sz="850" dirty="0"/>
          </a:p>
        </p:txBody>
      </p:sp>
      <p:sp>
        <p:nvSpPr>
          <p:cNvPr id="10" name="Text 8"/>
          <p:cNvSpPr/>
          <p:nvPr/>
        </p:nvSpPr>
        <p:spPr>
          <a:xfrm>
            <a:off x="292608" y="2148840"/>
            <a:ext cx="2569464" cy="256032"/>
          </a:xfrm>
          <a:prstGeom prst="rect">
            <a:avLst/>
          </a:prstGeom>
          <a:noFill/>
          <a:ln/>
        </p:spPr>
        <p:txBody>
          <a:bodyPr wrap="square" lIns="0" tIns="0" rIns="0" bIns="0" rtlCol="0" anchor="ctr"/>
          <a:lstStyle/>
          <a:p>
            <a:pPr indent="0" marL="0">
              <a:buNone/>
            </a:pPr>
            <a:r>
              <a:rPr lang="en-US" sz="850" b="1" dirty="0">
                <a:solidFill>
                  <a:srgbClr val="C73E1D"/>
                </a:solidFill>
                <a:latin typeface="Calibri" pitchFamily="34" charset="0"/>
                <a:ea typeface="Calibri" pitchFamily="34" charset="-122"/>
                <a:cs typeface="Calibri" pitchFamily="34" charset="-120"/>
              </a:rPr>
              <a:t>Expected: ↓ Cancel rate 20% → 14%</a:t>
            </a:r>
            <a:endParaRPr lang="en-US" sz="850" dirty="0"/>
          </a:p>
        </p:txBody>
      </p:sp>
      <p:sp>
        <p:nvSpPr>
          <p:cNvPr id="11" name="Text 9"/>
          <p:cNvSpPr/>
          <p:nvPr/>
        </p:nvSpPr>
        <p:spPr>
          <a:xfrm>
            <a:off x="292608" y="2423160"/>
            <a:ext cx="2569464" cy="25603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Effort: Low</a:t>
            </a:r>
            <a:endParaRPr lang="en-US" sz="800" dirty="0"/>
          </a:p>
        </p:txBody>
      </p:sp>
      <p:sp>
        <p:nvSpPr>
          <p:cNvPr id="12" name="Shape 10"/>
          <p:cNvSpPr/>
          <p:nvPr/>
        </p:nvSpPr>
        <p:spPr>
          <a:xfrm>
            <a:off x="3154680" y="914400"/>
            <a:ext cx="2788920" cy="1938528"/>
          </a:xfrm>
          <a:prstGeom prst="roundRect">
            <a:avLst>
              <a:gd name="adj" fmla="val 3302"/>
            </a:avLst>
          </a:prstGeom>
          <a:solidFill>
            <a:srgbClr val="FFFBEB"/>
          </a:solidFill>
          <a:ln w="12700">
            <a:solidFill>
              <a:srgbClr val="E2E8F0"/>
            </a:solidFill>
            <a:prstDash val="solid"/>
          </a:ln>
          <a:effectLst>
            <a:outerShdw sx="100000" sy="100000" kx="0" ky="0" algn="bl" rotWithShape="0" blurRad="101600" dist="25400" dir="2700000">
              <a:srgbClr val="000000">
                <a:alpha val="10000"/>
              </a:srgbClr>
            </a:outerShdw>
          </a:effectLst>
        </p:spPr>
      </p:sp>
      <p:sp>
        <p:nvSpPr>
          <p:cNvPr id="13" name="Shape 11"/>
          <p:cNvSpPr/>
          <p:nvPr/>
        </p:nvSpPr>
        <p:spPr>
          <a:xfrm>
            <a:off x="3264408" y="1024128"/>
            <a:ext cx="329184" cy="256032"/>
          </a:xfrm>
          <a:prstGeom prst="roundRect">
            <a:avLst>
              <a:gd name="adj" fmla="val 14286"/>
            </a:avLst>
          </a:prstGeom>
          <a:solidFill>
            <a:srgbClr val="F18F01"/>
          </a:solidFill>
          <a:ln w="12700">
            <a:solidFill>
              <a:srgbClr val="F18F01"/>
            </a:solidFill>
            <a:prstDash val="solid"/>
          </a:ln>
        </p:spPr>
      </p:sp>
      <p:sp>
        <p:nvSpPr>
          <p:cNvPr id="14" name="Text 12"/>
          <p:cNvSpPr/>
          <p:nvPr/>
        </p:nvSpPr>
        <p:spPr>
          <a:xfrm>
            <a:off x="3264408" y="1024128"/>
            <a:ext cx="329184"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R2</a:t>
            </a:r>
            <a:endParaRPr lang="en-US" sz="850" dirty="0"/>
          </a:p>
        </p:txBody>
      </p:sp>
      <p:sp>
        <p:nvSpPr>
          <p:cNvPr id="15" name="Text 13"/>
          <p:cNvSpPr/>
          <p:nvPr/>
        </p:nvSpPr>
        <p:spPr>
          <a:xfrm>
            <a:off x="3666744" y="1005840"/>
            <a:ext cx="2167128" cy="310896"/>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Travel Agent SLAs</a:t>
            </a:r>
            <a:endParaRPr lang="en-US" sz="1100" dirty="0"/>
          </a:p>
        </p:txBody>
      </p:sp>
      <p:sp>
        <p:nvSpPr>
          <p:cNvPr id="16" name="Text 14"/>
          <p:cNvSpPr/>
          <p:nvPr/>
        </p:nvSpPr>
        <p:spPr>
          <a:xfrm>
            <a:off x="3264408" y="1353312"/>
            <a:ext cx="2569464" cy="768096"/>
          </a:xfrm>
          <a:prstGeom prst="rect">
            <a:avLst/>
          </a:prstGeom>
          <a:noFill/>
          <a:ln/>
        </p:spPr>
        <p:txBody>
          <a:bodyPr wrap="square" lIns="0" tIns="0" rIns="0" bIns="0" rtlCol="0" anchor="t"/>
          <a:lstStyle/>
          <a:p>
            <a:pPr indent="0" marL="0">
              <a:buNone/>
            </a:pPr>
            <a:r>
              <a:rPr lang="en-US" sz="850" dirty="0">
                <a:solidFill>
                  <a:srgbClr val="64748B"/>
                </a:solidFill>
                <a:latin typeface="Calibri" pitchFamily="34" charset="0"/>
                <a:ea typeface="Calibri" pitchFamily="34" charset="-122"/>
                <a:cs typeface="Calibri" pitchFamily="34" charset="-120"/>
              </a:rPr>
              <a:t>Agents cancel at 24.6% with zero financial penalty. Contractual deposits and commission penalties align incentives.</a:t>
            </a:r>
            <a:endParaRPr lang="en-US" sz="850" dirty="0"/>
          </a:p>
        </p:txBody>
      </p:sp>
      <p:sp>
        <p:nvSpPr>
          <p:cNvPr id="17" name="Text 15"/>
          <p:cNvSpPr/>
          <p:nvPr/>
        </p:nvSpPr>
        <p:spPr>
          <a:xfrm>
            <a:off x="3264408" y="2148840"/>
            <a:ext cx="2569464" cy="256032"/>
          </a:xfrm>
          <a:prstGeom prst="rect">
            <a:avLst/>
          </a:prstGeom>
          <a:noFill/>
          <a:ln/>
        </p:spPr>
        <p:txBody>
          <a:bodyPr wrap="square" lIns="0" tIns="0" rIns="0" bIns="0" rtlCol="0" anchor="ctr"/>
          <a:lstStyle/>
          <a:p>
            <a:pPr indent="0" marL="0">
              <a:buNone/>
            </a:pPr>
            <a:r>
              <a:rPr lang="en-US" sz="850" b="1" dirty="0">
                <a:solidFill>
                  <a:srgbClr val="F18F01"/>
                </a:solidFill>
                <a:latin typeface="Calibri" pitchFamily="34" charset="0"/>
                <a:ea typeface="Calibri" pitchFamily="34" charset="-122"/>
                <a:cs typeface="Calibri" pitchFamily="34" charset="-120"/>
              </a:rPr>
              <a:t>Expected: ↓ Agent cancels by 25–30%</a:t>
            </a:r>
            <a:endParaRPr lang="en-US" sz="850" dirty="0"/>
          </a:p>
        </p:txBody>
      </p:sp>
      <p:sp>
        <p:nvSpPr>
          <p:cNvPr id="18" name="Text 16"/>
          <p:cNvSpPr/>
          <p:nvPr/>
        </p:nvSpPr>
        <p:spPr>
          <a:xfrm>
            <a:off x="3264408" y="2423160"/>
            <a:ext cx="2569464" cy="25603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Effort: Medium</a:t>
            </a:r>
            <a:endParaRPr lang="en-US" sz="800" dirty="0"/>
          </a:p>
        </p:txBody>
      </p:sp>
      <p:sp>
        <p:nvSpPr>
          <p:cNvPr id="19" name="Shape 17"/>
          <p:cNvSpPr/>
          <p:nvPr/>
        </p:nvSpPr>
        <p:spPr>
          <a:xfrm>
            <a:off x="6126480" y="914400"/>
            <a:ext cx="2788920" cy="1938528"/>
          </a:xfrm>
          <a:prstGeom prst="roundRect">
            <a:avLst>
              <a:gd name="adj" fmla="val 3302"/>
            </a:avLst>
          </a:prstGeom>
          <a:solidFill>
            <a:srgbClr val="EFF6FF"/>
          </a:solidFill>
          <a:ln w="12700">
            <a:solidFill>
              <a:srgbClr val="E2E8F0"/>
            </a:solidFill>
            <a:prstDash val="solid"/>
          </a:ln>
          <a:effectLst>
            <a:outerShdw sx="100000" sy="100000" kx="0" ky="0" algn="bl" rotWithShape="0" blurRad="101600" dist="25400" dir="2700000">
              <a:srgbClr val="000000">
                <a:alpha val="10000"/>
              </a:srgbClr>
            </a:outerShdw>
          </a:effectLst>
        </p:spPr>
      </p:sp>
      <p:sp>
        <p:nvSpPr>
          <p:cNvPr id="20" name="Shape 18"/>
          <p:cNvSpPr/>
          <p:nvPr/>
        </p:nvSpPr>
        <p:spPr>
          <a:xfrm>
            <a:off x="6236208" y="1024128"/>
            <a:ext cx="329184" cy="256032"/>
          </a:xfrm>
          <a:prstGeom prst="roundRect">
            <a:avLst>
              <a:gd name="adj" fmla="val 14286"/>
            </a:avLst>
          </a:prstGeom>
          <a:solidFill>
            <a:srgbClr val="1B3A6B"/>
          </a:solidFill>
          <a:ln w="12700">
            <a:solidFill>
              <a:srgbClr val="1B3A6B"/>
            </a:solidFill>
            <a:prstDash val="solid"/>
          </a:ln>
        </p:spPr>
      </p:sp>
      <p:sp>
        <p:nvSpPr>
          <p:cNvPr id="21" name="Text 19"/>
          <p:cNvSpPr/>
          <p:nvPr/>
        </p:nvSpPr>
        <p:spPr>
          <a:xfrm>
            <a:off x="6236208" y="1024128"/>
            <a:ext cx="329184"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R3</a:t>
            </a:r>
            <a:endParaRPr lang="en-US" sz="850" dirty="0"/>
          </a:p>
        </p:txBody>
      </p:sp>
      <p:sp>
        <p:nvSpPr>
          <p:cNvPr id="22" name="Text 20"/>
          <p:cNvSpPr/>
          <p:nvPr/>
        </p:nvSpPr>
        <p:spPr>
          <a:xfrm>
            <a:off x="6638544" y="1005840"/>
            <a:ext cx="2167128" cy="310896"/>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Payment Retry Engine</a:t>
            </a:r>
            <a:endParaRPr lang="en-US" sz="1100" dirty="0"/>
          </a:p>
        </p:txBody>
      </p:sp>
      <p:sp>
        <p:nvSpPr>
          <p:cNvPr id="23" name="Text 21"/>
          <p:cNvSpPr/>
          <p:nvPr/>
        </p:nvSpPr>
        <p:spPr>
          <a:xfrm>
            <a:off x="6236208" y="1353312"/>
            <a:ext cx="2569464" cy="768096"/>
          </a:xfrm>
          <a:prstGeom prst="rect">
            <a:avLst/>
          </a:prstGeom>
          <a:noFill/>
          <a:ln/>
        </p:spPr>
        <p:txBody>
          <a:bodyPr wrap="square" lIns="0" tIns="0" rIns="0" bIns="0" rtlCol="0" anchor="t"/>
          <a:lstStyle/>
          <a:p>
            <a:pPr indent="0" marL="0">
              <a:buNone/>
            </a:pPr>
            <a:r>
              <a:rPr lang="en-US" sz="850" dirty="0">
                <a:solidFill>
                  <a:srgbClr val="64748B"/>
                </a:solidFill>
                <a:latin typeface="Calibri" pitchFamily="34" charset="0"/>
                <a:ea typeface="Calibri" pitchFamily="34" charset="-122"/>
                <a:cs typeface="Calibri" pitchFamily="34" charset="-120"/>
              </a:rPr>
              <a:t>7.5% of bookings fail at checkout. Smart retry + UPI integration recovers 30–40% of these.</a:t>
            </a:r>
            <a:endParaRPr lang="en-US" sz="850" dirty="0"/>
          </a:p>
        </p:txBody>
      </p:sp>
      <p:sp>
        <p:nvSpPr>
          <p:cNvPr id="24" name="Text 22"/>
          <p:cNvSpPr/>
          <p:nvPr/>
        </p:nvSpPr>
        <p:spPr>
          <a:xfrm>
            <a:off x="6236208" y="2148840"/>
            <a:ext cx="2569464" cy="256032"/>
          </a:xfrm>
          <a:prstGeom prst="rect">
            <a:avLst/>
          </a:prstGeom>
          <a:noFill/>
          <a:ln/>
        </p:spPr>
        <p:txBody>
          <a:bodyPr wrap="square" lIns="0" tIns="0" rIns="0" bIns="0" rtlCol="0" anchor="ctr"/>
          <a:lstStyle/>
          <a:p>
            <a:pPr indent="0" marL="0">
              <a:buNone/>
            </a:pPr>
            <a:r>
              <a:rPr lang="en-US" sz="850" b="1" dirty="0">
                <a:solidFill>
                  <a:srgbClr val="1B3A6B"/>
                </a:solidFill>
                <a:latin typeface="Calibri" pitchFamily="34" charset="0"/>
                <a:ea typeface="Calibri" pitchFamily="34" charset="-122"/>
                <a:cs typeface="Calibri" pitchFamily="34" charset="-120"/>
              </a:rPr>
              <a:t>Expected: +₹15–20M annual revenue</a:t>
            </a:r>
            <a:endParaRPr lang="en-US" sz="850" dirty="0"/>
          </a:p>
        </p:txBody>
      </p:sp>
      <p:sp>
        <p:nvSpPr>
          <p:cNvPr id="25" name="Text 23"/>
          <p:cNvSpPr/>
          <p:nvPr/>
        </p:nvSpPr>
        <p:spPr>
          <a:xfrm>
            <a:off x="6236208" y="2423160"/>
            <a:ext cx="2569464" cy="25603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Effort: Medium</a:t>
            </a:r>
            <a:endParaRPr lang="en-US" sz="800" dirty="0"/>
          </a:p>
        </p:txBody>
      </p:sp>
      <p:sp>
        <p:nvSpPr>
          <p:cNvPr id="26" name="Shape 24"/>
          <p:cNvSpPr/>
          <p:nvPr/>
        </p:nvSpPr>
        <p:spPr>
          <a:xfrm>
            <a:off x="182880" y="3017520"/>
            <a:ext cx="2788920" cy="1938528"/>
          </a:xfrm>
          <a:prstGeom prst="roundRect">
            <a:avLst>
              <a:gd name="adj" fmla="val 3302"/>
            </a:avLst>
          </a:prstGeom>
          <a:solidFill>
            <a:srgbClr val="F0FDF4"/>
          </a:solidFill>
          <a:ln w="12700">
            <a:solidFill>
              <a:srgbClr val="E2E8F0"/>
            </a:solidFill>
            <a:prstDash val="solid"/>
          </a:ln>
          <a:effectLst>
            <a:outerShdw sx="100000" sy="100000" kx="0" ky="0" algn="bl" rotWithShape="0" blurRad="101600" dist="25400" dir="2700000">
              <a:srgbClr val="000000">
                <a:alpha val="10000"/>
              </a:srgbClr>
            </a:outerShdw>
          </a:effectLst>
        </p:spPr>
      </p:sp>
      <p:sp>
        <p:nvSpPr>
          <p:cNvPr id="27" name="Shape 25"/>
          <p:cNvSpPr/>
          <p:nvPr/>
        </p:nvSpPr>
        <p:spPr>
          <a:xfrm>
            <a:off x="292608" y="3127248"/>
            <a:ext cx="329184" cy="256032"/>
          </a:xfrm>
          <a:prstGeom prst="roundRect">
            <a:avLst>
              <a:gd name="adj" fmla="val 14286"/>
            </a:avLst>
          </a:prstGeom>
          <a:solidFill>
            <a:srgbClr val="0D9488"/>
          </a:solidFill>
          <a:ln w="12700">
            <a:solidFill>
              <a:srgbClr val="0D9488"/>
            </a:solidFill>
            <a:prstDash val="solid"/>
          </a:ln>
        </p:spPr>
      </p:sp>
      <p:sp>
        <p:nvSpPr>
          <p:cNvPr id="28" name="Text 26"/>
          <p:cNvSpPr/>
          <p:nvPr/>
        </p:nvSpPr>
        <p:spPr>
          <a:xfrm>
            <a:off x="292608" y="3127248"/>
            <a:ext cx="329184"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R4</a:t>
            </a:r>
            <a:endParaRPr lang="en-US" sz="850" dirty="0"/>
          </a:p>
        </p:txBody>
      </p:sp>
      <p:sp>
        <p:nvSpPr>
          <p:cNvPr id="29" name="Text 27"/>
          <p:cNvSpPr/>
          <p:nvPr/>
        </p:nvSpPr>
        <p:spPr>
          <a:xfrm>
            <a:off x="694944" y="3108960"/>
            <a:ext cx="2167128" cy="310896"/>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Suite Upsell Prompts</a:t>
            </a:r>
            <a:endParaRPr lang="en-US" sz="1100" dirty="0"/>
          </a:p>
        </p:txBody>
      </p:sp>
      <p:sp>
        <p:nvSpPr>
          <p:cNvPr id="30" name="Text 28"/>
          <p:cNvSpPr/>
          <p:nvPr/>
        </p:nvSpPr>
        <p:spPr>
          <a:xfrm>
            <a:off x="292608" y="3456432"/>
            <a:ext cx="2569464" cy="768096"/>
          </a:xfrm>
          <a:prstGeom prst="rect">
            <a:avLst/>
          </a:prstGeom>
          <a:noFill/>
          <a:ln/>
        </p:spPr>
        <p:txBody>
          <a:bodyPr wrap="square" lIns="0" tIns="0" rIns="0" bIns="0" rtlCol="0" anchor="t"/>
          <a:lstStyle/>
          <a:p>
            <a:pPr indent="0" marL="0">
              <a:buNone/>
            </a:pPr>
            <a:r>
              <a:rPr lang="en-US" sz="850" dirty="0">
                <a:solidFill>
                  <a:srgbClr val="64748B"/>
                </a:solidFill>
                <a:latin typeface="Calibri" pitchFamily="34" charset="0"/>
                <a:ea typeface="Calibri" pitchFamily="34" charset="-122"/>
                <a:cs typeface="Calibri" pitchFamily="34" charset="-120"/>
              </a:rPr>
              <a:t>Suites yield ₹9,800 avg profit vs ₹5,900 for Standard. Post-confirmation upgrade nudge at ₹500–800 increment.</a:t>
            </a:r>
            <a:endParaRPr lang="en-US" sz="850" dirty="0"/>
          </a:p>
        </p:txBody>
      </p:sp>
      <p:sp>
        <p:nvSpPr>
          <p:cNvPr id="31" name="Text 29"/>
          <p:cNvSpPr/>
          <p:nvPr/>
        </p:nvSpPr>
        <p:spPr>
          <a:xfrm>
            <a:off x="292608" y="4251960"/>
            <a:ext cx="2569464" cy="256032"/>
          </a:xfrm>
          <a:prstGeom prst="rect">
            <a:avLst/>
          </a:prstGeom>
          <a:noFill/>
          <a:ln/>
        </p:spPr>
        <p:txBody>
          <a:bodyPr wrap="square" lIns="0" tIns="0" rIns="0" bIns="0" rtlCol="0" anchor="ctr"/>
          <a:lstStyle/>
          <a:p>
            <a:pPr indent="0" marL="0">
              <a:buNone/>
            </a:pPr>
            <a:r>
              <a:rPr lang="en-US" sz="850" b="1" dirty="0">
                <a:solidFill>
                  <a:srgbClr val="0D9488"/>
                </a:solidFill>
                <a:latin typeface="Calibri" pitchFamily="34" charset="0"/>
                <a:ea typeface="Calibri" pitchFamily="34" charset="-122"/>
                <a:cs typeface="Calibri" pitchFamily="34" charset="-120"/>
              </a:rPr>
              <a:t>Expected: +₹6–10M annual profit</a:t>
            </a:r>
            <a:endParaRPr lang="en-US" sz="850" dirty="0"/>
          </a:p>
        </p:txBody>
      </p:sp>
      <p:sp>
        <p:nvSpPr>
          <p:cNvPr id="32" name="Text 30"/>
          <p:cNvSpPr/>
          <p:nvPr/>
        </p:nvSpPr>
        <p:spPr>
          <a:xfrm>
            <a:off x="292608" y="4526280"/>
            <a:ext cx="2569464" cy="25603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Effort: Low</a:t>
            </a:r>
            <a:endParaRPr lang="en-US" sz="800" dirty="0"/>
          </a:p>
        </p:txBody>
      </p:sp>
      <p:sp>
        <p:nvSpPr>
          <p:cNvPr id="33" name="Shape 31"/>
          <p:cNvSpPr/>
          <p:nvPr/>
        </p:nvSpPr>
        <p:spPr>
          <a:xfrm>
            <a:off x="3154680" y="3017520"/>
            <a:ext cx="2788920" cy="1938528"/>
          </a:xfrm>
          <a:prstGeom prst="roundRect">
            <a:avLst>
              <a:gd name="adj" fmla="val 3302"/>
            </a:avLst>
          </a:prstGeom>
          <a:solidFill>
            <a:srgbClr val="F5F3FF"/>
          </a:solidFill>
          <a:ln w="12700">
            <a:solidFill>
              <a:srgbClr val="E2E8F0"/>
            </a:solidFill>
            <a:prstDash val="solid"/>
          </a:ln>
          <a:effectLst>
            <a:outerShdw sx="100000" sy="100000" kx="0" ky="0" algn="bl" rotWithShape="0" blurRad="101600" dist="25400" dir="2700000">
              <a:srgbClr val="000000">
                <a:alpha val="10000"/>
              </a:srgbClr>
            </a:outerShdw>
          </a:effectLst>
        </p:spPr>
      </p:sp>
      <p:sp>
        <p:nvSpPr>
          <p:cNvPr id="34" name="Shape 32"/>
          <p:cNvSpPr/>
          <p:nvPr/>
        </p:nvSpPr>
        <p:spPr>
          <a:xfrm>
            <a:off x="3264408" y="3127248"/>
            <a:ext cx="329184" cy="256032"/>
          </a:xfrm>
          <a:prstGeom prst="roundRect">
            <a:avLst>
              <a:gd name="adj" fmla="val 14286"/>
            </a:avLst>
          </a:prstGeom>
          <a:solidFill>
            <a:srgbClr val="7C3AED"/>
          </a:solidFill>
          <a:ln w="12700">
            <a:solidFill>
              <a:srgbClr val="7C3AED"/>
            </a:solidFill>
            <a:prstDash val="solid"/>
          </a:ln>
        </p:spPr>
      </p:sp>
      <p:sp>
        <p:nvSpPr>
          <p:cNvPr id="35" name="Text 33"/>
          <p:cNvSpPr/>
          <p:nvPr/>
        </p:nvSpPr>
        <p:spPr>
          <a:xfrm>
            <a:off x="3264408" y="3127248"/>
            <a:ext cx="329184"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R5</a:t>
            </a:r>
            <a:endParaRPr lang="en-US" sz="850" dirty="0"/>
          </a:p>
        </p:txBody>
      </p:sp>
      <p:sp>
        <p:nvSpPr>
          <p:cNvPr id="36" name="Text 34"/>
          <p:cNvSpPr/>
          <p:nvPr/>
        </p:nvSpPr>
        <p:spPr>
          <a:xfrm>
            <a:off x="3666744" y="3108960"/>
            <a:ext cx="2167128" cy="310896"/>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5-Star Premium Campaigns</a:t>
            </a:r>
            <a:endParaRPr lang="en-US" sz="1100" dirty="0"/>
          </a:p>
        </p:txBody>
      </p:sp>
      <p:sp>
        <p:nvSpPr>
          <p:cNvPr id="37" name="Text 35"/>
          <p:cNvSpPr/>
          <p:nvPr/>
        </p:nvSpPr>
        <p:spPr>
          <a:xfrm>
            <a:off x="3264408" y="3456432"/>
            <a:ext cx="2569464" cy="768096"/>
          </a:xfrm>
          <a:prstGeom prst="rect">
            <a:avLst/>
          </a:prstGeom>
          <a:noFill/>
          <a:ln/>
        </p:spPr>
        <p:txBody>
          <a:bodyPr wrap="square" lIns="0" tIns="0" rIns="0" bIns="0" rtlCol="0" anchor="t"/>
          <a:lstStyle/>
          <a:p>
            <a:pPr indent="0" marL="0">
              <a:buNone/>
            </a:pPr>
            <a:r>
              <a:rPr lang="en-US" sz="850" dirty="0">
                <a:solidFill>
                  <a:srgbClr val="64748B"/>
                </a:solidFill>
                <a:latin typeface="Calibri" pitchFamily="34" charset="0"/>
                <a:ea typeface="Calibri" pitchFamily="34" charset="-122"/>
                <a:cs typeface="Calibri" pitchFamily="34" charset="-120"/>
              </a:rPr>
              <a:t>5★ = highest margin but only 15% of bookings. Homepage carousel + email targeting to high-LTV customers.</a:t>
            </a:r>
            <a:endParaRPr lang="en-US" sz="850" dirty="0"/>
          </a:p>
        </p:txBody>
      </p:sp>
      <p:sp>
        <p:nvSpPr>
          <p:cNvPr id="38" name="Text 36"/>
          <p:cNvSpPr/>
          <p:nvPr/>
        </p:nvSpPr>
        <p:spPr>
          <a:xfrm>
            <a:off x="3264408" y="4251960"/>
            <a:ext cx="2569464" cy="256032"/>
          </a:xfrm>
          <a:prstGeom prst="rect">
            <a:avLst/>
          </a:prstGeom>
          <a:noFill/>
          <a:ln/>
        </p:spPr>
        <p:txBody>
          <a:bodyPr wrap="square" lIns="0" tIns="0" rIns="0" bIns="0" rtlCol="0" anchor="ctr"/>
          <a:lstStyle/>
          <a:p>
            <a:pPr indent="0" marL="0">
              <a:buNone/>
            </a:pPr>
            <a:r>
              <a:rPr lang="en-US" sz="850" b="1" dirty="0">
                <a:solidFill>
                  <a:srgbClr val="7C3AED"/>
                </a:solidFill>
                <a:latin typeface="Calibri" pitchFamily="34" charset="0"/>
                <a:ea typeface="Calibri" pitchFamily="34" charset="-122"/>
                <a:cs typeface="Calibri" pitchFamily="34" charset="-120"/>
              </a:rPr>
              <a:t>Expected: +₹12–18M annual profit</a:t>
            </a:r>
            <a:endParaRPr lang="en-US" sz="850" dirty="0"/>
          </a:p>
        </p:txBody>
      </p:sp>
      <p:sp>
        <p:nvSpPr>
          <p:cNvPr id="39" name="Text 37"/>
          <p:cNvSpPr/>
          <p:nvPr/>
        </p:nvSpPr>
        <p:spPr>
          <a:xfrm>
            <a:off x="3264408" y="4526280"/>
            <a:ext cx="2569464" cy="25603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Effort: Low</a:t>
            </a:r>
            <a:endParaRPr lang="en-US" sz="800" dirty="0"/>
          </a:p>
        </p:txBody>
      </p:sp>
      <p:sp>
        <p:nvSpPr>
          <p:cNvPr id="40" name="Shape 38"/>
          <p:cNvSpPr/>
          <p:nvPr/>
        </p:nvSpPr>
        <p:spPr>
          <a:xfrm>
            <a:off x="6126480" y="3017520"/>
            <a:ext cx="2788920" cy="1938528"/>
          </a:xfrm>
          <a:prstGeom prst="roundRect">
            <a:avLst>
              <a:gd name="adj" fmla="val 3302"/>
            </a:avLst>
          </a:prstGeom>
          <a:solidFill>
            <a:srgbClr val="F0F9FF"/>
          </a:solidFill>
          <a:ln w="12700">
            <a:solidFill>
              <a:srgbClr val="E2E8F0"/>
            </a:solidFill>
            <a:prstDash val="solid"/>
          </a:ln>
          <a:effectLst>
            <a:outerShdw sx="100000" sy="100000" kx="0" ky="0" algn="bl" rotWithShape="0" blurRad="101600" dist="25400" dir="2700000">
              <a:srgbClr val="000000">
                <a:alpha val="10000"/>
              </a:srgbClr>
            </a:outerShdw>
          </a:effectLst>
        </p:spPr>
      </p:sp>
      <p:sp>
        <p:nvSpPr>
          <p:cNvPr id="41" name="Shape 39"/>
          <p:cNvSpPr/>
          <p:nvPr/>
        </p:nvSpPr>
        <p:spPr>
          <a:xfrm>
            <a:off x="6236208" y="3127248"/>
            <a:ext cx="329184" cy="256032"/>
          </a:xfrm>
          <a:prstGeom prst="roundRect">
            <a:avLst>
              <a:gd name="adj" fmla="val 14286"/>
            </a:avLst>
          </a:prstGeom>
          <a:solidFill>
            <a:srgbClr val="0A1628"/>
          </a:solidFill>
          <a:ln w="12700">
            <a:solidFill>
              <a:srgbClr val="0A1628"/>
            </a:solidFill>
            <a:prstDash val="solid"/>
          </a:ln>
        </p:spPr>
      </p:sp>
      <p:sp>
        <p:nvSpPr>
          <p:cNvPr id="42" name="Text 40"/>
          <p:cNvSpPr/>
          <p:nvPr/>
        </p:nvSpPr>
        <p:spPr>
          <a:xfrm>
            <a:off x="6236208" y="3127248"/>
            <a:ext cx="329184"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R6</a:t>
            </a:r>
            <a:endParaRPr lang="en-US" sz="850" dirty="0"/>
          </a:p>
        </p:txBody>
      </p:sp>
      <p:sp>
        <p:nvSpPr>
          <p:cNvPr id="43" name="Text 41"/>
          <p:cNvSpPr/>
          <p:nvPr/>
        </p:nvSpPr>
        <p:spPr>
          <a:xfrm>
            <a:off x="6638544" y="3108960"/>
            <a:ext cx="2167128" cy="310896"/>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VIP Loyalty Programme</a:t>
            </a:r>
            <a:endParaRPr lang="en-US" sz="1100" dirty="0"/>
          </a:p>
        </p:txBody>
      </p:sp>
      <p:sp>
        <p:nvSpPr>
          <p:cNvPr id="44" name="Text 42"/>
          <p:cNvSpPr/>
          <p:nvPr/>
        </p:nvSpPr>
        <p:spPr>
          <a:xfrm>
            <a:off x="6236208" y="3456432"/>
            <a:ext cx="2569464" cy="768096"/>
          </a:xfrm>
          <a:prstGeom prst="rect">
            <a:avLst/>
          </a:prstGeom>
          <a:noFill/>
          <a:ln/>
        </p:spPr>
        <p:txBody>
          <a:bodyPr wrap="square" lIns="0" tIns="0" rIns="0" bIns="0" rtlCol="0" anchor="t"/>
          <a:lstStyle/>
          <a:p>
            <a:pPr indent="0" marL="0">
              <a:buNone/>
            </a:pPr>
            <a:r>
              <a:rPr lang="en-US" sz="850" dirty="0">
                <a:solidFill>
                  <a:srgbClr val="64748B"/>
                </a:solidFill>
                <a:latin typeface="Calibri" pitchFamily="34" charset="0"/>
                <a:ea typeface="Calibri" pitchFamily="34" charset="-122"/>
                <a:cs typeface="Calibri" pitchFamily="34" charset="-120"/>
              </a:rPr>
              <a:t>100% repeat base. Structured Silver/Gold/Platinum tiers increase booking frequency and average order value.</a:t>
            </a:r>
            <a:endParaRPr lang="en-US" sz="850" dirty="0"/>
          </a:p>
        </p:txBody>
      </p:sp>
      <p:sp>
        <p:nvSpPr>
          <p:cNvPr id="45" name="Text 43"/>
          <p:cNvSpPr/>
          <p:nvPr/>
        </p:nvSpPr>
        <p:spPr>
          <a:xfrm>
            <a:off x="6236208" y="4251960"/>
            <a:ext cx="2569464" cy="256032"/>
          </a:xfrm>
          <a:prstGeom prst="rect">
            <a:avLst/>
          </a:prstGeom>
          <a:noFill/>
          <a:ln/>
        </p:spPr>
        <p:txBody>
          <a:bodyPr wrap="square" lIns="0" tIns="0" rIns="0" bIns="0" rtlCol="0" anchor="ctr"/>
          <a:lstStyle/>
          <a:p>
            <a:pPr indent="0" marL="0">
              <a:buNone/>
            </a:pPr>
            <a:r>
              <a:rPr lang="en-US" sz="850" b="1" dirty="0">
                <a:solidFill>
                  <a:srgbClr val="0A1628"/>
                </a:solidFill>
                <a:latin typeface="Calibri" pitchFamily="34" charset="0"/>
                <a:ea typeface="Calibri" pitchFamily="34" charset="-122"/>
                <a:cs typeface="Calibri" pitchFamily="34" charset="-120"/>
              </a:rPr>
              <a:t>Expected: +1.5× booking frequency</a:t>
            </a:r>
            <a:endParaRPr lang="en-US" sz="850" dirty="0"/>
          </a:p>
        </p:txBody>
      </p:sp>
      <p:sp>
        <p:nvSpPr>
          <p:cNvPr id="46" name="Text 44"/>
          <p:cNvSpPr/>
          <p:nvPr/>
        </p:nvSpPr>
        <p:spPr>
          <a:xfrm>
            <a:off x="6236208" y="4526280"/>
            <a:ext cx="2569464" cy="25603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Effort: Medium</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w="12700">
            <a:solidFill>
              <a:srgbClr val="0A1628"/>
            </a:solidFill>
            <a:prstDash val="solid"/>
          </a:ln>
        </p:spPr>
      </p:sp>
      <p:sp>
        <p:nvSpPr>
          <p:cNvPr id="3" name="Text 1"/>
          <p:cNvSpPr/>
          <p:nvPr/>
        </p:nvSpPr>
        <p:spPr>
          <a:xfrm>
            <a:off x="457200" y="73152"/>
            <a:ext cx="6400800" cy="292608"/>
          </a:xfrm>
          <a:prstGeom prst="rect">
            <a:avLst/>
          </a:prstGeom>
          <a:noFill/>
          <a:ln/>
        </p:spPr>
        <p:txBody>
          <a:bodyPr wrap="square" lIns="0" tIns="0" rIns="0" bIns="0" rtlCol="0" anchor="ctr"/>
          <a:lstStyle/>
          <a:p>
            <a:pPr indent="0" marL="0">
              <a:buNone/>
            </a:pPr>
            <a:r>
              <a:rPr lang="en-US" sz="1000" b="1" spc="300" kern="0" dirty="0">
                <a:solidFill>
                  <a:srgbClr val="14B8A6"/>
                </a:solidFill>
                <a:latin typeface="Calibri" pitchFamily="34" charset="0"/>
                <a:ea typeface="Calibri" pitchFamily="34" charset="-122"/>
                <a:cs typeface="Calibri" pitchFamily="34" charset="-120"/>
              </a:rPr>
              <a:t>PRIORITISATION MATRIX</a:t>
            </a:r>
            <a:endParaRPr lang="en-US" sz="1000" dirty="0"/>
          </a:p>
        </p:txBody>
      </p:sp>
      <p:sp>
        <p:nvSpPr>
          <p:cNvPr id="4" name="Text 2"/>
          <p:cNvSpPr/>
          <p:nvPr/>
        </p:nvSpPr>
        <p:spPr>
          <a:xfrm>
            <a:off x="457200" y="347472"/>
            <a:ext cx="8229600" cy="347472"/>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What Leadership Should Execute — and In What Order</a:t>
            </a:r>
            <a:endParaRPr lang="en-US" sz="1800" dirty="0"/>
          </a:p>
        </p:txBody>
      </p:sp>
      <p:sp>
        <p:nvSpPr>
          <p:cNvPr id="5" name="Shape 3"/>
          <p:cNvSpPr/>
          <p:nvPr/>
        </p:nvSpPr>
        <p:spPr>
          <a:xfrm>
            <a:off x="457200" y="868680"/>
            <a:ext cx="4114800" cy="4023360"/>
          </a:xfrm>
          <a:prstGeom prst="rect">
            <a:avLst/>
          </a:prstGeom>
          <a:solidFill>
            <a:srgbClr val="F0FDF4">
              <a:alpha val="80000"/>
            </a:srgbClr>
          </a:solidFill>
          <a:ln w="12700">
            <a:solidFill>
              <a:srgbClr val="E2E8F0"/>
            </a:solidFill>
            <a:prstDash val="solid"/>
          </a:ln>
        </p:spPr>
      </p:sp>
      <p:sp>
        <p:nvSpPr>
          <p:cNvPr id="6" name="Shape 4"/>
          <p:cNvSpPr/>
          <p:nvPr/>
        </p:nvSpPr>
        <p:spPr>
          <a:xfrm>
            <a:off x="4572000" y="868680"/>
            <a:ext cx="4114800" cy="4023360"/>
          </a:xfrm>
          <a:prstGeom prst="rect">
            <a:avLst/>
          </a:prstGeom>
          <a:solidFill>
            <a:srgbClr val="FFF7ED">
              <a:alpha val="80000"/>
            </a:srgbClr>
          </a:solidFill>
          <a:ln w="12700">
            <a:solidFill>
              <a:srgbClr val="E2E8F0"/>
            </a:solidFill>
            <a:prstDash val="solid"/>
          </a:ln>
        </p:spPr>
      </p:sp>
      <p:sp>
        <p:nvSpPr>
          <p:cNvPr id="7" name="Text 5"/>
          <p:cNvSpPr/>
          <p:nvPr/>
        </p:nvSpPr>
        <p:spPr>
          <a:xfrm>
            <a:off x="548640" y="914400"/>
            <a:ext cx="3931920" cy="256032"/>
          </a:xfrm>
          <a:prstGeom prst="rect">
            <a:avLst/>
          </a:prstGeom>
          <a:noFill/>
          <a:ln/>
        </p:spPr>
        <p:txBody>
          <a:bodyPr wrap="square" lIns="0" tIns="0" rIns="0" bIns="0" rtlCol="0" anchor="ctr"/>
          <a:lstStyle/>
          <a:p>
            <a:pPr indent="0" marL="0">
              <a:buNone/>
            </a:pPr>
            <a:r>
              <a:rPr lang="en-US" sz="900" b="1" spc="150" kern="0" dirty="0">
                <a:solidFill>
                  <a:srgbClr val="0D9488"/>
                </a:solidFill>
                <a:latin typeface="Calibri" pitchFamily="34" charset="0"/>
                <a:ea typeface="Calibri" pitchFamily="34" charset="-122"/>
                <a:cs typeface="Calibri" pitchFamily="34" charset="-120"/>
              </a:rPr>
              <a:t>HIGH IMPACT  /  LOW EFFORT</a:t>
            </a:r>
            <a:endParaRPr lang="en-US" sz="900" dirty="0"/>
          </a:p>
        </p:txBody>
      </p:sp>
      <p:sp>
        <p:nvSpPr>
          <p:cNvPr id="8" name="Text 6"/>
          <p:cNvSpPr/>
          <p:nvPr/>
        </p:nvSpPr>
        <p:spPr>
          <a:xfrm>
            <a:off x="548640" y="1170432"/>
            <a:ext cx="3931920"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 Execute Now</a:t>
            </a:r>
            <a:endParaRPr lang="en-US" sz="850" dirty="0"/>
          </a:p>
        </p:txBody>
      </p:sp>
      <p:sp>
        <p:nvSpPr>
          <p:cNvPr id="9" name="Text 7"/>
          <p:cNvSpPr/>
          <p:nvPr/>
        </p:nvSpPr>
        <p:spPr>
          <a:xfrm>
            <a:off x="4663440" y="914400"/>
            <a:ext cx="3931920" cy="256032"/>
          </a:xfrm>
          <a:prstGeom prst="rect">
            <a:avLst/>
          </a:prstGeom>
          <a:noFill/>
          <a:ln/>
        </p:spPr>
        <p:txBody>
          <a:bodyPr wrap="square" lIns="0" tIns="0" rIns="0" bIns="0" rtlCol="0" anchor="ctr"/>
          <a:lstStyle/>
          <a:p>
            <a:pPr indent="0" marL="0">
              <a:buNone/>
            </a:pPr>
            <a:r>
              <a:rPr lang="en-US" sz="900" b="1" spc="150" kern="0" dirty="0">
                <a:solidFill>
                  <a:srgbClr val="F18F01"/>
                </a:solidFill>
                <a:latin typeface="Calibri" pitchFamily="34" charset="0"/>
                <a:ea typeface="Calibri" pitchFamily="34" charset="-122"/>
                <a:cs typeface="Calibri" pitchFamily="34" charset="-120"/>
              </a:rPr>
              <a:t>HIGH IMPACT  /  HIGH EFFORT</a:t>
            </a:r>
            <a:endParaRPr lang="en-US" sz="900" dirty="0"/>
          </a:p>
        </p:txBody>
      </p:sp>
      <p:sp>
        <p:nvSpPr>
          <p:cNvPr id="10" name="Text 8"/>
          <p:cNvSpPr/>
          <p:nvPr/>
        </p:nvSpPr>
        <p:spPr>
          <a:xfrm>
            <a:off x="4663440" y="1170432"/>
            <a:ext cx="3931920"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 Plan &amp; Invest</a:t>
            </a:r>
            <a:endParaRPr lang="en-US" sz="850" dirty="0"/>
          </a:p>
        </p:txBody>
      </p:sp>
      <p:sp>
        <p:nvSpPr>
          <p:cNvPr id="11" name="Shape 9"/>
          <p:cNvSpPr/>
          <p:nvPr/>
        </p:nvSpPr>
        <p:spPr>
          <a:xfrm>
            <a:off x="566928" y="1481328"/>
            <a:ext cx="3858768" cy="566928"/>
          </a:xfrm>
          <a:prstGeom prst="roundRect">
            <a:avLst>
              <a:gd name="adj" fmla="val 8065"/>
            </a:avLst>
          </a:prstGeom>
          <a:solidFill>
            <a:srgbClr val="CCFBF1"/>
          </a:solidFill>
          <a:ln w="12700">
            <a:solidFill>
              <a:srgbClr val="E2E8F0"/>
            </a:solidFill>
            <a:prstDash val="solid"/>
          </a:ln>
          <a:effectLst>
            <a:outerShdw sx="100000" sy="100000" kx="0" ky="0" algn="bl" rotWithShape="0" blurRad="101600" dist="25400" dir="2700000">
              <a:srgbClr val="000000">
                <a:alpha val="10000"/>
              </a:srgbClr>
            </a:outerShdw>
          </a:effectLst>
        </p:spPr>
      </p:sp>
      <p:sp>
        <p:nvSpPr>
          <p:cNvPr id="12" name="Text 10"/>
          <p:cNvSpPr/>
          <p:nvPr/>
        </p:nvSpPr>
        <p:spPr>
          <a:xfrm>
            <a:off x="676656" y="1536192"/>
            <a:ext cx="3657600" cy="237744"/>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Non-Refundable Pricing Tier</a:t>
            </a:r>
            <a:endParaRPr lang="en-US" sz="1000" dirty="0"/>
          </a:p>
        </p:txBody>
      </p:sp>
      <p:sp>
        <p:nvSpPr>
          <p:cNvPr id="13" name="Text 11"/>
          <p:cNvSpPr/>
          <p:nvPr/>
        </p:nvSpPr>
        <p:spPr>
          <a:xfrm>
            <a:off x="676656" y="1783080"/>
            <a:ext cx="3657600" cy="201168"/>
          </a:xfrm>
          <a:prstGeom prst="rect">
            <a:avLst/>
          </a:prstGeom>
          <a:noFill/>
          <a:ln/>
        </p:spPr>
        <p:txBody>
          <a:bodyPr wrap="square" lIns="0" tIns="0" rIns="0" bIns="0" rtlCol="0" anchor="ctr"/>
          <a:lstStyle/>
          <a:p>
            <a:pPr indent="0" marL="0">
              <a:buNone/>
            </a:pPr>
            <a:r>
              <a:rPr lang="en-US" sz="850" b="1" dirty="0">
                <a:solidFill>
                  <a:srgbClr val="0D9488"/>
                </a:solidFill>
                <a:latin typeface="Calibri" pitchFamily="34" charset="0"/>
                <a:ea typeface="Calibri" pitchFamily="34" charset="-122"/>
                <a:cs typeface="Calibri" pitchFamily="34" charset="-120"/>
              </a:rPr>
              <a:t>↓ Cancel 20%→14%  |  ₹8–12M saved</a:t>
            </a:r>
            <a:endParaRPr lang="en-US" sz="850" dirty="0"/>
          </a:p>
        </p:txBody>
      </p:sp>
      <p:sp>
        <p:nvSpPr>
          <p:cNvPr id="14" name="Shape 12"/>
          <p:cNvSpPr/>
          <p:nvPr/>
        </p:nvSpPr>
        <p:spPr>
          <a:xfrm>
            <a:off x="566928" y="2148840"/>
            <a:ext cx="3858768" cy="566928"/>
          </a:xfrm>
          <a:prstGeom prst="roundRect">
            <a:avLst>
              <a:gd name="adj" fmla="val 8065"/>
            </a:avLst>
          </a:prstGeom>
          <a:solidFill>
            <a:srgbClr val="CCFBF1"/>
          </a:solidFill>
          <a:ln w="12700">
            <a:solidFill>
              <a:srgbClr val="E2E8F0"/>
            </a:solidFill>
            <a:prstDash val="solid"/>
          </a:ln>
          <a:effectLst>
            <a:outerShdw sx="100000" sy="100000" kx="0" ky="0" algn="bl" rotWithShape="0" blurRad="101600" dist="25400" dir="2700000">
              <a:srgbClr val="000000">
                <a:alpha val="10000"/>
              </a:srgbClr>
            </a:outerShdw>
          </a:effectLst>
        </p:spPr>
      </p:sp>
      <p:sp>
        <p:nvSpPr>
          <p:cNvPr id="15" name="Text 13"/>
          <p:cNvSpPr/>
          <p:nvPr/>
        </p:nvSpPr>
        <p:spPr>
          <a:xfrm>
            <a:off x="676656" y="2203704"/>
            <a:ext cx="3657600" cy="237744"/>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Suite Upsell Prompts</a:t>
            </a:r>
            <a:endParaRPr lang="en-US" sz="1000" dirty="0"/>
          </a:p>
        </p:txBody>
      </p:sp>
      <p:sp>
        <p:nvSpPr>
          <p:cNvPr id="16" name="Text 14"/>
          <p:cNvSpPr/>
          <p:nvPr/>
        </p:nvSpPr>
        <p:spPr>
          <a:xfrm>
            <a:off x="676656" y="2450592"/>
            <a:ext cx="3657600" cy="201168"/>
          </a:xfrm>
          <a:prstGeom prst="rect">
            <a:avLst/>
          </a:prstGeom>
          <a:noFill/>
          <a:ln/>
        </p:spPr>
        <p:txBody>
          <a:bodyPr wrap="square" lIns="0" tIns="0" rIns="0" bIns="0" rtlCol="0" anchor="ctr"/>
          <a:lstStyle/>
          <a:p>
            <a:pPr indent="0" marL="0">
              <a:buNone/>
            </a:pPr>
            <a:r>
              <a:rPr lang="en-US" sz="850" b="1" dirty="0">
                <a:solidFill>
                  <a:srgbClr val="0D9488"/>
                </a:solidFill>
                <a:latin typeface="Calibri" pitchFamily="34" charset="0"/>
                <a:ea typeface="Calibri" pitchFamily="34" charset="-122"/>
                <a:cs typeface="Calibri" pitchFamily="34" charset="-120"/>
              </a:rPr>
              <a:t>↑ Avg Profit ₹6,963→₹8,200+</a:t>
            </a:r>
            <a:endParaRPr lang="en-US" sz="850" dirty="0"/>
          </a:p>
        </p:txBody>
      </p:sp>
      <p:sp>
        <p:nvSpPr>
          <p:cNvPr id="17" name="Shape 15"/>
          <p:cNvSpPr/>
          <p:nvPr/>
        </p:nvSpPr>
        <p:spPr>
          <a:xfrm>
            <a:off x="566928" y="2816352"/>
            <a:ext cx="3858768" cy="566928"/>
          </a:xfrm>
          <a:prstGeom prst="roundRect">
            <a:avLst>
              <a:gd name="adj" fmla="val 8065"/>
            </a:avLst>
          </a:prstGeom>
          <a:solidFill>
            <a:srgbClr val="CCFBF1"/>
          </a:solidFill>
          <a:ln w="12700">
            <a:solidFill>
              <a:srgbClr val="E2E8F0"/>
            </a:solidFill>
            <a:prstDash val="solid"/>
          </a:ln>
          <a:effectLst>
            <a:outerShdw sx="100000" sy="100000" kx="0" ky="0" algn="bl" rotWithShape="0" blurRad="101600" dist="25400" dir="2700000">
              <a:srgbClr val="000000">
                <a:alpha val="10000"/>
              </a:srgbClr>
            </a:outerShdw>
          </a:effectLst>
        </p:spPr>
      </p:sp>
      <p:sp>
        <p:nvSpPr>
          <p:cNvPr id="18" name="Text 16"/>
          <p:cNvSpPr/>
          <p:nvPr/>
        </p:nvSpPr>
        <p:spPr>
          <a:xfrm>
            <a:off x="676656" y="2871216"/>
            <a:ext cx="3657600" cy="237744"/>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5-Star Premium Campaigns</a:t>
            </a:r>
            <a:endParaRPr lang="en-US" sz="1000" dirty="0"/>
          </a:p>
        </p:txBody>
      </p:sp>
      <p:sp>
        <p:nvSpPr>
          <p:cNvPr id="19" name="Text 17"/>
          <p:cNvSpPr/>
          <p:nvPr/>
        </p:nvSpPr>
        <p:spPr>
          <a:xfrm>
            <a:off x="676656" y="3118104"/>
            <a:ext cx="3657600" cy="201168"/>
          </a:xfrm>
          <a:prstGeom prst="rect">
            <a:avLst/>
          </a:prstGeom>
          <a:noFill/>
          <a:ln/>
        </p:spPr>
        <p:txBody>
          <a:bodyPr wrap="square" lIns="0" tIns="0" rIns="0" bIns="0" rtlCol="0" anchor="ctr"/>
          <a:lstStyle/>
          <a:p>
            <a:pPr indent="0" marL="0">
              <a:buNone/>
            </a:pPr>
            <a:r>
              <a:rPr lang="en-US" sz="850" b="1" dirty="0">
                <a:solidFill>
                  <a:srgbClr val="0D9488"/>
                </a:solidFill>
                <a:latin typeface="Calibri" pitchFamily="34" charset="0"/>
                <a:ea typeface="Calibri" pitchFamily="34" charset="-122"/>
                <a:cs typeface="Calibri" pitchFamily="34" charset="-120"/>
              </a:rPr>
              <a:t>+₹12–18M annual profit</a:t>
            </a:r>
            <a:endParaRPr lang="en-US" sz="850" dirty="0"/>
          </a:p>
        </p:txBody>
      </p:sp>
      <p:sp>
        <p:nvSpPr>
          <p:cNvPr id="20" name="Shape 18"/>
          <p:cNvSpPr/>
          <p:nvPr/>
        </p:nvSpPr>
        <p:spPr>
          <a:xfrm>
            <a:off x="566928" y="3493008"/>
            <a:ext cx="3858768" cy="566928"/>
          </a:xfrm>
          <a:prstGeom prst="roundRect">
            <a:avLst>
              <a:gd name="adj" fmla="val 8065"/>
            </a:avLst>
          </a:prstGeom>
          <a:solidFill>
            <a:srgbClr val="CCFBF1"/>
          </a:solidFill>
          <a:ln w="12700">
            <a:solidFill>
              <a:srgbClr val="E2E8F0"/>
            </a:solidFill>
            <a:prstDash val="solid"/>
          </a:ln>
          <a:effectLst>
            <a:outerShdw sx="100000" sy="100000" kx="0" ky="0" algn="bl" rotWithShape="0" blurRad="101600" dist="25400" dir="2700000">
              <a:srgbClr val="000000">
                <a:alpha val="10000"/>
              </a:srgbClr>
            </a:outerShdw>
          </a:effectLst>
        </p:spPr>
      </p:sp>
      <p:sp>
        <p:nvSpPr>
          <p:cNvPr id="21" name="Text 19"/>
          <p:cNvSpPr/>
          <p:nvPr/>
        </p:nvSpPr>
        <p:spPr>
          <a:xfrm>
            <a:off x="676656" y="3547872"/>
            <a:ext cx="3657600" cy="237744"/>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Re-engagement Emails</a:t>
            </a:r>
            <a:endParaRPr lang="en-US" sz="1000" dirty="0"/>
          </a:p>
        </p:txBody>
      </p:sp>
      <p:sp>
        <p:nvSpPr>
          <p:cNvPr id="22" name="Text 20"/>
          <p:cNvSpPr/>
          <p:nvPr/>
        </p:nvSpPr>
        <p:spPr>
          <a:xfrm>
            <a:off x="676656" y="3794760"/>
            <a:ext cx="3657600" cy="201168"/>
          </a:xfrm>
          <a:prstGeom prst="rect">
            <a:avLst/>
          </a:prstGeom>
          <a:noFill/>
          <a:ln/>
        </p:spPr>
        <p:txBody>
          <a:bodyPr wrap="square" lIns="0" tIns="0" rIns="0" bIns="0" rtlCol="0" anchor="ctr"/>
          <a:lstStyle/>
          <a:p>
            <a:pPr indent="0" marL="0">
              <a:buNone/>
            </a:pPr>
            <a:r>
              <a:rPr lang="en-US" sz="850" b="1" dirty="0">
                <a:solidFill>
                  <a:srgbClr val="0D9488"/>
                </a:solidFill>
                <a:latin typeface="Calibri" pitchFamily="34" charset="0"/>
                <a:ea typeface="Calibri" pitchFamily="34" charset="-122"/>
                <a:cs typeface="Calibri" pitchFamily="34" charset="-120"/>
              </a:rPr>
              <a:t>+1.3× booking frequency</a:t>
            </a:r>
            <a:endParaRPr lang="en-US" sz="850" dirty="0"/>
          </a:p>
        </p:txBody>
      </p:sp>
      <p:sp>
        <p:nvSpPr>
          <p:cNvPr id="23" name="Shape 21"/>
          <p:cNvSpPr/>
          <p:nvPr/>
        </p:nvSpPr>
        <p:spPr>
          <a:xfrm>
            <a:off x="4681728" y="1481328"/>
            <a:ext cx="3858768" cy="566928"/>
          </a:xfrm>
          <a:prstGeom prst="roundRect">
            <a:avLst>
              <a:gd name="adj" fmla="val 8065"/>
            </a:avLst>
          </a:prstGeom>
          <a:solidFill>
            <a:srgbClr val="FDE68A"/>
          </a:solidFill>
          <a:ln w="12700">
            <a:solidFill>
              <a:srgbClr val="E2E8F0"/>
            </a:solidFill>
            <a:prstDash val="solid"/>
          </a:ln>
          <a:effectLst>
            <a:outerShdw sx="100000" sy="100000" kx="0" ky="0" algn="bl" rotWithShape="0" blurRad="101600" dist="25400" dir="2700000">
              <a:srgbClr val="000000">
                <a:alpha val="10000"/>
              </a:srgbClr>
            </a:outerShdw>
          </a:effectLst>
        </p:spPr>
      </p:sp>
      <p:sp>
        <p:nvSpPr>
          <p:cNvPr id="24" name="Text 22"/>
          <p:cNvSpPr/>
          <p:nvPr/>
        </p:nvSpPr>
        <p:spPr>
          <a:xfrm>
            <a:off x="4791456" y="1536192"/>
            <a:ext cx="3657600" cy="237744"/>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Payment Retry Engine</a:t>
            </a:r>
            <a:endParaRPr lang="en-US" sz="1000" dirty="0"/>
          </a:p>
        </p:txBody>
      </p:sp>
      <p:sp>
        <p:nvSpPr>
          <p:cNvPr id="25" name="Text 23"/>
          <p:cNvSpPr/>
          <p:nvPr/>
        </p:nvSpPr>
        <p:spPr>
          <a:xfrm>
            <a:off x="4791456" y="1783080"/>
            <a:ext cx="3657600" cy="201168"/>
          </a:xfrm>
          <a:prstGeom prst="rect">
            <a:avLst/>
          </a:prstGeom>
          <a:noFill/>
          <a:ln/>
        </p:spPr>
        <p:txBody>
          <a:bodyPr wrap="square" lIns="0" tIns="0" rIns="0" bIns="0" rtlCol="0" anchor="ctr"/>
          <a:lstStyle/>
          <a:p>
            <a:pPr indent="0" marL="0">
              <a:buNone/>
            </a:pPr>
            <a:r>
              <a:rPr lang="en-US" sz="850" b="1" dirty="0">
                <a:solidFill>
                  <a:srgbClr val="F18F01"/>
                </a:solidFill>
                <a:latin typeface="Calibri" pitchFamily="34" charset="0"/>
                <a:ea typeface="Calibri" pitchFamily="34" charset="-122"/>
                <a:cs typeface="Calibri" pitchFamily="34" charset="-120"/>
              </a:rPr>
              <a:t>+₹15–20M revenue recovered</a:t>
            </a:r>
            <a:endParaRPr lang="en-US" sz="850" dirty="0"/>
          </a:p>
        </p:txBody>
      </p:sp>
      <p:sp>
        <p:nvSpPr>
          <p:cNvPr id="26" name="Shape 24"/>
          <p:cNvSpPr/>
          <p:nvPr/>
        </p:nvSpPr>
        <p:spPr>
          <a:xfrm>
            <a:off x="4681728" y="2148840"/>
            <a:ext cx="3858768" cy="566928"/>
          </a:xfrm>
          <a:prstGeom prst="roundRect">
            <a:avLst>
              <a:gd name="adj" fmla="val 8065"/>
            </a:avLst>
          </a:prstGeom>
          <a:solidFill>
            <a:srgbClr val="FDE68A"/>
          </a:solidFill>
          <a:ln w="12700">
            <a:solidFill>
              <a:srgbClr val="E2E8F0"/>
            </a:solidFill>
            <a:prstDash val="solid"/>
          </a:ln>
          <a:effectLst>
            <a:outerShdw sx="100000" sy="100000" kx="0" ky="0" algn="bl" rotWithShape="0" blurRad="101600" dist="25400" dir="2700000">
              <a:srgbClr val="000000">
                <a:alpha val="10000"/>
              </a:srgbClr>
            </a:outerShdw>
          </a:effectLst>
        </p:spPr>
      </p:sp>
      <p:sp>
        <p:nvSpPr>
          <p:cNvPr id="27" name="Text 25"/>
          <p:cNvSpPr/>
          <p:nvPr/>
        </p:nvSpPr>
        <p:spPr>
          <a:xfrm>
            <a:off x="4791456" y="2203704"/>
            <a:ext cx="3657600" cy="237744"/>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Travel Agent SLAs</a:t>
            </a:r>
            <a:endParaRPr lang="en-US" sz="1000" dirty="0"/>
          </a:p>
        </p:txBody>
      </p:sp>
      <p:sp>
        <p:nvSpPr>
          <p:cNvPr id="28" name="Text 26"/>
          <p:cNvSpPr/>
          <p:nvPr/>
        </p:nvSpPr>
        <p:spPr>
          <a:xfrm>
            <a:off x="4791456" y="2450592"/>
            <a:ext cx="3657600" cy="201168"/>
          </a:xfrm>
          <a:prstGeom prst="rect">
            <a:avLst/>
          </a:prstGeom>
          <a:noFill/>
          <a:ln/>
        </p:spPr>
        <p:txBody>
          <a:bodyPr wrap="square" lIns="0" tIns="0" rIns="0" bIns="0" rtlCol="0" anchor="ctr"/>
          <a:lstStyle/>
          <a:p>
            <a:pPr indent="0" marL="0">
              <a:buNone/>
            </a:pPr>
            <a:r>
              <a:rPr lang="en-US" sz="850" b="1" dirty="0">
                <a:solidFill>
                  <a:srgbClr val="F18F01"/>
                </a:solidFill>
                <a:latin typeface="Calibri" pitchFamily="34" charset="0"/>
                <a:ea typeface="Calibri" pitchFamily="34" charset="-122"/>
                <a:cs typeface="Calibri" pitchFamily="34" charset="-120"/>
              </a:rPr>
              <a:t>↓ Agent cancel rate 25–30%</a:t>
            </a:r>
            <a:endParaRPr lang="en-US" sz="850" dirty="0"/>
          </a:p>
        </p:txBody>
      </p:sp>
      <p:sp>
        <p:nvSpPr>
          <p:cNvPr id="29" name="Shape 27"/>
          <p:cNvSpPr/>
          <p:nvPr/>
        </p:nvSpPr>
        <p:spPr>
          <a:xfrm>
            <a:off x="4681728" y="2816352"/>
            <a:ext cx="3858768" cy="566928"/>
          </a:xfrm>
          <a:prstGeom prst="roundRect">
            <a:avLst>
              <a:gd name="adj" fmla="val 8065"/>
            </a:avLst>
          </a:prstGeom>
          <a:solidFill>
            <a:srgbClr val="FDE68A"/>
          </a:solidFill>
          <a:ln w="12700">
            <a:solidFill>
              <a:srgbClr val="E2E8F0"/>
            </a:solidFill>
            <a:prstDash val="solid"/>
          </a:ln>
          <a:effectLst>
            <a:outerShdw sx="100000" sy="100000" kx="0" ky="0" algn="bl" rotWithShape="0" blurRad="101600" dist="25400" dir="2700000">
              <a:srgbClr val="000000">
                <a:alpha val="10000"/>
              </a:srgbClr>
            </a:outerShdw>
          </a:effectLst>
        </p:spPr>
      </p:sp>
      <p:sp>
        <p:nvSpPr>
          <p:cNvPr id="30" name="Text 28"/>
          <p:cNvSpPr/>
          <p:nvPr/>
        </p:nvSpPr>
        <p:spPr>
          <a:xfrm>
            <a:off x="4791456" y="2871216"/>
            <a:ext cx="3657600" cy="237744"/>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VIP Loyalty Programme</a:t>
            </a:r>
            <a:endParaRPr lang="en-US" sz="1000" dirty="0"/>
          </a:p>
        </p:txBody>
      </p:sp>
      <p:sp>
        <p:nvSpPr>
          <p:cNvPr id="31" name="Text 29"/>
          <p:cNvSpPr/>
          <p:nvPr/>
        </p:nvSpPr>
        <p:spPr>
          <a:xfrm>
            <a:off x="4791456" y="3118104"/>
            <a:ext cx="3657600" cy="201168"/>
          </a:xfrm>
          <a:prstGeom prst="rect">
            <a:avLst/>
          </a:prstGeom>
          <a:noFill/>
          <a:ln/>
        </p:spPr>
        <p:txBody>
          <a:bodyPr wrap="square" lIns="0" tIns="0" rIns="0" bIns="0" rtlCol="0" anchor="ctr"/>
          <a:lstStyle/>
          <a:p>
            <a:pPr indent="0" marL="0">
              <a:buNone/>
            </a:pPr>
            <a:r>
              <a:rPr lang="en-US" sz="850" b="1" dirty="0">
                <a:solidFill>
                  <a:srgbClr val="F18F01"/>
                </a:solidFill>
                <a:latin typeface="Calibri" pitchFamily="34" charset="0"/>
                <a:ea typeface="Calibri" pitchFamily="34" charset="-122"/>
                <a:cs typeface="Calibri" pitchFamily="34" charset="-120"/>
              </a:rPr>
              <a:t>+1.5× bookings per customer</a:t>
            </a:r>
            <a:endParaRPr lang="en-US" sz="850" dirty="0"/>
          </a:p>
        </p:txBody>
      </p:sp>
      <p:sp>
        <p:nvSpPr>
          <p:cNvPr id="32" name="Shape 30"/>
          <p:cNvSpPr/>
          <p:nvPr/>
        </p:nvSpPr>
        <p:spPr>
          <a:xfrm>
            <a:off x="4681728" y="3493008"/>
            <a:ext cx="3858768" cy="566928"/>
          </a:xfrm>
          <a:prstGeom prst="roundRect">
            <a:avLst>
              <a:gd name="adj" fmla="val 8065"/>
            </a:avLst>
          </a:prstGeom>
          <a:solidFill>
            <a:srgbClr val="FDE68A"/>
          </a:solidFill>
          <a:ln w="12700">
            <a:solidFill>
              <a:srgbClr val="E2E8F0"/>
            </a:solidFill>
            <a:prstDash val="solid"/>
          </a:ln>
          <a:effectLst>
            <a:outerShdw sx="100000" sy="100000" kx="0" ky="0" algn="bl" rotWithShape="0" blurRad="101600" dist="25400" dir="2700000">
              <a:srgbClr val="000000">
                <a:alpha val="10000"/>
              </a:srgbClr>
            </a:outerShdw>
          </a:effectLst>
        </p:spPr>
      </p:sp>
      <p:sp>
        <p:nvSpPr>
          <p:cNvPr id="33" name="Text 31"/>
          <p:cNvSpPr/>
          <p:nvPr/>
        </p:nvSpPr>
        <p:spPr>
          <a:xfrm>
            <a:off x="4791456" y="3547872"/>
            <a:ext cx="3657600" cy="237744"/>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Mobile App A/B Campaigns</a:t>
            </a:r>
            <a:endParaRPr lang="en-US" sz="1000" dirty="0"/>
          </a:p>
        </p:txBody>
      </p:sp>
      <p:sp>
        <p:nvSpPr>
          <p:cNvPr id="34" name="Text 32"/>
          <p:cNvSpPr/>
          <p:nvPr/>
        </p:nvSpPr>
        <p:spPr>
          <a:xfrm>
            <a:off x="4791456" y="3794760"/>
            <a:ext cx="3657600" cy="201168"/>
          </a:xfrm>
          <a:prstGeom prst="rect">
            <a:avLst/>
          </a:prstGeom>
          <a:noFill/>
          <a:ln/>
        </p:spPr>
        <p:txBody>
          <a:bodyPr wrap="square" lIns="0" tIns="0" rIns="0" bIns="0" rtlCol="0" anchor="ctr"/>
          <a:lstStyle/>
          <a:p>
            <a:pPr indent="0" marL="0">
              <a:buNone/>
            </a:pPr>
            <a:r>
              <a:rPr lang="en-US" sz="850" b="1" dirty="0">
                <a:solidFill>
                  <a:srgbClr val="F18F01"/>
                </a:solidFill>
                <a:latin typeface="Calibri" pitchFamily="34" charset="0"/>
                <a:ea typeface="Calibri" pitchFamily="34" charset="-122"/>
                <a:cs typeface="Calibri" pitchFamily="34" charset="-120"/>
              </a:rPr>
              <a:t>+600 confirmed bookings/month</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9488"/>
          </a:solidFill>
          <a:ln w="12700">
            <a:solidFill>
              <a:srgbClr val="0D9488"/>
            </a:solidFill>
            <a:prstDash val="solid"/>
          </a:ln>
        </p:spPr>
      </p:sp>
      <p:sp>
        <p:nvSpPr>
          <p:cNvPr id="3" name="Text 1"/>
          <p:cNvSpPr/>
          <p:nvPr/>
        </p:nvSpPr>
        <p:spPr>
          <a:xfrm>
            <a:off x="457200" y="73152"/>
            <a:ext cx="6400800" cy="292608"/>
          </a:xfrm>
          <a:prstGeom prst="rect">
            <a:avLst/>
          </a:prstGeom>
          <a:noFill/>
          <a:ln/>
        </p:spPr>
        <p:txBody>
          <a:bodyPr wrap="square" lIns="0" tIns="0" rIns="0" bIns="0" rtlCol="0" anchor="ctr"/>
          <a:lstStyle/>
          <a:p>
            <a:pPr indent="0" marL="0">
              <a:buNone/>
            </a:pPr>
            <a:r>
              <a:rPr lang="en-US" sz="1000" b="1" spc="300" kern="0" dirty="0">
                <a:solidFill>
                  <a:srgbClr val="CCFBF1"/>
                </a:solidFill>
                <a:latin typeface="Calibri" pitchFamily="34" charset="0"/>
                <a:ea typeface="Calibri" pitchFamily="34" charset="-122"/>
                <a:cs typeface="Calibri" pitchFamily="34" charset="-120"/>
              </a:rPr>
              <a:t>FINANCIAL IMPACT ASSESSMENT</a:t>
            </a:r>
            <a:endParaRPr lang="en-US" sz="1000" dirty="0"/>
          </a:p>
        </p:txBody>
      </p:sp>
      <p:sp>
        <p:nvSpPr>
          <p:cNvPr id="4" name="Text 2"/>
          <p:cNvSpPr/>
          <p:nvPr/>
        </p:nvSpPr>
        <p:spPr>
          <a:xfrm>
            <a:off x="457200" y="347472"/>
            <a:ext cx="8229600" cy="347472"/>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Quantified Upside Across Four Strategic Scenarios</a:t>
            </a:r>
            <a:endParaRPr lang="en-US" sz="1800" dirty="0"/>
          </a:p>
        </p:txBody>
      </p:sp>
      <p:sp>
        <p:nvSpPr>
          <p:cNvPr id="5" name="Shape 3"/>
          <p:cNvSpPr/>
          <p:nvPr/>
        </p:nvSpPr>
        <p:spPr>
          <a:xfrm>
            <a:off x="182880" y="914400"/>
            <a:ext cx="2029968" cy="4041648"/>
          </a:xfrm>
          <a:prstGeom prst="roundRect">
            <a:avLst>
              <a:gd name="adj" fmla="val 3604"/>
            </a:avLst>
          </a:prstGeom>
          <a:solidFill>
            <a:srgbClr val="EFF6FF"/>
          </a:solidFill>
          <a:ln w="12700">
            <a:solidFill>
              <a:srgbClr val="E2E8F0"/>
            </a:solidFill>
            <a:prstDash val="solid"/>
          </a:ln>
          <a:effectLst>
            <a:outerShdw sx="100000" sy="100000" kx="0" ky="0" algn="bl" rotWithShape="0" blurRad="101600" dist="25400" dir="2700000">
              <a:srgbClr val="000000">
                <a:alpha val="10000"/>
              </a:srgbClr>
            </a:outerShdw>
          </a:effectLst>
        </p:spPr>
      </p:sp>
      <p:sp>
        <p:nvSpPr>
          <p:cNvPr id="6" name="Shape 4"/>
          <p:cNvSpPr/>
          <p:nvPr/>
        </p:nvSpPr>
        <p:spPr>
          <a:xfrm>
            <a:off x="914400" y="1005840"/>
            <a:ext cx="566928" cy="566928"/>
          </a:xfrm>
          <a:prstGeom prst="ellipse">
            <a:avLst/>
          </a:prstGeom>
          <a:solidFill>
            <a:srgbClr val="1B3A6B"/>
          </a:solidFill>
          <a:ln w="12700">
            <a:solidFill>
              <a:srgbClr val="1B3A6B"/>
            </a:solidFill>
            <a:prstDash val="solid"/>
          </a:ln>
        </p:spPr>
      </p:sp>
      <p:sp>
        <p:nvSpPr>
          <p:cNvPr id="7" name="Text 5"/>
          <p:cNvSpPr/>
          <p:nvPr/>
        </p:nvSpPr>
        <p:spPr>
          <a:xfrm>
            <a:off x="914400" y="100584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a:t>
            </a:r>
            <a:endParaRPr lang="en-US" sz="1800" dirty="0"/>
          </a:p>
        </p:txBody>
      </p:sp>
      <p:sp>
        <p:nvSpPr>
          <p:cNvPr id="8" name="Text 6"/>
          <p:cNvSpPr/>
          <p:nvPr/>
        </p:nvSpPr>
        <p:spPr>
          <a:xfrm>
            <a:off x="274320" y="1664208"/>
            <a:ext cx="1847088" cy="512064"/>
          </a:xfrm>
          <a:prstGeom prst="rect">
            <a:avLst/>
          </a:prstGeom>
          <a:noFill/>
          <a:ln/>
        </p:spPr>
        <p:txBody>
          <a:bodyPr wrap="square" lIns="0" tIns="0" rIns="0" bIns="0" rtlCol="0" anchor="ctr"/>
          <a:lstStyle/>
          <a:p>
            <a:pPr algn="ctr" indent="0" marL="0">
              <a:buNone/>
            </a:pPr>
            <a:r>
              <a:rPr lang="en-US" sz="1100" b="1" dirty="0">
                <a:solidFill>
                  <a:srgbClr val="1E293B"/>
                </a:solidFill>
                <a:latin typeface="Cambria" pitchFamily="34" charset="0"/>
                <a:ea typeface="Cambria" pitchFamily="34" charset="-122"/>
                <a:cs typeface="Cambria" pitchFamily="34" charset="-120"/>
              </a:rPr>
              <a:t>5% Cancellation</a:t>
            </a:r>
            <a:endParaRPr lang="en-US" sz="1100" dirty="0"/>
          </a:p>
          <a:p>
            <a:pPr algn="ctr" indent="0" marL="0">
              <a:buNone/>
            </a:pPr>
            <a:r>
              <a:rPr lang="en-US" sz="1100" b="1" dirty="0">
                <a:solidFill>
                  <a:srgbClr val="1E293B"/>
                </a:solidFill>
                <a:latin typeface="Cambria" pitchFamily="34" charset="0"/>
                <a:ea typeface="Cambria" pitchFamily="34" charset="-122"/>
                <a:cs typeface="Cambria" pitchFamily="34" charset="-120"/>
              </a:rPr>
              <a:t>Reduction</a:t>
            </a:r>
            <a:endParaRPr lang="en-US" sz="1100" dirty="0"/>
          </a:p>
        </p:txBody>
      </p:sp>
      <p:sp>
        <p:nvSpPr>
          <p:cNvPr id="9" name="Text 7"/>
          <p:cNvSpPr/>
          <p:nvPr/>
        </p:nvSpPr>
        <p:spPr>
          <a:xfrm>
            <a:off x="274320" y="2194560"/>
            <a:ext cx="184708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303 fewer cancellations/yr</a:t>
            </a:r>
            <a:endParaRPr lang="en-US" sz="850" dirty="0"/>
          </a:p>
        </p:txBody>
      </p:sp>
      <p:sp>
        <p:nvSpPr>
          <p:cNvPr id="10" name="Text 8"/>
          <p:cNvSpPr/>
          <p:nvPr/>
        </p:nvSpPr>
        <p:spPr>
          <a:xfrm>
            <a:off x="274320" y="2651760"/>
            <a:ext cx="1847088" cy="182880"/>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Additional Bookings</a:t>
            </a:r>
            <a:endParaRPr lang="en-US" sz="800" dirty="0"/>
          </a:p>
        </p:txBody>
      </p:sp>
      <p:sp>
        <p:nvSpPr>
          <p:cNvPr id="11" name="Text 9"/>
          <p:cNvSpPr/>
          <p:nvPr/>
        </p:nvSpPr>
        <p:spPr>
          <a:xfrm>
            <a:off x="274320" y="2834640"/>
            <a:ext cx="1847088" cy="219456"/>
          </a:xfrm>
          <a:prstGeom prst="rect">
            <a:avLst/>
          </a:prstGeom>
          <a:noFill/>
          <a:ln/>
        </p:spPr>
        <p:txBody>
          <a:bodyPr wrap="square" lIns="0" tIns="0" rIns="0" bIns="0" rtlCol="0" anchor="ctr"/>
          <a:lstStyle/>
          <a:p>
            <a:pPr algn="ctr" indent="0" marL="0">
              <a:buNone/>
            </a:pPr>
            <a:r>
              <a:rPr lang="en-US" sz="1400" b="1" dirty="0">
                <a:solidFill>
                  <a:srgbClr val="1B3A6B"/>
                </a:solidFill>
                <a:latin typeface="Cambria" pitchFamily="34" charset="0"/>
                <a:ea typeface="Cambria" pitchFamily="34" charset="-122"/>
                <a:cs typeface="Cambria" pitchFamily="34" charset="-120"/>
              </a:rPr>
              <a:t>+303</a:t>
            </a:r>
            <a:endParaRPr lang="en-US" sz="1400" dirty="0"/>
          </a:p>
        </p:txBody>
      </p:sp>
      <p:sp>
        <p:nvSpPr>
          <p:cNvPr id="12" name="Text 10"/>
          <p:cNvSpPr/>
          <p:nvPr/>
        </p:nvSpPr>
        <p:spPr>
          <a:xfrm>
            <a:off x="274320" y="3108960"/>
            <a:ext cx="1847088" cy="182880"/>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Additional Revenue</a:t>
            </a:r>
            <a:endParaRPr lang="en-US" sz="800" dirty="0"/>
          </a:p>
        </p:txBody>
      </p:sp>
      <p:sp>
        <p:nvSpPr>
          <p:cNvPr id="13" name="Text 11"/>
          <p:cNvSpPr/>
          <p:nvPr/>
        </p:nvSpPr>
        <p:spPr>
          <a:xfrm>
            <a:off x="274320" y="3291840"/>
            <a:ext cx="1847088" cy="219456"/>
          </a:xfrm>
          <a:prstGeom prst="rect">
            <a:avLst/>
          </a:prstGeom>
          <a:noFill/>
          <a:ln/>
        </p:spPr>
        <p:txBody>
          <a:bodyPr wrap="square" lIns="0" tIns="0" rIns="0" bIns="0" rtlCol="0" anchor="ctr"/>
          <a:lstStyle/>
          <a:p>
            <a:pPr algn="ctr" indent="0" marL="0">
              <a:buNone/>
            </a:pPr>
            <a:r>
              <a:rPr lang="en-US" sz="1400" b="1" dirty="0">
                <a:solidFill>
                  <a:srgbClr val="1B3A6B"/>
                </a:solidFill>
                <a:latin typeface="Cambria" pitchFamily="34" charset="0"/>
                <a:ea typeface="Cambria" pitchFamily="34" charset="-122"/>
                <a:cs typeface="Cambria" pitchFamily="34" charset="-120"/>
              </a:rPr>
              <a:t>+₹7.3M</a:t>
            </a:r>
            <a:endParaRPr lang="en-US" sz="1400" dirty="0"/>
          </a:p>
        </p:txBody>
      </p:sp>
      <p:sp>
        <p:nvSpPr>
          <p:cNvPr id="14" name="Text 12"/>
          <p:cNvSpPr/>
          <p:nvPr/>
        </p:nvSpPr>
        <p:spPr>
          <a:xfrm>
            <a:off x="274320" y="3566160"/>
            <a:ext cx="1847088" cy="182880"/>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Additional Profit</a:t>
            </a:r>
            <a:endParaRPr lang="en-US" sz="800" dirty="0"/>
          </a:p>
        </p:txBody>
      </p:sp>
      <p:sp>
        <p:nvSpPr>
          <p:cNvPr id="15" name="Text 13"/>
          <p:cNvSpPr/>
          <p:nvPr/>
        </p:nvSpPr>
        <p:spPr>
          <a:xfrm>
            <a:off x="274320" y="3749040"/>
            <a:ext cx="1847088" cy="219456"/>
          </a:xfrm>
          <a:prstGeom prst="rect">
            <a:avLst/>
          </a:prstGeom>
          <a:noFill/>
          <a:ln/>
        </p:spPr>
        <p:txBody>
          <a:bodyPr wrap="square" lIns="0" tIns="0" rIns="0" bIns="0" rtlCol="0" anchor="ctr"/>
          <a:lstStyle/>
          <a:p>
            <a:pPr algn="ctr" indent="0" marL="0">
              <a:buNone/>
            </a:pPr>
            <a:r>
              <a:rPr lang="en-US" sz="1400" b="1" dirty="0">
                <a:solidFill>
                  <a:srgbClr val="1B3A6B"/>
                </a:solidFill>
                <a:latin typeface="Cambria" pitchFamily="34" charset="0"/>
                <a:ea typeface="Cambria" pitchFamily="34" charset="-122"/>
                <a:cs typeface="Cambria" pitchFamily="34" charset="-120"/>
              </a:rPr>
              <a:t>+₹2.0M</a:t>
            </a:r>
            <a:endParaRPr lang="en-US" sz="1400" dirty="0"/>
          </a:p>
        </p:txBody>
      </p:sp>
      <p:sp>
        <p:nvSpPr>
          <p:cNvPr id="16" name="Shape 14"/>
          <p:cNvSpPr/>
          <p:nvPr/>
        </p:nvSpPr>
        <p:spPr>
          <a:xfrm>
            <a:off x="2395728" y="914400"/>
            <a:ext cx="2029968" cy="4041648"/>
          </a:xfrm>
          <a:prstGeom prst="roundRect">
            <a:avLst>
              <a:gd name="adj" fmla="val 3604"/>
            </a:avLst>
          </a:prstGeom>
          <a:solidFill>
            <a:srgbClr val="F0FDF4"/>
          </a:solidFill>
          <a:ln w="12700">
            <a:solidFill>
              <a:srgbClr val="E2E8F0"/>
            </a:solidFill>
            <a:prstDash val="solid"/>
          </a:ln>
          <a:effectLst>
            <a:outerShdw sx="100000" sy="100000" kx="0" ky="0" algn="bl" rotWithShape="0" blurRad="101600" dist="25400" dir="2700000">
              <a:srgbClr val="000000">
                <a:alpha val="10000"/>
              </a:srgbClr>
            </a:outerShdw>
          </a:effectLst>
        </p:spPr>
      </p:sp>
      <p:sp>
        <p:nvSpPr>
          <p:cNvPr id="17" name="Shape 15"/>
          <p:cNvSpPr/>
          <p:nvPr/>
        </p:nvSpPr>
        <p:spPr>
          <a:xfrm>
            <a:off x="3127248" y="1005840"/>
            <a:ext cx="566928" cy="566928"/>
          </a:xfrm>
          <a:prstGeom prst="ellipse">
            <a:avLst/>
          </a:prstGeom>
          <a:solidFill>
            <a:srgbClr val="0D9488"/>
          </a:solidFill>
          <a:ln w="12700">
            <a:solidFill>
              <a:srgbClr val="0D9488"/>
            </a:solidFill>
            <a:prstDash val="solid"/>
          </a:ln>
        </p:spPr>
      </p:sp>
      <p:sp>
        <p:nvSpPr>
          <p:cNvPr id="18" name="Text 16"/>
          <p:cNvSpPr/>
          <p:nvPr/>
        </p:nvSpPr>
        <p:spPr>
          <a:xfrm>
            <a:off x="3127248" y="100584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B</a:t>
            </a:r>
            <a:endParaRPr lang="en-US" sz="1800" dirty="0"/>
          </a:p>
        </p:txBody>
      </p:sp>
      <p:sp>
        <p:nvSpPr>
          <p:cNvPr id="19" name="Text 17"/>
          <p:cNvSpPr/>
          <p:nvPr/>
        </p:nvSpPr>
        <p:spPr>
          <a:xfrm>
            <a:off x="2487168" y="1664208"/>
            <a:ext cx="1847088" cy="512064"/>
          </a:xfrm>
          <a:prstGeom prst="rect">
            <a:avLst/>
          </a:prstGeom>
          <a:noFill/>
          <a:ln/>
        </p:spPr>
        <p:txBody>
          <a:bodyPr wrap="square" lIns="0" tIns="0" rIns="0" bIns="0" rtlCol="0" anchor="ctr"/>
          <a:lstStyle/>
          <a:p>
            <a:pPr algn="ctr" indent="0" marL="0">
              <a:buNone/>
            </a:pPr>
            <a:r>
              <a:rPr lang="en-US" sz="1100" b="1" dirty="0">
                <a:solidFill>
                  <a:srgbClr val="1E293B"/>
                </a:solidFill>
                <a:latin typeface="Cambria" pitchFamily="34" charset="0"/>
                <a:ea typeface="Cambria" pitchFamily="34" charset="-122"/>
                <a:cs typeface="Cambria" pitchFamily="34" charset="-120"/>
              </a:rPr>
              <a:t>10% Cancellation</a:t>
            </a:r>
            <a:endParaRPr lang="en-US" sz="1100" dirty="0"/>
          </a:p>
          <a:p>
            <a:pPr algn="ctr" indent="0" marL="0">
              <a:buNone/>
            </a:pPr>
            <a:r>
              <a:rPr lang="en-US" sz="1100" b="1" dirty="0">
                <a:solidFill>
                  <a:srgbClr val="1E293B"/>
                </a:solidFill>
                <a:latin typeface="Cambria" pitchFamily="34" charset="0"/>
                <a:ea typeface="Cambria" pitchFamily="34" charset="-122"/>
                <a:cs typeface="Cambria" pitchFamily="34" charset="-120"/>
              </a:rPr>
              <a:t>Reduction</a:t>
            </a:r>
            <a:endParaRPr lang="en-US" sz="1100" dirty="0"/>
          </a:p>
        </p:txBody>
      </p:sp>
      <p:sp>
        <p:nvSpPr>
          <p:cNvPr id="20" name="Text 18"/>
          <p:cNvSpPr/>
          <p:nvPr/>
        </p:nvSpPr>
        <p:spPr>
          <a:xfrm>
            <a:off x="2487168" y="2194560"/>
            <a:ext cx="184708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606 fewer cancellations/yr</a:t>
            </a:r>
            <a:endParaRPr lang="en-US" sz="850" dirty="0"/>
          </a:p>
        </p:txBody>
      </p:sp>
      <p:sp>
        <p:nvSpPr>
          <p:cNvPr id="21" name="Text 19"/>
          <p:cNvSpPr/>
          <p:nvPr/>
        </p:nvSpPr>
        <p:spPr>
          <a:xfrm>
            <a:off x="2487168" y="2651760"/>
            <a:ext cx="1847088" cy="182880"/>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Additional Bookings</a:t>
            </a:r>
            <a:endParaRPr lang="en-US" sz="800" dirty="0"/>
          </a:p>
        </p:txBody>
      </p:sp>
      <p:sp>
        <p:nvSpPr>
          <p:cNvPr id="22" name="Text 20"/>
          <p:cNvSpPr/>
          <p:nvPr/>
        </p:nvSpPr>
        <p:spPr>
          <a:xfrm>
            <a:off x="2487168" y="2834640"/>
            <a:ext cx="1847088" cy="219456"/>
          </a:xfrm>
          <a:prstGeom prst="rect">
            <a:avLst/>
          </a:prstGeom>
          <a:noFill/>
          <a:ln/>
        </p:spPr>
        <p:txBody>
          <a:bodyPr wrap="square" lIns="0" tIns="0" rIns="0" bIns="0" rtlCol="0" anchor="ctr"/>
          <a:lstStyle/>
          <a:p>
            <a:pPr algn="ctr" indent="0" marL="0">
              <a:buNone/>
            </a:pPr>
            <a:r>
              <a:rPr lang="en-US" sz="1400" b="1" dirty="0">
                <a:solidFill>
                  <a:srgbClr val="0D9488"/>
                </a:solidFill>
                <a:latin typeface="Cambria" pitchFamily="34" charset="0"/>
                <a:ea typeface="Cambria" pitchFamily="34" charset="-122"/>
                <a:cs typeface="Cambria" pitchFamily="34" charset="-120"/>
              </a:rPr>
              <a:t>+606</a:t>
            </a:r>
            <a:endParaRPr lang="en-US" sz="1400" dirty="0"/>
          </a:p>
        </p:txBody>
      </p:sp>
      <p:sp>
        <p:nvSpPr>
          <p:cNvPr id="23" name="Text 21"/>
          <p:cNvSpPr/>
          <p:nvPr/>
        </p:nvSpPr>
        <p:spPr>
          <a:xfrm>
            <a:off x="2487168" y="3108960"/>
            <a:ext cx="1847088" cy="182880"/>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Additional Revenue</a:t>
            </a:r>
            <a:endParaRPr lang="en-US" sz="800" dirty="0"/>
          </a:p>
        </p:txBody>
      </p:sp>
      <p:sp>
        <p:nvSpPr>
          <p:cNvPr id="24" name="Text 22"/>
          <p:cNvSpPr/>
          <p:nvPr/>
        </p:nvSpPr>
        <p:spPr>
          <a:xfrm>
            <a:off x="2487168" y="3291840"/>
            <a:ext cx="1847088" cy="219456"/>
          </a:xfrm>
          <a:prstGeom prst="rect">
            <a:avLst/>
          </a:prstGeom>
          <a:noFill/>
          <a:ln/>
        </p:spPr>
        <p:txBody>
          <a:bodyPr wrap="square" lIns="0" tIns="0" rIns="0" bIns="0" rtlCol="0" anchor="ctr"/>
          <a:lstStyle/>
          <a:p>
            <a:pPr algn="ctr" indent="0" marL="0">
              <a:buNone/>
            </a:pPr>
            <a:r>
              <a:rPr lang="en-US" sz="1400" b="1" dirty="0">
                <a:solidFill>
                  <a:srgbClr val="0D9488"/>
                </a:solidFill>
                <a:latin typeface="Cambria" pitchFamily="34" charset="0"/>
                <a:ea typeface="Cambria" pitchFamily="34" charset="-122"/>
                <a:cs typeface="Cambria" pitchFamily="34" charset="-120"/>
              </a:rPr>
              <a:t>+₹14.6M</a:t>
            </a:r>
            <a:endParaRPr lang="en-US" sz="1400" dirty="0"/>
          </a:p>
        </p:txBody>
      </p:sp>
      <p:sp>
        <p:nvSpPr>
          <p:cNvPr id="25" name="Text 23"/>
          <p:cNvSpPr/>
          <p:nvPr/>
        </p:nvSpPr>
        <p:spPr>
          <a:xfrm>
            <a:off x="2487168" y="3566160"/>
            <a:ext cx="1847088" cy="182880"/>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Additional Profit</a:t>
            </a:r>
            <a:endParaRPr lang="en-US" sz="800" dirty="0"/>
          </a:p>
        </p:txBody>
      </p:sp>
      <p:sp>
        <p:nvSpPr>
          <p:cNvPr id="26" name="Text 24"/>
          <p:cNvSpPr/>
          <p:nvPr/>
        </p:nvSpPr>
        <p:spPr>
          <a:xfrm>
            <a:off x="2487168" y="3749040"/>
            <a:ext cx="1847088" cy="219456"/>
          </a:xfrm>
          <a:prstGeom prst="rect">
            <a:avLst/>
          </a:prstGeom>
          <a:noFill/>
          <a:ln/>
        </p:spPr>
        <p:txBody>
          <a:bodyPr wrap="square" lIns="0" tIns="0" rIns="0" bIns="0" rtlCol="0" anchor="ctr"/>
          <a:lstStyle/>
          <a:p>
            <a:pPr algn="ctr" indent="0" marL="0">
              <a:buNone/>
            </a:pPr>
            <a:r>
              <a:rPr lang="en-US" sz="1400" b="1" dirty="0">
                <a:solidFill>
                  <a:srgbClr val="0D9488"/>
                </a:solidFill>
                <a:latin typeface="Cambria" pitchFamily="34" charset="0"/>
                <a:ea typeface="Cambria" pitchFamily="34" charset="-122"/>
                <a:cs typeface="Cambria" pitchFamily="34" charset="-120"/>
              </a:rPr>
              <a:t>+₹4.1M</a:t>
            </a:r>
            <a:endParaRPr lang="en-US" sz="1400" dirty="0"/>
          </a:p>
        </p:txBody>
      </p:sp>
      <p:sp>
        <p:nvSpPr>
          <p:cNvPr id="27" name="Shape 25"/>
          <p:cNvSpPr/>
          <p:nvPr/>
        </p:nvSpPr>
        <p:spPr>
          <a:xfrm>
            <a:off x="4608576" y="914400"/>
            <a:ext cx="2029968" cy="4041648"/>
          </a:xfrm>
          <a:prstGeom prst="roundRect">
            <a:avLst>
              <a:gd name="adj" fmla="val 3604"/>
            </a:avLst>
          </a:prstGeom>
          <a:solidFill>
            <a:srgbClr val="FFFBEB"/>
          </a:solidFill>
          <a:ln w="12700">
            <a:solidFill>
              <a:srgbClr val="E2E8F0"/>
            </a:solidFill>
            <a:prstDash val="solid"/>
          </a:ln>
          <a:effectLst>
            <a:outerShdw sx="100000" sy="100000" kx="0" ky="0" algn="bl" rotWithShape="0" blurRad="101600" dist="25400" dir="2700000">
              <a:srgbClr val="000000">
                <a:alpha val="10000"/>
              </a:srgbClr>
            </a:outerShdw>
          </a:effectLst>
        </p:spPr>
      </p:sp>
      <p:sp>
        <p:nvSpPr>
          <p:cNvPr id="28" name="Shape 26"/>
          <p:cNvSpPr/>
          <p:nvPr/>
        </p:nvSpPr>
        <p:spPr>
          <a:xfrm>
            <a:off x="5340096" y="1005840"/>
            <a:ext cx="566928" cy="566928"/>
          </a:xfrm>
          <a:prstGeom prst="ellipse">
            <a:avLst/>
          </a:prstGeom>
          <a:solidFill>
            <a:srgbClr val="F18F01"/>
          </a:solidFill>
          <a:ln w="12700">
            <a:solidFill>
              <a:srgbClr val="F18F01"/>
            </a:solidFill>
            <a:prstDash val="solid"/>
          </a:ln>
        </p:spPr>
      </p:sp>
      <p:sp>
        <p:nvSpPr>
          <p:cNvPr id="29" name="Text 27"/>
          <p:cNvSpPr/>
          <p:nvPr/>
        </p:nvSpPr>
        <p:spPr>
          <a:xfrm>
            <a:off x="5340096" y="100584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a:t>
            </a:r>
            <a:endParaRPr lang="en-US" sz="1800" dirty="0"/>
          </a:p>
        </p:txBody>
      </p:sp>
      <p:sp>
        <p:nvSpPr>
          <p:cNvPr id="30" name="Text 28"/>
          <p:cNvSpPr/>
          <p:nvPr/>
        </p:nvSpPr>
        <p:spPr>
          <a:xfrm>
            <a:off x="4700016" y="1664208"/>
            <a:ext cx="1847088" cy="512064"/>
          </a:xfrm>
          <a:prstGeom prst="rect">
            <a:avLst/>
          </a:prstGeom>
          <a:noFill/>
          <a:ln/>
        </p:spPr>
        <p:txBody>
          <a:bodyPr wrap="square" lIns="0" tIns="0" rIns="0" bIns="0" rtlCol="0" anchor="ctr"/>
          <a:lstStyle/>
          <a:p>
            <a:pPr algn="ctr" indent="0" marL="0">
              <a:buNone/>
            </a:pPr>
            <a:r>
              <a:rPr lang="en-US" sz="1100" b="1" dirty="0">
                <a:solidFill>
                  <a:srgbClr val="1E293B"/>
                </a:solidFill>
                <a:latin typeface="Cambria" pitchFamily="34" charset="0"/>
                <a:ea typeface="Cambria" pitchFamily="34" charset="-122"/>
                <a:cs typeface="Cambria" pitchFamily="34" charset="-120"/>
              </a:rPr>
              <a:t>5% Repeat Booking</a:t>
            </a:r>
            <a:endParaRPr lang="en-US" sz="1100" dirty="0"/>
          </a:p>
          <a:p>
            <a:pPr algn="ctr" indent="0" marL="0">
              <a:buNone/>
            </a:pPr>
            <a:r>
              <a:rPr lang="en-US" sz="1100" b="1" dirty="0">
                <a:solidFill>
                  <a:srgbClr val="1E293B"/>
                </a:solidFill>
                <a:latin typeface="Cambria" pitchFamily="34" charset="0"/>
                <a:ea typeface="Cambria" pitchFamily="34" charset="-122"/>
                <a:cs typeface="Cambria" pitchFamily="34" charset="-120"/>
              </a:rPr>
              <a:t>Increase</a:t>
            </a:r>
            <a:endParaRPr lang="en-US" sz="1100" dirty="0"/>
          </a:p>
        </p:txBody>
      </p:sp>
      <p:sp>
        <p:nvSpPr>
          <p:cNvPr id="31" name="Text 29"/>
          <p:cNvSpPr/>
          <p:nvPr/>
        </p:nvSpPr>
        <p:spPr>
          <a:xfrm>
            <a:off x="4700016" y="2194560"/>
            <a:ext cx="184708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25 extra bookings per customer/yr</a:t>
            </a:r>
            <a:endParaRPr lang="en-US" sz="850" dirty="0"/>
          </a:p>
        </p:txBody>
      </p:sp>
      <p:sp>
        <p:nvSpPr>
          <p:cNvPr id="32" name="Text 30"/>
          <p:cNvSpPr/>
          <p:nvPr/>
        </p:nvSpPr>
        <p:spPr>
          <a:xfrm>
            <a:off x="4700016" y="2651760"/>
            <a:ext cx="1847088" cy="182880"/>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Additional Bookings</a:t>
            </a:r>
            <a:endParaRPr lang="en-US" sz="800" dirty="0"/>
          </a:p>
        </p:txBody>
      </p:sp>
      <p:sp>
        <p:nvSpPr>
          <p:cNvPr id="33" name="Text 31"/>
          <p:cNvSpPr/>
          <p:nvPr/>
        </p:nvSpPr>
        <p:spPr>
          <a:xfrm>
            <a:off x="4700016" y="2834640"/>
            <a:ext cx="1847088" cy="219456"/>
          </a:xfrm>
          <a:prstGeom prst="rect">
            <a:avLst/>
          </a:prstGeom>
          <a:noFill/>
          <a:ln/>
        </p:spPr>
        <p:txBody>
          <a:bodyPr wrap="square" lIns="0" tIns="0" rIns="0" bIns="0" rtlCol="0" anchor="ctr"/>
          <a:lstStyle/>
          <a:p>
            <a:pPr algn="ctr" indent="0" marL="0">
              <a:buNone/>
            </a:pPr>
            <a:r>
              <a:rPr lang="en-US" sz="1400" b="1" dirty="0">
                <a:solidFill>
                  <a:srgbClr val="F18F01"/>
                </a:solidFill>
                <a:latin typeface="Cambria" pitchFamily="34" charset="0"/>
                <a:ea typeface="Cambria" pitchFamily="34" charset="-122"/>
                <a:cs typeface="Cambria" pitchFamily="34" charset="-120"/>
              </a:rPr>
              <a:t>+1,500</a:t>
            </a:r>
            <a:endParaRPr lang="en-US" sz="1400" dirty="0"/>
          </a:p>
        </p:txBody>
      </p:sp>
      <p:sp>
        <p:nvSpPr>
          <p:cNvPr id="34" name="Text 32"/>
          <p:cNvSpPr/>
          <p:nvPr/>
        </p:nvSpPr>
        <p:spPr>
          <a:xfrm>
            <a:off x="4700016" y="3108960"/>
            <a:ext cx="1847088" cy="182880"/>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Additional Revenue</a:t>
            </a:r>
            <a:endParaRPr lang="en-US" sz="800" dirty="0"/>
          </a:p>
        </p:txBody>
      </p:sp>
      <p:sp>
        <p:nvSpPr>
          <p:cNvPr id="35" name="Text 33"/>
          <p:cNvSpPr/>
          <p:nvPr/>
        </p:nvSpPr>
        <p:spPr>
          <a:xfrm>
            <a:off x="4700016" y="3291840"/>
            <a:ext cx="1847088" cy="219456"/>
          </a:xfrm>
          <a:prstGeom prst="rect">
            <a:avLst/>
          </a:prstGeom>
          <a:noFill/>
          <a:ln/>
        </p:spPr>
        <p:txBody>
          <a:bodyPr wrap="square" lIns="0" tIns="0" rIns="0" bIns="0" rtlCol="0" anchor="ctr"/>
          <a:lstStyle/>
          <a:p>
            <a:pPr algn="ctr" indent="0" marL="0">
              <a:buNone/>
            </a:pPr>
            <a:r>
              <a:rPr lang="en-US" sz="1400" b="1" dirty="0">
                <a:solidFill>
                  <a:srgbClr val="F18F01"/>
                </a:solidFill>
                <a:latin typeface="Cambria" pitchFamily="34" charset="0"/>
                <a:ea typeface="Cambria" pitchFamily="34" charset="-122"/>
                <a:cs typeface="Cambria" pitchFamily="34" charset="-120"/>
              </a:rPr>
              <a:t>+₹37.2M</a:t>
            </a:r>
            <a:endParaRPr lang="en-US" sz="1400" dirty="0"/>
          </a:p>
        </p:txBody>
      </p:sp>
      <p:sp>
        <p:nvSpPr>
          <p:cNvPr id="36" name="Text 34"/>
          <p:cNvSpPr/>
          <p:nvPr/>
        </p:nvSpPr>
        <p:spPr>
          <a:xfrm>
            <a:off x="4700016" y="3566160"/>
            <a:ext cx="1847088" cy="182880"/>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Additional Profit</a:t>
            </a:r>
            <a:endParaRPr lang="en-US" sz="800" dirty="0"/>
          </a:p>
        </p:txBody>
      </p:sp>
      <p:sp>
        <p:nvSpPr>
          <p:cNvPr id="37" name="Text 35"/>
          <p:cNvSpPr/>
          <p:nvPr/>
        </p:nvSpPr>
        <p:spPr>
          <a:xfrm>
            <a:off x="4700016" y="3749040"/>
            <a:ext cx="1847088" cy="219456"/>
          </a:xfrm>
          <a:prstGeom prst="rect">
            <a:avLst/>
          </a:prstGeom>
          <a:noFill/>
          <a:ln/>
        </p:spPr>
        <p:txBody>
          <a:bodyPr wrap="square" lIns="0" tIns="0" rIns="0" bIns="0" rtlCol="0" anchor="ctr"/>
          <a:lstStyle/>
          <a:p>
            <a:pPr algn="ctr" indent="0" marL="0">
              <a:buNone/>
            </a:pPr>
            <a:r>
              <a:rPr lang="en-US" sz="1400" b="1" dirty="0">
                <a:solidFill>
                  <a:srgbClr val="F18F01"/>
                </a:solidFill>
                <a:latin typeface="Cambria" pitchFamily="34" charset="0"/>
                <a:ea typeface="Cambria" pitchFamily="34" charset="-122"/>
                <a:cs typeface="Cambria" pitchFamily="34" charset="-120"/>
              </a:rPr>
              <a:t>+₹10.5M</a:t>
            </a:r>
            <a:endParaRPr lang="en-US" sz="1400" dirty="0"/>
          </a:p>
        </p:txBody>
      </p:sp>
      <p:sp>
        <p:nvSpPr>
          <p:cNvPr id="38" name="Shape 36"/>
          <p:cNvSpPr/>
          <p:nvPr/>
        </p:nvSpPr>
        <p:spPr>
          <a:xfrm>
            <a:off x="6821424" y="914400"/>
            <a:ext cx="2029968" cy="4041648"/>
          </a:xfrm>
          <a:prstGeom prst="roundRect">
            <a:avLst>
              <a:gd name="adj" fmla="val 3604"/>
            </a:avLst>
          </a:prstGeom>
          <a:solidFill>
            <a:srgbClr val="F5F3FF"/>
          </a:solidFill>
          <a:ln w="12700">
            <a:solidFill>
              <a:srgbClr val="E2E8F0"/>
            </a:solidFill>
            <a:prstDash val="solid"/>
          </a:ln>
          <a:effectLst>
            <a:outerShdw sx="100000" sy="100000" kx="0" ky="0" algn="bl" rotWithShape="0" blurRad="101600" dist="25400" dir="2700000">
              <a:srgbClr val="000000">
                <a:alpha val="10000"/>
              </a:srgbClr>
            </a:outerShdw>
          </a:effectLst>
        </p:spPr>
      </p:sp>
      <p:sp>
        <p:nvSpPr>
          <p:cNvPr id="39" name="Shape 37"/>
          <p:cNvSpPr/>
          <p:nvPr/>
        </p:nvSpPr>
        <p:spPr>
          <a:xfrm>
            <a:off x="7552944" y="1005840"/>
            <a:ext cx="566928" cy="566928"/>
          </a:xfrm>
          <a:prstGeom prst="ellipse">
            <a:avLst/>
          </a:prstGeom>
          <a:solidFill>
            <a:srgbClr val="7C3AED"/>
          </a:solidFill>
          <a:ln w="12700">
            <a:solidFill>
              <a:srgbClr val="7C3AED"/>
            </a:solidFill>
            <a:prstDash val="solid"/>
          </a:ln>
        </p:spPr>
      </p:sp>
      <p:sp>
        <p:nvSpPr>
          <p:cNvPr id="40" name="Text 38"/>
          <p:cNvSpPr/>
          <p:nvPr/>
        </p:nvSpPr>
        <p:spPr>
          <a:xfrm>
            <a:off x="7552944" y="100584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D</a:t>
            </a:r>
            <a:endParaRPr lang="en-US" sz="1800" dirty="0"/>
          </a:p>
        </p:txBody>
      </p:sp>
      <p:sp>
        <p:nvSpPr>
          <p:cNvPr id="41" name="Text 39"/>
          <p:cNvSpPr/>
          <p:nvPr/>
        </p:nvSpPr>
        <p:spPr>
          <a:xfrm>
            <a:off x="6912864" y="1664208"/>
            <a:ext cx="1847088" cy="512064"/>
          </a:xfrm>
          <a:prstGeom prst="rect">
            <a:avLst/>
          </a:prstGeom>
          <a:noFill/>
          <a:ln/>
        </p:spPr>
        <p:txBody>
          <a:bodyPr wrap="square" lIns="0" tIns="0" rIns="0" bIns="0" rtlCol="0" anchor="ctr"/>
          <a:lstStyle/>
          <a:p>
            <a:pPr algn="ctr" indent="0" marL="0">
              <a:buNone/>
            </a:pPr>
            <a:r>
              <a:rPr lang="en-US" sz="1100" b="1" dirty="0">
                <a:solidFill>
                  <a:srgbClr val="1E293B"/>
                </a:solidFill>
                <a:latin typeface="Cambria" pitchFamily="34" charset="0"/>
                <a:ea typeface="Cambria" pitchFamily="34" charset="-122"/>
                <a:cs typeface="Cambria" pitchFamily="34" charset="-120"/>
              </a:rPr>
              <a:t>Direct Channel</a:t>
            </a:r>
            <a:endParaRPr lang="en-US" sz="1100" dirty="0"/>
          </a:p>
          <a:p>
            <a:pPr algn="ctr" indent="0" marL="0">
              <a:buNone/>
            </a:pPr>
            <a:r>
              <a:rPr lang="en-US" sz="1100" b="1" dirty="0">
                <a:solidFill>
                  <a:srgbClr val="1E293B"/>
                </a:solidFill>
                <a:latin typeface="Cambria" pitchFamily="34" charset="0"/>
                <a:ea typeface="Cambria" pitchFamily="34" charset="-122"/>
                <a:cs typeface="Cambria" pitchFamily="34" charset="-120"/>
              </a:rPr>
              <a:t>Shift (+5%)</a:t>
            </a:r>
            <a:endParaRPr lang="en-US" sz="1100" dirty="0"/>
          </a:p>
        </p:txBody>
      </p:sp>
      <p:sp>
        <p:nvSpPr>
          <p:cNvPr id="42" name="Text 40"/>
          <p:cNvSpPr/>
          <p:nvPr/>
        </p:nvSpPr>
        <p:spPr>
          <a:xfrm>
            <a:off x="6912864" y="2194560"/>
            <a:ext cx="184708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Replace agent volume with D2C</a:t>
            </a:r>
            <a:endParaRPr lang="en-US" sz="850" dirty="0"/>
          </a:p>
        </p:txBody>
      </p:sp>
      <p:sp>
        <p:nvSpPr>
          <p:cNvPr id="43" name="Text 41"/>
          <p:cNvSpPr/>
          <p:nvPr/>
        </p:nvSpPr>
        <p:spPr>
          <a:xfrm>
            <a:off x="6912864" y="2651760"/>
            <a:ext cx="1847088" cy="182880"/>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Additional Bookings</a:t>
            </a:r>
            <a:endParaRPr lang="en-US" sz="800" dirty="0"/>
          </a:p>
        </p:txBody>
      </p:sp>
      <p:sp>
        <p:nvSpPr>
          <p:cNvPr id="44" name="Text 42"/>
          <p:cNvSpPr/>
          <p:nvPr/>
        </p:nvSpPr>
        <p:spPr>
          <a:xfrm>
            <a:off x="6912864" y="2834640"/>
            <a:ext cx="1847088" cy="219456"/>
          </a:xfrm>
          <a:prstGeom prst="rect">
            <a:avLst/>
          </a:prstGeom>
          <a:noFill/>
          <a:ln/>
        </p:spPr>
        <p:txBody>
          <a:bodyPr wrap="square" lIns="0" tIns="0" rIns="0" bIns="0" rtlCol="0" anchor="ctr"/>
          <a:lstStyle/>
          <a:p>
            <a:pPr algn="ctr" indent="0" marL="0">
              <a:buNone/>
            </a:pPr>
            <a:r>
              <a:rPr lang="en-US" sz="1400" b="1" dirty="0">
                <a:solidFill>
                  <a:srgbClr val="7C3AED"/>
                </a:solidFill>
                <a:latin typeface="Cambria" pitchFamily="34" charset="0"/>
                <a:ea typeface="Cambria" pitchFamily="34" charset="-122"/>
                <a:cs typeface="Cambria" pitchFamily="34" charset="-120"/>
              </a:rPr>
              <a:t>+150</a:t>
            </a:r>
            <a:endParaRPr lang="en-US" sz="1400" dirty="0"/>
          </a:p>
        </p:txBody>
      </p:sp>
      <p:sp>
        <p:nvSpPr>
          <p:cNvPr id="45" name="Text 43"/>
          <p:cNvSpPr/>
          <p:nvPr/>
        </p:nvSpPr>
        <p:spPr>
          <a:xfrm>
            <a:off x="6912864" y="3108960"/>
            <a:ext cx="1847088" cy="182880"/>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Additional Revenue</a:t>
            </a:r>
            <a:endParaRPr lang="en-US" sz="800" dirty="0"/>
          </a:p>
        </p:txBody>
      </p:sp>
      <p:sp>
        <p:nvSpPr>
          <p:cNvPr id="46" name="Text 44"/>
          <p:cNvSpPr/>
          <p:nvPr/>
        </p:nvSpPr>
        <p:spPr>
          <a:xfrm>
            <a:off x="6912864" y="3291840"/>
            <a:ext cx="1847088" cy="219456"/>
          </a:xfrm>
          <a:prstGeom prst="rect">
            <a:avLst/>
          </a:prstGeom>
          <a:noFill/>
          <a:ln/>
        </p:spPr>
        <p:txBody>
          <a:bodyPr wrap="square" lIns="0" tIns="0" rIns="0" bIns="0" rtlCol="0" anchor="ctr"/>
          <a:lstStyle/>
          <a:p>
            <a:pPr algn="ctr" indent="0" marL="0">
              <a:buNone/>
            </a:pPr>
            <a:r>
              <a:rPr lang="en-US" sz="1400" b="1" dirty="0">
                <a:solidFill>
                  <a:srgbClr val="7C3AED"/>
                </a:solidFill>
                <a:latin typeface="Cambria" pitchFamily="34" charset="0"/>
                <a:ea typeface="Cambria" pitchFamily="34" charset="-122"/>
                <a:cs typeface="Cambria" pitchFamily="34" charset="-120"/>
              </a:rPr>
              <a:t>+₹3.7M</a:t>
            </a:r>
            <a:endParaRPr lang="en-US" sz="1400" dirty="0"/>
          </a:p>
        </p:txBody>
      </p:sp>
      <p:sp>
        <p:nvSpPr>
          <p:cNvPr id="47" name="Text 45"/>
          <p:cNvSpPr/>
          <p:nvPr/>
        </p:nvSpPr>
        <p:spPr>
          <a:xfrm>
            <a:off x="6912864" y="3566160"/>
            <a:ext cx="1847088" cy="182880"/>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Additional Profit</a:t>
            </a:r>
            <a:endParaRPr lang="en-US" sz="800" dirty="0"/>
          </a:p>
        </p:txBody>
      </p:sp>
      <p:sp>
        <p:nvSpPr>
          <p:cNvPr id="48" name="Text 46"/>
          <p:cNvSpPr/>
          <p:nvPr/>
        </p:nvSpPr>
        <p:spPr>
          <a:xfrm>
            <a:off x="6912864" y="3749040"/>
            <a:ext cx="1847088" cy="219456"/>
          </a:xfrm>
          <a:prstGeom prst="rect">
            <a:avLst/>
          </a:prstGeom>
          <a:noFill/>
          <a:ln/>
        </p:spPr>
        <p:txBody>
          <a:bodyPr wrap="square" lIns="0" tIns="0" rIns="0" bIns="0" rtlCol="0" anchor="ctr"/>
          <a:lstStyle/>
          <a:p>
            <a:pPr algn="ctr" indent="0" marL="0">
              <a:buNone/>
            </a:pPr>
            <a:r>
              <a:rPr lang="en-US" sz="1400" b="1" dirty="0">
                <a:solidFill>
                  <a:srgbClr val="7C3AED"/>
                </a:solidFill>
                <a:latin typeface="Cambria" pitchFamily="34" charset="0"/>
                <a:ea typeface="Cambria" pitchFamily="34" charset="-122"/>
                <a:cs typeface="Cambria" pitchFamily="34" charset="-120"/>
              </a:rPr>
              <a:t>+₹1.4M</a:t>
            </a:r>
            <a:endParaRPr lang="en-US" sz="1400" dirty="0"/>
          </a:p>
        </p:txBody>
      </p:sp>
      <p:sp>
        <p:nvSpPr>
          <p:cNvPr id="49" name="Shape 47"/>
          <p:cNvSpPr/>
          <p:nvPr/>
        </p:nvSpPr>
        <p:spPr>
          <a:xfrm>
            <a:off x="182880" y="4133088"/>
            <a:ext cx="8778240" cy="822960"/>
          </a:xfrm>
          <a:prstGeom prst="roundRect">
            <a:avLst>
              <a:gd name="adj" fmla="val 5556"/>
            </a:avLst>
          </a:prstGeom>
          <a:solidFill>
            <a:srgbClr val="FFFFFF"/>
          </a:solidFill>
          <a:ln w="12700">
            <a:solidFill>
              <a:srgbClr val="E2E8F0"/>
            </a:solidFill>
            <a:prstDash val="solid"/>
          </a:ln>
        </p:spPr>
      </p:sp>
      <p:sp>
        <p:nvSpPr>
          <p:cNvPr id="50" name="Text 48"/>
          <p:cNvSpPr/>
          <p:nvPr/>
        </p:nvSpPr>
        <p:spPr>
          <a:xfrm>
            <a:off x="320040" y="4187952"/>
            <a:ext cx="1371600" cy="256032"/>
          </a:xfrm>
          <a:prstGeom prst="rect">
            <a:avLst/>
          </a:prstGeom>
          <a:noFill/>
          <a:ln/>
        </p:spPr>
        <p:txBody>
          <a:bodyPr wrap="square" lIns="0" tIns="0" rIns="0" bIns="0" rtlCol="0" anchor="ctr"/>
          <a:lstStyle/>
          <a:p>
            <a:pPr indent="0" marL="0">
              <a:buNone/>
            </a:pPr>
            <a:r>
              <a:rPr lang="en-US" sz="900" b="1" dirty="0">
                <a:solidFill>
                  <a:srgbClr val="0A1628"/>
                </a:solidFill>
                <a:latin typeface="Calibri" pitchFamily="34" charset="0"/>
                <a:ea typeface="Calibri" pitchFamily="34" charset="-122"/>
                <a:cs typeface="Calibri" pitchFamily="34" charset="-120"/>
              </a:rPr>
              <a:t>Assumptions  ·</a:t>
            </a:r>
            <a:endParaRPr lang="en-US" sz="900" dirty="0"/>
          </a:p>
        </p:txBody>
      </p:sp>
      <p:sp>
        <p:nvSpPr>
          <p:cNvPr id="51" name="Text 49"/>
          <p:cNvSpPr/>
          <p:nvPr/>
        </p:nvSpPr>
        <p:spPr>
          <a:xfrm>
            <a:off x="320040" y="4462272"/>
            <a:ext cx="8503920" cy="420624"/>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Avg booking value ₹24,834  ·  Avg profit per booking ₹6,963  ·  27.7% profit margin  ·  30,000 annual bookings baseline  ·  Scenarios are independent; combined upside ₹40–55M+</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a:ln w="12700">
            <a:solidFill>
              <a:srgbClr val="0A1628"/>
            </a:solidFill>
            <a:prstDash val="solid"/>
          </a:ln>
        </p:spPr>
      </p:sp>
      <p:sp>
        <p:nvSpPr>
          <p:cNvPr id="3" name="Text 1"/>
          <p:cNvSpPr/>
          <p:nvPr/>
        </p:nvSpPr>
        <p:spPr>
          <a:xfrm>
            <a:off x="457200" y="73152"/>
            <a:ext cx="6400800" cy="292608"/>
          </a:xfrm>
          <a:prstGeom prst="rect">
            <a:avLst/>
          </a:prstGeom>
          <a:noFill/>
          <a:ln/>
        </p:spPr>
        <p:txBody>
          <a:bodyPr wrap="square" lIns="0" tIns="0" rIns="0" bIns="0" rtlCol="0" anchor="ctr"/>
          <a:lstStyle/>
          <a:p>
            <a:pPr indent="0" marL="0">
              <a:buNone/>
            </a:pPr>
            <a:r>
              <a:rPr lang="en-US" sz="1000" b="1" spc="300" kern="0" dirty="0">
                <a:solidFill>
                  <a:srgbClr val="14B8A6"/>
                </a:solidFill>
                <a:latin typeface="Calibri" pitchFamily="34" charset="0"/>
                <a:ea typeface="Calibri" pitchFamily="34" charset="-122"/>
                <a:cs typeface="Calibri" pitchFamily="34" charset="-120"/>
              </a:rPr>
              <a:t>IMPLEMENTATION ROADMAP</a:t>
            </a:r>
            <a:endParaRPr lang="en-US" sz="1000" dirty="0"/>
          </a:p>
        </p:txBody>
      </p:sp>
      <p:sp>
        <p:nvSpPr>
          <p:cNvPr id="4" name="Text 2"/>
          <p:cNvSpPr/>
          <p:nvPr/>
        </p:nvSpPr>
        <p:spPr>
          <a:xfrm>
            <a:off x="457200" y="347472"/>
            <a:ext cx="8229600" cy="347472"/>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30 / 60 / 90 Day Action Plan</a:t>
            </a:r>
            <a:endParaRPr lang="en-US" sz="1800" dirty="0"/>
          </a:p>
        </p:txBody>
      </p:sp>
      <p:sp>
        <p:nvSpPr>
          <p:cNvPr id="5" name="Shape 3"/>
          <p:cNvSpPr/>
          <p:nvPr/>
        </p:nvSpPr>
        <p:spPr>
          <a:xfrm>
            <a:off x="182880" y="914400"/>
            <a:ext cx="2816352" cy="4041648"/>
          </a:xfrm>
          <a:prstGeom prst="roundRect">
            <a:avLst>
              <a:gd name="adj" fmla="val 2597"/>
            </a:avLst>
          </a:prstGeom>
          <a:solidFill>
            <a:srgbClr val="F0FDF4"/>
          </a:solidFill>
          <a:ln w="12700">
            <a:solidFill>
              <a:srgbClr val="E2E8F0"/>
            </a:solidFill>
            <a:prstDash val="solid"/>
          </a:ln>
          <a:effectLst>
            <a:outerShdw sx="100000" sy="100000" kx="0" ky="0" algn="bl" rotWithShape="0" blurRad="101600" dist="25400" dir="2700000">
              <a:srgbClr val="000000">
                <a:alpha val="10000"/>
              </a:srgbClr>
            </a:outerShdw>
          </a:effectLst>
        </p:spPr>
      </p:sp>
      <p:sp>
        <p:nvSpPr>
          <p:cNvPr id="6" name="Text 4"/>
          <p:cNvSpPr/>
          <p:nvPr/>
        </p:nvSpPr>
        <p:spPr>
          <a:xfrm>
            <a:off x="292608" y="987552"/>
            <a:ext cx="2596896" cy="384048"/>
          </a:xfrm>
          <a:prstGeom prst="rect">
            <a:avLst/>
          </a:prstGeom>
          <a:noFill/>
          <a:ln/>
        </p:spPr>
        <p:txBody>
          <a:bodyPr wrap="square" lIns="0" tIns="0" rIns="0" bIns="0" rtlCol="0" anchor="ctr"/>
          <a:lstStyle/>
          <a:p>
            <a:pPr indent="0" marL="0">
              <a:buNone/>
            </a:pPr>
            <a:r>
              <a:rPr lang="en-US" sz="1800" b="1" dirty="0">
                <a:solidFill>
                  <a:srgbClr val="0D9488"/>
                </a:solidFill>
                <a:latin typeface="Cambria" pitchFamily="34" charset="0"/>
                <a:ea typeface="Cambria" pitchFamily="34" charset="-122"/>
                <a:cs typeface="Cambria" pitchFamily="34" charset="-120"/>
              </a:rPr>
              <a:t>30 Days</a:t>
            </a:r>
            <a:endParaRPr lang="en-US" sz="1800" dirty="0"/>
          </a:p>
        </p:txBody>
      </p:sp>
      <p:sp>
        <p:nvSpPr>
          <p:cNvPr id="7" name="Text 5"/>
          <p:cNvSpPr/>
          <p:nvPr/>
        </p:nvSpPr>
        <p:spPr>
          <a:xfrm>
            <a:off x="292608" y="1389888"/>
            <a:ext cx="2596896" cy="23774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Quick Wins</a:t>
            </a:r>
            <a:endParaRPr lang="en-US" sz="1000" dirty="0"/>
          </a:p>
        </p:txBody>
      </p:sp>
      <p:sp>
        <p:nvSpPr>
          <p:cNvPr id="8" name="Shape 6"/>
          <p:cNvSpPr/>
          <p:nvPr/>
        </p:nvSpPr>
        <p:spPr>
          <a:xfrm>
            <a:off x="292608" y="1645920"/>
            <a:ext cx="2596896" cy="22860"/>
          </a:xfrm>
          <a:prstGeom prst="rect">
            <a:avLst/>
          </a:prstGeom>
          <a:solidFill>
            <a:srgbClr val="0D9488"/>
          </a:solidFill>
          <a:ln w="12700">
            <a:solidFill>
              <a:srgbClr val="0D9488"/>
            </a:solidFill>
            <a:prstDash val="solid"/>
          </a:ln>
        </p:spPr>
      </p:sp>
      <p:sp>
        <p:nvSpPr>
          <p:cNvPr id="9" name="Shape 7"/>
          <p:cNvSpPr/>
          <p:nvPr/>
        </p:nvSpPr>
        <p:spPr>
          <a:xfrm>
            <a:off x="292608" y="1719072"/>
            <a:ext cx="2596896" cy="713232"/>
          </a:xfrm>
          <a:prstGeom prst="roundRect">
            <a:avLst>
              <a:gd name="adj" fmla="val 5128"/>
            </a:avLst>
          </a:prstGeom>
          <a:solidFill>
            <a:srgbClr val="FFFFFF"/>
          </a:solidFill>
          <a:ln w="12700">
            <a:solidFill>
              <a:srgbClr val="E2E8F0"/>
            </a:solidFill>
            <a:prstDash val="solid"/>
          </a:ln>
        </p:spPr>
      </p:sp>
      <p:sp>
        <p:nvSpPr>
          <p:cNvPr id="10" name="Text 8"/>
          <p:cNvSpPr/>
          <p:nvPr/>
        </p:nvSpPr>
        <p:spPr>
          <a:xfrm>
            <a:off x="384048" y="1773936"/>
            <a:ext cx="2414016" cy="329184"/>
          </a:xfrm>
          <a:prstGeom prst="rect">
            <a:avLst/>
          </a:prstGeom>
          <a:noFill/>
          <a:ln/>
        </p:spPr>
        <p:txBody>
          <a:bodyPr wrap="square" lIns="0" tIns="0" rIns="0" bIns="0" rtlCol="0" anchor="ctr"/>
          <a:lstStyle/>
          <a:p>
            <a:pPr indent="0" marL="0">
              <a:buNone/>
            </a:pPr>
            <a:r>
              <a:rPr lang="en-US" sz="900" b="1" dirty="0">
                <a:solidFill>
                  <a:srgbClr val="1E293B"/>
                </a:solidFill>
                <a:latin typeface="Calibri" pitchFamily="34" charset="0"/>
                <a:ea typeface="Calibri" pitchFamily="34" charset="-122"/>
                <a:cs typeface="Calibri" pitchFamily="34" charset="-120"/>
              </a:rPr>
              <a:t>Launch Non-Refundable Pricing Tier</a:t>
            </a:r>
            <a:endParaRPr lang="en-US" sz="900" dirty="0"/>
          </a:p>
        </p:txBody>
      </p:sp>
      <p:sp>
        <p:nvSpPr>
          <p:cNvPr id="11" name="Text 9"/>
          <p:cNvSpPr/>
          <p:nvPr/>
        </p:nvSpPr>
        <p:spPr>
          <a:xfrm>
            <a:off x="384048" y="2121408"/>
            <a:ext cx="2414016" cy="237744"/>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Owner: Revenue Mgmt   ·   KPI: Cancel Rate</a:t>
            </a:r>
            <a:endParaRPr lang="en-US" sz="750" dirty="0"/>
          </a:p>
        </p:txBody>
      </p:sp>
      <p:sp>
        <p:nvSpPr>
          <p:cNvPr id="12" name="Shape 10"/>
          <p:cNvSpPr/>
          <p:nvPr/>
        </p:nvSpPr>
        <p:spPr>
          <a:xfrm>
            <a:off x="292608" y="2523744"/>
            <a:ext cx="2596896" cy="713232"/>
          </a:xfrm>
          <a:prstGeom prst="roundRect">
            <a:avLst>
              <a:gd name="adj" fmla="val 5128"/>
            </a:avLst>
          </a:prstGeom>
          <a:solidFill>
            <a:srgbClr val="FFFFFF"/>
          </a:solidFill>
          <a:ln w="12700">
            <a:solidFill>
              <a:srgbClr val="E2E8F0"/>
            </a:solidFill>
            <a:prstDash val="solid"/>
          </a:ln>
        </p:spPr>
      </p:sp>
      <p:sp>
        <p:nvSpPr>
          <p:cNvPr id="13" name="Text 11"/>
          <p:cNvSpPr/>
          <p:nvPr/>
        </p:nvSpPr>
        <p:spPr>
          <a:xfrm>
            <a:off x="384048" y="2578608"/>
            <a:ext cx="2414016" cy="329184"/>
          </a:xfrm>
          <a:prstGeom prst="rect">
            <a:avLst/>
          </a:prstGeom>
          <a:noFill/>
          <a:ln/>
        </p:spPr>
        <p:txBody>
          <a:bodyPr wrap="square" lIns="0" tIns="0" rIns="0" bIns="0" rtlCol="0" anchor="ctr"/>
          <a:lstStyle/>
          <a:p>
            <a:pPr indent="0" marL="0">
              <a:buNone/>
            </a:pPr>
            <a:r>
              <a:rPr lang="en-US" sz="900" b="1" dirty="0">
                <a:solidFill>
                  <a:srgbClr val="1E293B"/>
                </a:solidFill>
                <a:latin typeface="Calibri" pitchFamily="34" charset="0"/>
                <a:ea typeface="Calibri" pitchFamily="34" charset="-122"/>
                <a:cs typeface="Calibri" pitchFamily="34" charset="-120"/>
              </a:rPr>
              <a:t>Deploy Suite Upsell Prompt (Post-Confirm)</a:t>
            </a:r>
            <a:endParaRPr lang="en-US" sz="900" dirty="0"/>
          </a:p>
        </p:txBody>
      </p:sp>
      <p:sp>
        <p:nvSpPr>
          <p:cNvPr id="14" name="Text 12"/>
          <p:cNvSpPr/>
          <p:nvPr/>
        </p:nvSpPr>
        <p:spPr>
          <a:xfrm>
            <a:off x="384048" y="2926080"/>
            <a:ext cx="2414016" cy="237744"/>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Owner: Product   ·   KPI: Avg Profit/Booking</a:t>
            </a:r>
            <a:endParaRPr lang="en-US" sz="750" dirty="0"/>
          </a:p>
        </p:txBody>
      </p:sp>
      <p:sp>
        <p:nvSpPr>
          <p:cNvPr id="15" name="Shape 13"/>
          <p:cNvSpPr/>
          <p:nvPr/>
        </p:nvSpPr>
        <p:spPr>
          <a:xfrm>
            <a:off x="292608" y="3328416"/>
            <a:ext cx="2596896" cy="713232"/>
          </a:xfrm>
          <a:prstGeom prst="roundRect">
            <a:avLst>
              <a:gd name="adj" fmla="val 5128"/>
            </a:avLst>
          </a:prstGeom>
          <a:solidFill>
            <a:srgbClr val="FFFFFF"/>
          </a:solidFill>
          <a:ln w="12700">
            <a:solidFill>
              <a:srgbClr val="E2E8F0"/>
            </a:solidFill>
            <a:prstDash val="solid"/>
          </a:ln>
        </p:spPr>
      </p:sp>
      <p:sp>
        <p:nvSpPr>
          <p:cNvPr id="16" name="Text 14"/>
          <p:cNvSpPr/>
          <p:nvPr/>
        </p:nvSpPr>
        <p:spPr>
          <a:xfrm>
            <a:off x="384048" y="3383280"/>
            <a:ext cx="2414016" cy="329184"/>
          </a:xfrm>
          <a:prstGeom prst="rect">
            <a:avLst/>
          </a:prstGeom>
          <a:noFill/>
          <a:ln/>
        </p:spPr>
        <p:txBody>
          <a:bodyPr wrap="square" lIns="0" tIns="0" rIns="0" bIns="0" rtlCol="0" anchor="ctr"/>
          <a:lstStyle/>
          <a:p>
            <a:pPr indent="0" marL="0">
              <a:buNone/>
            </a:pPr>
            <a:r>
              <a:rPr lang="en-US" sz="900" b="1" dirty="0">
                <a:solidFill>
                  <a:srgbClr val="1E293B"/>
                </a:solidFill>
                <a:latin typeface="Calibri" pitchFamily="34" charset="0"/>
                <a:ea typeface="Calibri" pitchFamily="34" charset="-122"/>
                <a:cs typeface="Calibri" pitchFamily="34" charset="-120"/>
              </a:rPr>
              <a:t>5-Star Premium Campaign (Email + Carousel)</a:t>
            </a:r>
            <a:endParaRPr lang="en-US" sz="900" dirty="0"/>
          </a:p>
        </p:txBody>
      </p:sp>
      <p:sp>
        <p:nvSpPr>
          <p:cNvPr id="17" name="Text 15"/>
          <p:cNvSpPr/>
          <p:nvPr/>
        </p:nvSpPr>
        <p:spPr>
          <a:xfrm>
            <a:off x="384048" y="3730752"/>
            <a:ext cx="2414016" cy="237744"/>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Owner: Marketing   ·   KPI: 5★ Booking Share</a:t>
            </a:r>
            <a:endParaRPr lang="en-US" sz="750" dirty="0"/>
          </a:p>
        </p:txBody>
      </p:sp>
      <p:sp>
        <p:nvSpPr>
          <p:cNvPr id="18" name="Shape 16"/>
          <p:cNvSpPr/>
          <p:nvPr/>
        </p:nvSpPr>
        <p:spPr>
          <a:xfrm>
            <a:off x="292608" y="4133088"/>
            <a:ext cx="2596896" cy="713232"/>
          </a:xfrm>
          <a:prstGeom prst="roundRect">
            <a:avLst>
              <a:gd name="adj" fmla="val 5128"/>
            </a:avLst>
          </a:prstGeom>
          <a:solidFill>
            <a:srgbClr val="FFFFFF"/>
          </a:solidFill>
          <a:ln w="12700">
            <a:solidFill>
              <a:srgbClr val="E2E8F0"/>
            </a:solidFill>
            <a:prstDash val="solid"/>
          </a:ln>
        </p:spPr>
      </p:sp>
      <p:sp>
        <p:nvSpPr>
          <p:cNvPr id="19" name="Text 17"/>
          <p:cNvSpPr/>
          <p:nvPr/>
        </p:nvSpPr>
        <p:spPr>
          <a:xfrm>
            <a:off x="384048" y="4187952"/>
            <a:ext cx="2414016" cy="329184"/>
          </a:xfrm>
          <a:prstGeom prst="rect">
            <a:avLst/>
          </a:prstGeom>
          <a:noFill/>
          <a:ln/>
        </p:spPr>
        <p:txBody>
          <a:bodyPr wrap="square" lIns="0" tIns="0" rIns="0" bIns="0" rtlCol="0" anchor="ctr"/>
          <a:lstStyle/>
          <a:p>
            <a:pPr indent="0" marL="0">
              <a:buNone/>
            </a:pPr>
            <a:r>
              <a:rPr lang="en-US" sz="900" b="1" dirty="0">
                <a:solidFill>
                  <a:srgbClr val="1E293B"/>
                </a:solidFill>
                <a:latin typeface="Calibri" pitchFamily="34" charset="0"/>
                <a:ea typeface="Calibri" pitchFamily="34" charset="-122"/>
                <a:cs typeface="Calibri" pitchFamily="34" charset="-120"/>
              </a:rPr>
              <a:t>Clarify Refund Status Data Definition</a:t>
            </a:r>
            <a:endParaRPr lang="en-US" sz="900" dirty="0"/>
          </a:p>
        </p:txBody>
      </p:sp>
      <p:sp>
        <p:nvSpPr>
          <p:cNvPr id="20" name="Text 18"/>
          <p:cNvSpPr/>
          <p:nvPr/>
        </p:nvSpPr>
        <p:spPr>
          <a:xfrm>
            <a:off x="384048" y="4535424"/>
            <a:ext cx="2414016" cy="237744"/>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Owner: Data/Engineering   ·   KPI: Data Quality</a:t>
            </a:r>
            <a:endParaRPr lang="en-US" sz="750" dirty="0"/>
          </a:p>
        </p:txBody>
      </p:sp>
      <p:sp>
        <p:nvSpPr>
          <p:cNvPr id="21" name="Shape 19"/>
          <p:cNvSpPr/>
          <p:nvPr/>
        </p:nvSpPr>
        <p:spPr>
          <a:xfrm>
            <a:off x="3182112" y="914400"/>
            <a:ext cx="2816352" cy="4041648"/>
          </a:xfrm>
          <a:prstGeom prst="roundRect">
            <a:avLst>
              <a:gd name="adj" fmla="val 2597"/>
            </a:avLst>
          </a:prstGeom>
          <a:solidFill>
            <a:srgbClr val="FFFBEB"/>
          </a:solidFill>
          <a:ln w="12700">
            <a:solidFill>
              <a:srgbClr val="E2E8F0"/>
            </a:solidFill>
            <a:prstDash val="solid"/>
          </a:ln>
          <a:effectLst>
            <a:outerShdw sx="100000" sy="100000" kx="0" ky="0" algn="bl" rotWithShape="0" blurRad="101600" dist="25400" dir="2700000">
              <a:srgbClr val="000000">
                <a:alpha val="10000"/>
              </a:srgbClr>
            </a:outerShdw>
          </a:effectLst>
        </p:spPr>
      </p:sp>
      <p:sp>
        <p:nvSpPr>
          <p:cNvPr id="22" name="Text 20"/>
          <p:cNvSpPr/>
          <p:nvPr/>
        </p:nvSpPr>
        <p:spPr>
          <a:xfrm>
            <a:off x="3291840" y="987552"/>
            <a:ext cx="2596896" cy="384048"/>
          </a:xfrm>
          <a:prstGeom prst="rect">
            <a:avLst/>
          </a:prstGeom>
          <a:noFill/>
          <a:ln/>
        </p:spPr>
        <p:txBody>
          <a:bodyPr wrap="square" lIns="0" tIns="0" rIns="0" bIns="0" rtlCol="0" anchor="ctr"/>
          <a:lstStyle/>
          <a:p>
            <a:pPr indent="0" marL="0">
              <a:buNone/>
            </a:pPr>
            <a:r>
              <a:rPr lang="en-US" sz="1800" b="1" dirty="0">
                <a:solidFill>
                  <a:srgbClr val="F18F01"/>
                </a:solidFill>
                <a:latin typeface="Cambria" pitchFamily="34" charset="0"/>
                <a:ea typeface="Cambria" pitchFamily="34" charset="-122"/>
                <a:cs typeface="Cambria" pitchFamily="34" charset="-120"/>
              </a:rPr>
              <a:t>60 Days</a:t>
            </a:r>
            <a:endParaRPr lang="en-US" sz="1800" dirty="0"/>
          </a:p>
        </p:txBody>
      </p:sp>
      <p:sp>
        <p:nvSpPr>
          <p:cNvPr id="23" name="Text 21"/>
          <p:cNvSpPr/>
          <p:nvPr/>
        </p:nvSpPr>
        <p:spPr>
          <a:xfrm>
            <a:off x="3291840" y="1389888"/>
            <a:ext cx="2596896" cy="23774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Core Builds</a:t>
            </a:r>
            <a:endParaRPr lang="en-US" sz="1000" dirty="0"/>
          </a:p>
        </p:txBody>
      </p:sp>
      <p:sp>
        <p:nvSpPr>
          <p:cNvPr id="24" name="Shape 22"/>
          <p:cNvSpPr/>
          <p:nvPr/>
        </p:nvSpPr>
        <p:spPr>
          <a:xfrm>
            <a:off x="3291840" y="1645920"/>
            <a:ext cx="2596896" cy="22860"/>
          </a:xfrm>
          <a:prstGeom prst="rect">
            <a:avLst/>
          </a:prstGeom>
          <a:solidFill>
            <a:srgbClr val="F18F01"/>
          </a:solidFill>
          <a:ln w="12700">
            <a:solidFill>
              <a:srgbClr val="F18F01"/>
            </a:solidFill>
            <a:prstDash val="solid"/>
          </a:ln>
        </p:spPr>
      </p:sp>
      <p:sp>
        <p:nvSpPr>
          <p:cNvPr id="25" name="Shape 23"/>
          <p:cNvSpPr/>
          <p:nvPr/>
        </p:nvSpPr>
        <p:spPr>
          <a:xfrm>
            <a:off x="3291840" y="1719072"/>
            <a:ext cx="2596896" cy="713232"/>
          </a:xfrm>
          <a:prstGeom prst="roundRect">
            <a:avLst>
              <a:gd name="adj" fmla="val 5128"/>
            </a:avLst>
          </a:prstGeom>
          <a:solidFill>
            <a:srgbClr val="FFFFFF"/>
          </a:solidFill>
          <a:ln w="12700">
            <a:solidFill>
              <a:srgbClr val="E2E8F0"/>
            </a:solidFill>
            <a:prstDash val="solid"/>
          </a:ln>
        </p:spPr>
      </p:sp>
      <p:sp>
        <p:nvSpPr>
          <p:cNvPr id="26" name="Text 24"/>
          <p:cNvSpPr/>
          <p:nvPr/>
        </p:nvSpPr>
        <p:spPr>
          <a:xfrm>
            <a:off x="3383280" y="1773936"/>
            <a:ext cx="2414016" cy="329184"/>
          </a:xfrm>
          <a:prstGeom prst="rect">
            <a:avLst/>
          </a:prstGeom>
          <a:noFill/>
          <a:ln/>
        </p:spPr>
        <p:txBody>
          <a:bodyPr wrap="square" lIns="0" tIns="0" rIns="0" bIns="0" rtlCol="0" anchor="ctr"/>
          <a:lstStyle/>
          <a:p>
            <a:pPr indent="0" marL="0">
              <a:buNone/>
            </a:pPr>
            <a:r>
              <a:rPr lang="en-US" sz="900" b="1" dirty="0">
                <a:solidFill>
                  <a:srgbClr val="1E293B"/>
                </a:solidFill>
                <a:latin typeface="Calibri" pitchFamily="34" charset="0"/>
                <a:ea typeface="Calibri" pitchFamily="34" charset="-122"/>
                <a:cs typeface="Calibri" pitchFamily="34" charset="-120"/>
              </a:rPr>
              <a:t>Integrate Payment Retry Engine + UPI</a:t>
            </a:r>
            <a:endParaRPr lang="en-US" sz="900" dirty="0"/>
          </a:p>
        </p:txBody>
      </p:sp>
      <p:sp>
        <p:nvSpPr>
          <p:cNvPr id="27" name="Text 25"/>
          <p:cNvSpPr/>
          <p:nvPr/>
        </p:nvSpPr>
        <p:spPr>
          <a:xfrm>
            <a:off x="3383280" y="2121408"/>
            <a:ext cx="2414016" cy="237744"/>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Owner: Engineering   ·   KPI: Failure Rate</a:t>
            </a:r>
            <a:endParaRPr lang="en-US" sz="750" dirty="0"/>
          </a:p>
        </p:txBody>
      </p:sp>
      <p:sp>
        <p:nvSpPr>
          <p:cNvPr id="28" name="Shape 26"/>
          <p:cNvSpPr/>
          <p:nvPr/>
        </p:nvSpPr>
        <p:spPr>
          <a:xfrm>
            <a:off x="3291840" y="2523744"/>
            <a:ext cx="2596896" cy="713232"/>
          </a:xfrm>
          <a:prstGeom prst="roundRect">
            <a:avLst>
              <a:gd name="adj" fmla="val 5128"/>
            </a:avLst>
          </a:prstGeom>
          <a:solidFill>
            <a:srgbClr val="FFFFFF"/>
          </a:solidFill>
          <a:ln w="12700">
            <a:solidFill>
              <a:srgbClr val="E2E8F0"/>
            </a:solidFill>
            <a:prstDash val="solid"/>
          </a:ln>
        </p:spPr>
      </p:sp>
      <p:sp>
        <p:nvSpPr>
          <p:cNvPr id="29" name="Text 27"/>
          <p:cNvSpPr/>
          <p:nvPr/>
        </p:nvSpPr>
        <p:spPr>
          <a:xfrm>
            <a:off x="3383280" y="2578608"/>
            <a:ext cx="2414016" cy="329184"/>
          </a:xfrm>
          <a:prstGeom prst="rect">
            <a:avLst/>
          </a:prstGeom>
          <a:noFill/>
          <a:ln/>
        </p:spPr>
        <p:txBody>
          <a:bodyPr wrap="square" lIns="0" tIns="0" rIns="0" bIns="0" rtlCol="0" anchor="ctr"/>
          <a:lstStyle/>
          <a:p>
            <a:pPr indent="0" marL="0">
              <a:buNone/>
            </a:pPr>
            <a:r>
              <a:rPr lang="en-US" sz="900" b="1" dirty="0">
                <a:solidFill>
                  <a:srgbClr val="1E293B"/>
                </a:solidFill>
                <a:latin typeface="Calibri" pitchFamily="34" charset="0"/>
                <a:ea typeface="Calibri" pitchFamily="34" charset="-122"/>
                <a:cs typeface="Calibri" pitchFamily="34" charset="-120"/>
              </a:rPr>
              <a:t>Draft &amp; Enforce Travel Agent SLA Contract</a:t>
            </a:r>
            <a:endParaRPr lang="en-US" sz="900" dirty="0"/>
          </a:p>
        </p:txBody>
      </p:sp>
      <p:sp>
        <p:nvSpPr>
          <p:cNvPr id="30" name="Text 28"/>
          <p:cNvSpPr/>
          <p:nvPr/>
        </p:nvSpPr>
        <p:spPr>
          <a:xfrm>
            <a:off x="3383280" y="2926080"/>
            <a:ext cx="2414016" cy="237744"/>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Owner: Commercial/Legal   ·   KPI: Agent Cancel Rate</a:t>
            </a:r>
            <a:endParaRPr lang="en-US" sz="750" dirty="0"/>
          </a:p>
        </p:txBody>
      </p:sp>
      <p:sp>
        <p:nvSpPr>
          <p:cNvPr id="31" name="Shape 29"/>
          <p:cNvSpPr/>
          <p:nvPr/>
        </p:nvSpPr>
        <p:spPr>
          <a:xfrm>
            <a:off x="3291840" y="3328416"/>
            <a:ext cx="2596896" cy="713232"/>
          </a:xfrm>
          <a:prstGeom prst="roundRect">
            <a:avLst>
              <a:gd name="adj" fmla="val 5128"/>
            </a:avLst>
          </a:prstGeom>
          <a:solidFill>
            <a:srgbClr val="FFFFFF"/>
          </a:solidFill>
          <a:ln w="12700">
            <a:solidFill>
              <a:srgbClr val="E2E8F0"/>
            </a:solidFill>
            <a:prstDash val="solid"/>
          </a:ln>
        </p:spPr>
      </p:sp>
      <p:sp>
        <p:nvSpPr>
          <p:cNvPr id="32" name="Text 30"/>
          <p:cNvSpPr/>
          <p:nvPr/>
        </p:nvSpPr>
        <p:spPr>
          <a:xfrm>
            <a:off x="3383280" y="3383280"/>
            <a:ext cx="2414016" cy="329184"/>
          </a:xfrm>
          <a:prstGeom prst="rect">
            <a:avLst/>
          </a:prstGeom>
          <a:noFill/>
          <a:ln/>
        </p:spPr>
        <p:txBody>
          <a:bodyPr wrap="square" lIns="0" tIns="0" rIns="0" bIns="0" rtlCol="0" anchor="ctr"/>
          <a:lstStyle/>
          <a:p>
            <a:pPr indent="0" marL="0">
              <a:buNone/>
            </a:pPr>
            <a:r>
              <a:rPr lang="en-US" sz="900" b="1" dirty="0">
                <a:solidFill>
                  <a:srgbClr val="1E293B"/>
                </a:solidFill>
                <a:latin typeface="Calibri" pitchFamily="34" charset="0"/>
                <a:ea typeface="Calibri" pitchFamily="34" charset="-122"/>
                <a:cs typeface="Calibri" pitchFamily="34" charset="-120"/>
              </a:rPr>
              <a:t>Mobile Push Notification Campaign (A/B)</a:t>
            </a:r>
            <a:endParaRPr lang="en-US" sz="900" dirty="0"/>
          </a:p>
        </p:txBody>
      </p:sp>
      <p:sp>
        <p:nvSpPr>
          <p:cNvPr id="33" name="Text 31"/>
          <p:cNvSpPr/>
          <p:nvPr/>
        </p:nvSpPr>
        <p:spPr>
          <a:xfrm>
            <a:off x="3383280" y="3730752"/>
            <a:ext cx="2414016" cy="237744"/>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Owner: Growth/Product   ·   KPI: Mobile Confirm Rate</a:t>
            </a:r>
            <a:endParaRPr lang="en-US" sz="750" dirty="0"/>
          </a:p>
        </p:txBody>
      </p:sp>
      <p:sp>
        <p:nvSpPr>
          <p:cNvPr id="34" name="Shape 32"/>
          <p:cNvSpPr/>
          <p:nvPr/>
        </p:nvSpPr>
        <p:spPr>
          <a:xfrm>
            <a:off x="3291840" y="4133088"/>
            <a:ext cx="2596896" cy="713232"/>
          </a:xfrm>
          <a:prstGeom prst="roundRect">
            <a:avLst>
              <a:gd name="adj" fmla="val 5128"/>
            </a:avLst>
          </a:prstGeom>
          <a:solidFill>
            <a:srgbClr val="FFFFFF"/>
          </a:solidFill>
          <a:ln w="12700">
            <a:solidFill>
              <a:srgbClr val="E2E8F0"/>
            </a:solidFill>
            <a:prstDash val="solid"/>
          </a:ln>
        </p:spPr>
      </p:sp>
      <p:sp>
        <p:nvSpPr>
          <p:cNvPr id="35" name="Text 33"/>
          <p:cNvSpPr/>
          <p:nvPr/>
        </p:nvSpPr>
        <p:spPr>
          <a:xfrm>
            <a:off x="3383280" y="4187952"/>
            <a:ext cx="2414016" cy="329184"/>
          </a:xfrm>
          <a:prstGeom prst="rect">
            <a:avLst/>
          </a:prstGeom>
          <a:noFill/>
          <a:ln/>
        </p:spPr>
        <p:txBody>
          <a:bodyPr wrap="square" lIns="0" tIns="0" rIns="0" bIns="0" rtlCol="0" anchor="ctr"/>
          <a:lstStyle/>
          <a:p>
            <a:pPr indent="0" marL="0">
              <a:buNone/>
            </a:pPr>
            <a:r>
              <a:rPr lang="en-US" sz="900" b="1" dirty="0">
                <a:solidFill>
                  <a:srgbClr val="1E293B"/>
                </a:solidFill>
                <a:latin typeface="Calibri" pitchFamily="34" charset="0"/>
                <a:ea typeface="Calibri" pitchFamily="34" charset="-122"/>
                <a:cs typeface="Calibri" pitchFamily="34" charset="-120"/>
              </a:rPr>
              <a:t>VIP Loyalty Programme Design &amp; MVP</a:t>
            </a:r>
            <a:endParaRPr lang="en-US" sz="900" dirty="0"/>
          </a:p>
        </p:txBody>
      </p:sp>
      <p:sp>
        <p:nvSpPr>
          <p:cNvPr id="36" name="Text 34"/>
          <p:cNvSpPr/>
          <p:nvPr/>
        </p:nvSpPr>
        <p:spPr>
          <a:xfrm>
            <a:off x="3383280" y="4535424"/>
            <a:ext cx="2414016" cy="237744"/>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Owner: Product/Marketing   ·   KPI: Bookings/Customer</a:t>
            </a:r>
            <a:endParaRPr lang="en-US" sz="750" dirty="0"/>
          </a:p>
        </p:txBody>
      </p:sp>
      <p:sp>
        <p:nvSpPr>
          <p:cNvPr id="37" name="Shape 35"/>
          <p:cNvSpPr/>
          <p:nvPr/>
        </p:nvSpPr>
        <p:spPr>
          <a:xfrm>
            <a:off x="6181344" y="914400"/>
            <a:ext cx="2816352" cy="4041648"/>
          </a:xfrm>
          <a:prstGeom prst="roundRect">
            <a:avLst>
              <a:gd name="adj" fmla="val 2597"/>
            </a:avLst>
          </a:prstGeom>
          <a:solidFill>
            <a:srgbClr val="EFF6FF"/>
          </a:solidFill>
          <a:ln w="12700">
            <a:solidFill>
              <a:srgbClr val="E2E8F0"/>
            </a:solidFill>
            <a:prstDash val="solid"/>
          </a:ln>
          <a:effectLst>
            <a:outerShdw sx="100000" sy="100000" kx="0" ky="0" algn="bl" rotWithShape="0" blurRad="101600" dist="25400" dir="2700000">
              <a:srgbClr val="000000">
                <a:alpha val="10000"/>
              </a:srgbClr>
            </a:outerShdw>
          </a:effectLst>
        </p:spPr>
      </p:sp>
      <p:sp>
        <p:nvSpPr>
          <p:cNvPr id="38" name="Text 36"/>
          <p:cNvSpPr/>
          <p:nvPr/>
        </p:nvSpPr>
        <p:spPr>
          <a:xfrm>
            <a:off x="6291072" y="987552"/>
            <a:ext cx="2596896" cy="384048"/>
          </a:xfrm>
          <a:prstGeom prst="rect">
            <a:avLst/>
          </a:prstGeom>
          <a:noFill/>
          <a:ln/>
        </p:spPr>
        <p:txBody>
          <a:bodyPr wrap="square" lIns="0" tIns="0" rIns="0" bIns="0" rtlCol="0" anchor="ctr"/>
          <a:lstStyle/>
          <a:p>
            <a:pPr indent="0" marL="0">
              <a:buNone/>
            </a:pPr>
            <a:r>
              <a:rPr lang="en-US" sz="1800" b="1" dirty="0">
                <a:solidFill>
                  <a:srgbClr val="1B3A6B"/>
                </a:solidFill>
                <a:latin typeface="Cambria" pitchFamily="34" charset="0"/>
                <a:ea typeface="Cambria" pitchFamily="34" charset="-122"/>
                <a:cs typeface="Cambria" pitchFamily="34" charset="-120"/>
              </a:rPr>
              <a:t>90 Days</a:t>
            </a:r>
            <a:endParaRPr lang="en-US" sz="1800" dirty="0"/>
          </a:p>
        </p:txBody>
      </p:sp>
      <p:sp>
        <p:nvSpPr>
          <p:cNvPr id="39" name="Text 37"/>
          <p:cNvSpPr/>
          <p:nvPr/>
        </p:nvSpPr>
        <p:spPr>
          <a:xfrm>
            <a:off x="6291072" y="1389888"/>
            <a:ext cx="2596896" cy="23774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Scale &amp; Sustain</a:t>
            </a:r>
            <a:endParaRPr lang="en-US" sz="1000" dirty="0"/>
          </a:p>
        </p:txBody>
      </p:sp>
      <p:sp>
        <p:nvSpPr>
          <p:cNvPr id="40" name="Shape 38"/>
          <p:cNvSpPr/>
          <p:nvPr/>
        </p:nvSpPr>
        <p:spPr>
          <a:xfrm>
            <a:off x="6291072" y="1645920"/>
            <a:ext cx="2596896" cy="22860"/>
          </a:xfrm>
          <a:prstGeom prst="rect">
            <a:avLst/>
          </a:prstGeom>
          <a:solidFill>
            <a:srgbClr val="1B3A6B"/>
          </a:solidFill>
          <a:ln w="12700">
            <a:solidFill>
              <a:srgbClr val="1B3A6B"/>
            </a:solidFill>
            <a:prstDash val="solid"/>
          </a:ln>
        </p:spPr>
      </p:sp>
      <p:sp>
        <p:nvSpPr>
          <p:cNvPr id="41" name="Shape 39"/>
          <p:cNvSpPr/>
          <p:nvPr/>
        </p:nvSpPr>
        <p:spPr>
          <a:xfrm>
            <a:off x="6291072" y="1719072"/>
            <a:ext cx="2596896" cy="713232"/>
          </a:xfrm>
          <a:prstGeom prst="roundRect">
            <a:avLst>
              <a:gd name="adj" fmla="val 5128"/>
            </a:avLst>
          </a:prstGeom>
          <a:solidFill>
            <a:srgbClr val="FFFFFF"/>
          </a:solidFill>
          <a:ln w="12700">
            <a:solidFill>
              <a:srgbClr val="E2E8F0"/>
            </a:solidFill>
            <a:prstDash val="solid"/>
          </a:ln>
        </p:spPr>
      </p:sp>
      <p:sp>
        <p:nvSpPr>
          <p:cNvPr id="42" name="Text 40"/>
          <p:cNvSpPr/>
          <p:nvPr/>
        </p:nvSpPr>
        <p:spPr>
          <a:xfrm>
            <a:off x="6382512" y="1773936"/>
            <a:ext cx="2414016" cy="329184"/>
          </a:xfrm>
          <a:prstGeom prst="rect">
            <a:avLst/>
          </a:prstGeom>
          <a:noFill/>
          <a:ln/>
        </p:spPr>
        <p:txBody>
          <a:bodyPr wrap="square" lIns="0" tIns="0" rIns="0" bIns="0" rtlCol="0" anchor="ctr"/>
          <a:lstStyle/>
          <a:p>
            <a:pPr indent="0" marL="0">
              <a:buNone/>
            </a:pPr>
            <a:r>
              <a:rPr lang="en-US" sz="900" b="1" dirty="0">
                <a:solidFill>
                  <a:srgbClr val="1E293B"/>
                </a:solidFill>
                <a:latin typeface="Calibri" pitchFamily="34" charset="0"/>
                <a:ea typeface="Calibri" pitchFamily="34" charset="-122"/>
                <a:cs typeface="Calibri" pitchFamily="34" charset="-120"/>
              </a:rPr>
              <a:t>Launch VIP Loyalty Programme (Silver/Gold/Platinum)</a:t>
            </a:r>
            <a:endParaRPr lang="en-US" sz="900" dirty="0"/>
          </a:p>
        </p:txBody>
      </p:sp>
      <p:sp>
        <p:nvSpPr>
          <p:cNvPr id="43" name="Text 41"/>
          <p:cNvSpPr/>
          <p:nvPr/>
        </p:nvSpPr>
        <p:spPr>
          <a:xfrm>
            <a:off x="6382512" y="2121408"/>
            <a:ext cx="2414016" cy="237744"/>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Owner: Marketing   ·   KPI: NPS / Frequency</a:t>
            </a:r>
            <a:endParaRPr lang="en-US" sz="750" dirty="0"/>
          </a:p>
        </p:txBody>
      </p:sp>
      <p:sp>
        <p:nvSpPr>
          <p:cNvPr id="44" name="Shape 42"/>
          <p:cNvSpPr/>
          <p:nvPr/>
        </p:nvSpPr>
        <p:spPr>
          <a:xfrm>
            <a:off x="6291072" y="2523744"/>
            <a:ext cx="2596896" cy="713232"/>
          </a:xfrm>
          <a:prstGeom prst="roundRect">
            <a:avLst>
              <a:gd name="adj" fmla="val 5128"/>
            </a:avLst>
          </a:prstGeom>
          <a:solidFill>
            <a:srgbClr val="FFFFFF"/>
          </a:solidFill>
          <a:ln w="12700">
            <a:solidFill>
              <a:srgbClr val="E2E8F0"/>
            </a:solidFill>
            <a:prstDash val="solid"/>
          </a:ln>
        </p:spPr>
      </p:sp>
      <p:sp>
        <p:nvSpPr>
          <p:cNvPr id="45" name="Text 43"/>
          <p:cNvSpPr/>
          <p:nvPr/>
        </p:nvSpPr>
        <p:spPr>
          <a:xfrm>
            <a:off x="6382512" y="2578608"/>
            <a:ext cx="2414016" cy="329184"/>
          </a:xfrm>
          <a:prstGeom prst="rect">
            <a:avLst/>
          </a:prstGeom>
          <a:noFill/>
          <a:ln/>
        </p:spPr>
        <p:txBody>
          <a:bodyPr wrap="square" lIns="0" tIns="0" rIns="0" bIns="0" rtlCol="0" anchor="ctr"/>
          <a:lstStyle/>
          <a:p>
            <a:pPr indent="0" marL="0">
              <a:buNone/>
            </a:pPr>
            <a:r>
              <a:rPr lang="en-US" sz="900" b="1" dirty="0">
                <a:solidFill>
                  <a:srgbClr val="1E293B"/>
                </a:solidFill>
                <a:latin typeface="Calibri" pitchFamily="34" charset="0"/>
                <a:ea typeface="Calibri" pitchFamily="34" charset="-122"/>
                <a:cs typeface="Calibri" pitchFamily="34" charset="-120"/>
              </a:rPr>
              <a:t>Personalised Re-engagement Email Automation</a:t>
            </a:r>
            <a:endParaRPr lang="en-US" sz="900" dirty="0"/>
          </a:p>
        </p:txBody>
      </p:sp>
      <p:sp>
        <p:nvSpPr>
          <p:cNvPr id="46" name="Text 44"/>
          <p:cNvSpPr/>
          <p:nvPr/>
        </p:nvSpPr>
        <p:spPr>
          <a:xfrm>
            <a:off x="6382512" y="2926080"/>
            <a:ext cx="2414016" cy="237744"/>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Owner: CRM/Marketing   ·   KPI: Repeat Bookings</a:t>
            </a:r>
            <a:endParaRPr lang="en-US" sz="750" dirty="0"/>
          </a:p>
        </p:txBody>
      </p:sp>
      <p:sp>
        <p:nvSpPr>
          <p:cNvPr id="47" name="Shape 45"/>
          <p:cNvSpPr/>
          <p:nvPr/>
        </p:nvSpPr>
        <p:spPr>
          <a:xfrm>
            <a:off x="6291072" y="3328416"/>
            <a:ext cx="2596896" cy="713232"/>
          </a:xfrm>
          <a:prstGeom prst="roundRect">
            <a:avLst>
              <a:gd name="adj" fmla="val 5128"/>
            </a:avLst>
          </a:prstGeom>
          <a:solidFill>
            <a:srgbClr val="FFFFFF"/>
          </a:solidFill>
          <a:ln w="12700">
            <a:solidFill>
              <a:srgbClr val="E2E8F0"/>
            </a:solidFill>
            <a:prstDash val="solid"/>
          </a:ln>
        </p:spPr>
      </p:sp>
      <p:sp>
        <p:nvSpPr>
          <p:cNvPr id="48" name="Text 46"/>
          <p:cNvSpPr/>
          <p:nvPr/>
        </p:nvSpPr>
        <p:spPr>
          <a:xfrm>
            <a:off x="6382512" y="3383280"/>
            <a:ext cx="2414016" cy="329184"/>
          </a:xfrm>
          <a:prstGeom prst="rect">
            <a:avLst/>
          </a:prstGeom>
          <a:noFill/>
          <a:ln/>
        </p:spPr>
        <p:txBody>
          <a:bodyPr wrap="square" lIns="0" tIns="0" rIns="0" bIns="0" rtlCol="0" anchor="ctr"/>
          <a:lstStyle/>
          <a:p>
            <a:pPr indent="0" marL="0">
              <a:buNone/>
            </a:pPr>
            <a:r>
              <a:rPr lang="en-US" sz="900" b="1" dirty="0">
                <a:solidFill>
                  <a:srgbClr val="1E293B"/>
                </a:solidFill>
                <a:latin typeface="Calibri" pitchFamily="34" charset="0"/>
                <a:ea typeface="Calibri" pitchFamily="34" charset="-122"/>
                <a:cs typeface="Calibri" pitchFamily="34" charset="-120"/>
              </a:rPr>
              <a:t>Review &amp; Optimise Channel Mix (D2C vs Agent)</a:t>
            </a:r>
            <a:endParaRPr lang="en-US" sz="900" dirty="0"/>
          </a:p>
        </p:txBody>
      </p:sp>
      <p:sp>
        <p:nvSpPr>
          <p:cNvPr id="49" name="Text 47"/>
          <p:cNvSpPr/>
          <p:nvPr/>
        </p:nvSpPr>
        <p:spPr>
          <a:xfrm>
            <a:off x="6382512" y="3730752"/>
            <a:ext cx="2414016" cy="237744"/>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Owner: Revenue/Commercial   ·   KPI: Contribution Margin</a:t>
            </a:r>
            <a:endParaRPr lang="en-US" sz="750" dirty="0"/>
          </a:p>
        </p:txBody>
      </p:sp>
      <p:sp>
        <p:nvSpPr>
          <p:cNvPr id="50" name="Shape 48"/>
          <p:cNvSpPr/>
          <p:nvPr/>
        </p:nvSpPr>
        <p:spPr>
          <a:xfrm>
            <a:off x="6291072" y="4133088"/>
            <a:ext cx="2596896" cy="713232"/>
          </a:xfrm>
          <a:prstGeom prst="roundRect">
            <a:avLst>
              <a:gd name="adj" fmla="val 5128"/>
            </a:avLst>
          </a:prstGeom>
          <a:solidFill>
            <a:srgbClr val="FFFFFF"/>
          </a:solidFill>
          <a:ln w="12700">
            <a:solidFill>
              <a:srgbClr val="E2E8F0"/>
            </a:solidFill>
            <a:prstDash val="solid"/>
          </a:ln>
        </p:spPr>
      </p:sp>
      <p:sp>
        <p:nvSpPr>
          <p:cNvPr id="51" name="Text 49"/>
          <p:cNvSpPr/>
          <p:nvPr/>
        </p:nvSpPr>
        <p:spPr>
          <a:xfrm>
            <a:off x="6382512" y="4187952"/>
            <a:ext cx="2414016" cy="329184"/>
          </a:xfrm>
          <a:prstGeom prst="rect">
            <a:avLst/>
          </a:prstGeom>
          <a:noFill/>
          <a:ln/>
        </p:spPr>
        <p:txBody>
          <a:bodyPr wrap="square" lIns="0" tIns="0" rIns="0" bIns="0" rtlCol="0" anchor="ctr"/>
          <a:lstStyle/>
          <a:p>
            <a:pPr indent="0" marL="0">
              <a:buNone/>
            </a:pPr>
            <a:r>
              <a:rPr lang="en-US" sz="900" b="1" dirty="0">
                <a:solidFill>
                  <a:srgbClr val="1E293B"/>
                </a:solidFill>
                <a:latin typeface="Calibri" pitchFamily="34" charset="0"/>
                <a:ea typeface="Calibri" pitchFamily="34" charset="-122"/>
                <a:cs typeface="Calibri" pitchFamily="34" charset="-120"/>
              </a:rPr>
              <a:t>Monthly KPI Review Board (New Metrics Framework)</a:t>
            </a:r>
            <a:endParaRPr lang="en-US" sz="900" dirty="0"/>
          </a:p>
        </p:txBody>
      </p:sp>
      <p:sp>
        <p:nvSpPr>
          <p:cNvPr id="52" name="Text 50"/>
          <p:cNvSpPr/>
          <p:nvPr/>
        </p:nvSpPr>
        <p:spPr>
          <a:xfrm>
            <a:off x="6382512" y="4535424"/>
            <a:ext cx="2414016" cy="237744"/>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Owner: Analytics   ·   KPI: All KPIs</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5943600" y="-731520"/>
            <a:ext cx="4572000" cy="4572000"/>
          </a:xfrm>
          <a:prstGeom prst="ellipse">
            <a:avLst/>
          </a:prstGeom>
          <a:solidFill>
            <a:srgbClr val="1B3A6B">
              <a:alpha val="40000"/>
            </a:srgbClr>
          </a:solidFill>
          <a:ln w="12700">
            <a:solidFill>
              <a:srgbClr val="1B3A6B">
                <a:alpha val="40000"/>
              </a:srgbClr>
            </a:solidFill>
            <a:prstDash val="solid"/>
          </a:ln>
        </p:spPr>
      </p:sp>
      <p:sp>
        <p:nvSpPr>
          <p:cNvPr id="3" name="Shape 1"/>
          <p:cNvSpPr/>
          <p:nvPr/>
        </p:nvSpPr>
        <p:spPr>
          <a:xfrm>
            <a:off x="7132320" y="2286000"/>
            <a:ext cx="2743200" cy="2743200"/>
          </a:xfrm>
          <a:prstGeom prst="ellipse">
            <a:avLst/>
          </a:prstGeom>
          <a:solidFill>
            <a:srgbClr val="0D9488">
              <a:alpha val="25000"/>
            </a:srgbClr>
          </a:solidFill>
          <a:ln w="12700">
            <a:solidFill>
              <a:srgbClr val="0D9488">
                <a:alpha val="25000"/>
              </a:srgbClr>
            </a:solidFill>
            <a:prstDash val="solid"/>
          </a:ln>
        </p:spPr>
      </p:sp>
      <p:sp>
        <p:nvSpPr>
          <p:cNvPr id="4" name="Text 2"/>
          <p:cNvSpPr/>
          <p:nvPr/>
        </p:nvSpPr>
        <p:spPr>
          <a:xfrm>
            <a:off x="457200" y="457200"/>
            <a:ext cx="6400800" cy="292608"/>
          </a:xfrm>
          <a:prstGeom prst="rect">
            <a:avLst/>
          </a:prstGeom>
          <a:noFill/>
          <a:ln/>
        </p:spPr>
        <p:txBody>
          <a:bodyPr wrap="square" lIns="0" tIns="0" rIns="0" bIns="0" rtlCol="0" anchor="ctr"/>
          <a:lstStyle/>
          <a:p>
            <a:pPr indent="0" marL="0">
              <a:buNone/>
            </a:pPr>
            <a:r>
              <a:rPr lang="en-US" sz="1000" b="1" spc="300" kern="0" dirty="0">
                <a:solidFill>
                  <a:srgbClr val="14B8A6"/>
                </a:solidFill>
                <a:latin typeface="Calibri" pitchFamily="34" charset="0"/>
                <a:ea typeface="Calibri" pitchFamily="34" charset="-122"/>
                <a:cs typeface="Calibri" pitchFamily="34" charset="-120"/>
              </a:rPr>
              <a:t>MANAGEMENT TAKEAWAYS</a:t>
            </a:r>
            <a:endParaRPr lang="en-US" sz="1000" dirty="0"/>
          </a:p>
        </p:txBody>
      </p:sp>
      <p:sp>
        <p:nvSpPr>
          <p:cNvPr id="5" name="Text 3"/>
          <p:cNvSpPr/>
          <p:nvPr/>
        </p:nvSpPr>
        <p:spPr>
          <a:xfrm>
            <a:off x="457200" y="777240"/>
            <a:ext cx="731520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Three Things Leadership Must Act On</a:t>
            </a:r>
            <a:endParaRPr lang="en-US" sz="3000" dirty="0"/>
          </a:p>
        </p:txBody>
      </p:sp>
      <p:sp>
        <p:nvSpPr>
          <p:cNvPr id="6" name="Text 4"/>
          <p:cNvSpPr/>
          <p:nvPr/>
        </p:nvSpPr>
        <p:spPr>
          <a:xfrm>
            <a:off x="457200" y="1417320"/>
            <a:ext cx="548640" cy="640080"/>
          </a:xfrm>
          <a:prstGeom prst="rect">
            <a:avLst/>
          </a:prstGeom>
          <a:noFill/>
          <a:ln/>
        </p:spPr>
        <p:txBody>
          <a:bodyPr wrap="square" lIns="0" tIns="0" rIns="0" bIns="0" rtlCol="0" anchor="t"/>
          <a:lstStyle/>
          <a:p>
            <a:pPr indent="0" marL="0">
              <a:buNone/>
            </a:pPr>
            <a:r>
              <a:rPr lang="en-US" sz="2400" b="1" dirty="0">
                <a:solidFill>
                  <a:srgbClr val="C73E1D"/>
                </a:solidFill>
                <a:latin typeface="Cambria" pitchFamily="34" charset="0"/>
                <a:ea typeface="Cambria" pitchFamily="34" charset="-122"/>
                <a:cs typeface="Cambria" pitchFamily="34" charset="-120"/>
              </a:rPr>
              <a:t>01</a:t>
            </a:r>
            <a:endParaRPr lang="en-US" sz="2400" dirty="0"/>
          </a:p>
        </p:txBody>
      </p:sp>
      <p:sp>
        <p:nvSpPr>
          <p:cNvPr id="7" name="Text 5"/>
          <p:cNvSpPr/>
          <p:nvPr/>
        </p:nvSpPr>
        <p:spPr>
          <a:xfrm>
            <a:off x="1115568" y="1417320"/>
            <a:ext cx="685800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Fix the Cancellation Leak</a:t>
            </a:r>
            <a:endParaRPr lang="en-US" sz="1300" dirty="0"/>
          </a:p>
        </p:txBody>
      </p:sp>
      <p:sp>
        <p:nvSpPr>
          <p:cNvPr id="8" name="Text 6"/>
          <p:cNvSpPr/>
          <p:nvPr/>
        </p:nvSpPr>
        <p:spPr>
          <a:xfrm>
            <a:off x="1115568" y="1728216"/>
            <a:ext cx="6858000" cy="603504"/>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At 20.2%, our cancellation rate is costing us ₹56M+ annually. Non-refundable pricing tiers and agent SLAs can close this gap to 14% within 6 months — the single highest-ROI intervention available today.</a:t>
            </a:r>
            <a:endParaRPr lang="en-US" sz="950" dirty="0"/>
          </a:p>
        </p:txBody>
      </p:sp>
      <p:sp>
        <p:nvSpPr>
          <p:cNvPr id="9" name="Text 7"/>
          <p:cNvSpPr/>
          <p:nvPr/>
        </p:nvSpPr>
        <p:spPr>
          <a:xfrm>
            <a:off x="457200" y="2377440"/>
            <a:ext cx="548640" cy="640080"/>
          </a:xfrm>
          <a:prstGeom prst="rect">
            <a:avLst/>
          </a:prstGeom>
          <a:noFill/>
          <a:ln/>
        </p:spPr>
        <p:txBody>
          <a:bodyPr wrap="square" lIns="0" tIns="0" rIns="0" bIns="0" rtlCol="0" anchor="t"/>
          <a:lstStyle/>
          <a:p>
            <a:pPr indent="0" marL="0">
              <a:buNone/>
            </a:pPr>
            <a:r>
              <a:rPr lang="en-US" sz="2400" b="1" dirty="0">
                <a:solidFill>
                  <a:srgbClr val="0D9488"/>
                </a:solidFill>
                <a:latin typeface="Cambria" pitchFamily="34" charset="0"/>
                <a:ea typeface="Cambria" pitchFamily="34" charset="-122"/>
                <a:cs typeface="Cambria" pitchFamily="34" charset="-120"/>
              </a:rPr>
              <a:t>02</a:t>
            </a:r>
            <a:endParaRPr lang="en-US" sz="2400" dirty="0"/>
          </a:p>
        </p:txBody>
      </p:sp>
      <p:sp>
        <p:nvSpPr>
          <p:cNvPr id="10" name="Text 8"/>
          <p:cNvSpPr/>
          <p:nvPr/>
        </p:nvSpPr>
        <p:spPr>
          <a:xfrm>
            <a:off x="1115568" y="2377440"/>
            <a:ext cx="685800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Shift the Portfolio Mix Up</a:t>
            </a:r>
            <a:endParaRPr lang="en-US" sz="1300" dirty="0"/>
          </a:p>
        </p:txBody>
      </p:sp>
      <p:sp>
        <p:nvSpPr>
          <p:cNvPr id="11" name="Text 9"/>
          <p:cNvSpPr/>
          <p:nvPr/>
        </p:nvSpPr>
        <p:spPr>
          <a:xfrm>
            <a:off x="1115568" y="2688336"/>
            <a:ext cx="6858000" cy="603504"/>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Suite and 5-star inventory delivers 40–65% higher profit per booking than baseline but accounts for only 25% of volume. Upsell prompts and premium campaigns reshape our margin profile at near-zero incremental cost.</a:t>
            </a:r>
            <a:endParaRPr lang="en-US" sz="950" dirty="0"/>
          </a:p>
        </p:txBody>
      </p:sp>
      <p:sp>
        <p:nvSpPr>
          <p:cNvPr id="12" name="Text 10"/>
          <p:cNvSpPr/>
          <p:nvPr/>
        </p:nvSpPr>
        <p:spPr>
          <a:xfrm>
            <a:off x="457200" y="3337560"/>
            <a:ext cx="548640" cy="640080"/>
          </a:xfrm>
          <a:prstGeom prst="rect">
            <a:avLst/>
          </a:prstGeom>
          <a:noFill/>
          <a:ln/>
        </p:spPr>
        <p:txBody>
          <a:bodyPr wrap="square" lIns="0" tIns="0" rIns="0" bIns="0" rtlCol="0" anchor="t"/>
          <a:lstStyle/>
          <a:p>
            <a:pPr indent="0" marL="0">
              <a:buNone/>
            </a:pPr>
            <a:r>
              <a:rPr lang="en-US" sz="2400" b="1" dirty="0">
                <a:solidFill>
                  <a:srgbClr val="F18F01"/>
                </a:solidFill>
                <a:latin typeface="Cambria" pitchFamily="34" charset="0"/>
                <a:ea typeface="Cambria" pitchFamily="34" charset="-122"/>
                <a:cs typeface="Cambria" pitchFamily="34" charset="-120"/>
              </a:rPr>
              <a:t>03</a:t>
            </a:r>
            <a:endParaRPr lang="en-US" sz="2400" dirty="0"/>
          </a:p>
        </p:txBody>
      </p:sp>
      <p:sp>
        <p:nvSpPr>
          <p:cNvPr id="13" name="Text 11"/>
          <p:cNvSpPr/>
          <p:nvPr/>
        </p:nvSpPr>
        <p:spPr>
          <a:xfrm>
            <a:off x="1115568" y="3337560"/>
            <a:ext cx="685800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Build a Loyalty Moat</a:t>
            </a:r>
            <a:endParaRPr lang="en-US" sz="1300" dirty="0"/>
          </a:p>
        </p:txBody>
      </p:sp>
      <p:sp>
        <p:nvSpPr>
          <p:cNvPr id="14" name="Text 12"/>
          <p:cNvSpPr/>
          <p:nvPr/>
        </p:nvSpPr>
        <p:spPr>
          <a:xfrm>
            <a:off x="1115568" y="3648456"/>
            <a:ext cx="6858000" cy="603504"/>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A 100% repeat-customer base is rare. A VIP loyalty programme and re-engagement automation will increase frequency, lifetime value, and defensibility against competitors.</a:t>
            </a:r>
            <a:endParaRPr lang="en-US" sz="950" dirty="0"/>
          </a:p>
        </p:txBody>
      </p:sp>
      <p:sp>
        <p:nvSpPr>
          <p:cNvPr id="15" name="Shape 13"/>
          <p:cNvSpPr/>
          <p:nvPr/>
        </p:nvSpPr>
        <p:spPr>
          <a:xfrm>
            <a:off x="457200" y="4315968"/>
            <a:ext cx="8229600" cy="658368"/>
          </a:xfrm>
          <a:prstGeom prst="roundRect">
            <a:avLst>
              <a:gd name="adj" fmla="val 8333"/>
            </a:avLst>
          </a:prstGeom>
          <a:solidFill>
            <a:srgbClr val="0D9488">
              <a:alpha val="20000"/>
            </a:srgbClr>
          </a:solidFill>
          <a:ln w="12700">
            <a:solidFill>
              <a:srgbClr val="0D9488"/>
            </a:solidFill>
            <a:prstDash val="solid"/>
          </a:ln>
        </p:spPr>
      </p:sp>
      <p:sp>
        <p:nvSpPr>
          <p:cNvPr id="16" name="Text 14"/>
          <p:cNvSpPr/>
          <p:nvPr/>
        </p:nvSpPr>
        <p:spPr>
          <a:xfrm>
            <a:off x="594360" y="4352544"/>
            <a:ext cx="7955280" cy="56692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Combined financial upside:  ₹40–55M incremental annual profit  ·  Implementation window: 90 days  ·  All initiatives executable with existing team</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Hotel Booking Platform — Strategic Business Review</dc:title>
  <dc:subject>PptxGenJS Presentation</dc:subject>
  <dc:creator>Strategy &amp; Analytics</dc:creator>
  <cp:lastModifiedBy>Strategy &amp; Analytics</cp:lastModifiedBy>
  <cp:revision>1</cp:revision>
  <dcterms:created xsi:type="dcterms:W3CDTF">2026-06-13T18:37:15Z</dcterms:created>
  <dcterms:modified xsi:type="dcterms:W3CDTF">2026-06-13T18:37:15Z</dcterms:modified>
</cp:coreProperties>
</file>